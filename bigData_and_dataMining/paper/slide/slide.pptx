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9" r:id="rId8"/>
    <p:sldId id="264" r:id="rId9"/>
    <p:sldId id="263" r:id="rId10"/>
    <p:sldId id="266" r:id="rId11"/>
    <p:sldId id="267" r:id="rId12"/>
    <p:sldId id="271" r:id="rId13"/>
    <p:sldId id="268" r:id="rId14"/>
    <p:sldId id="270" r:id="rId15"/>
    <p:sldId id="272" r:id="rId16"/>
    <p:sldId id="273" r:id="rId17"/>
    <p:sldId id="274" r:id="rId18"/>
    <p:sldId id="275" r:id="rId19"/>
    <p:sldId id="276" r:id="rId20"/>
    <p:sldId id="277" r:id="rId21"/>
  </p:sldIdLst>
  <p:sldSz cx="18288000" cy="10287000"/>
  <p:notesSz cx="6858000" cy="9144000"/>
  <p:embeddedFontLs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Bold" pitchFamily="2" charset="77"/>
      <p:regular r:id="rId27"/>
      <p:bold r:id="rId28"/>
    </p:embeddedFont>
    <p:embeddedFont>
      <p:font typeface="Poppins Semi-Bold" pitchFamily="2" charset="77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EEF"/>
    <a:srgbClr val="E9EDF4"/>
    <a:srgbClr val="AFC0D0"/>
    <a:srgbClr val="1C3F60"/>
    <a:srgbClr val="0B1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78" autoAdjust="0"/>
    <p:restoredTop sz="94509" autoAdjust="0"/>
  </p:normalViewPr>
  <p:slideViewPr>
    <p:cSldViewPr>
      <p:cViewPr varScale="1">
        <p:scale>
          <a:sx n="78" d="100"/>
          <a:sy n="78" d="100"/>
        </p:scale>
        <p:origin x="216" y="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Dataset</c:v>
                </c:pt>
              </c:strCache>
            </c:strRef>
          </c:tx>
          <c:dPt>
            <c:idx val="0"/>
            <c:bubble3D val="0"/>
            <c:spPr>
              <a:solidFill>
                <a:srgbClr val="0B132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DEE6-7441-B380-05300D12753F}"/>
              </c:ext>
            </c:extLst>
          </c:dPt>
          <c:dPt>
            <c:idx val="1"/>
            <c:bubble3D val="0"/>
            <c:spPr>
              <a:solidFill>
                <a:srgbClr val="1C3F6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DEE6-7441-B380-05300D12753F}"/>
              </c:ext>
            </c:extLst>
          </c:dPt>
          <c:dPt>
            <c:idx val="2"/>
            <c:bubble3D val="0"/>
            <c:spPr>
              <a:solidFill>
                <a:srgbClr val="AFC0D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DEE6-7441-B380-05300D12753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43C6-D347-81B9-A08F4FEC2242}"/>
              </c:ext>
            </c:extLst>
          </c:dPt>
          <c:dLbls>
            <c:delete val="1"/>
          </c:dLbls>
          <c:cat>
            <c:strRef>
              <c:f>Foglio1!$A$2:$A$5</c:f>
              <c:strCache>
                <c:ptCount val="3"/>
                <c:pt idx="0">
                  <c:v>Training set</c:v>
                </c:pt>
                <c:pt idx="1">
                  <c:v>Validation set</c:v>
                </c:pt>
                <c:pt idx="2">
                  <c:v>Test set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80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6-7441-B380-05300D12753F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833333333333332E-2"/>
          <c:y val="7.3398499015748034E-2"/>
          <c:w val="0.9770833333333333"/>
          <c:h val="0.86962659940944886"/>
        </c:manualLayout>
      </c:layout>
      <c:ofPieChart>
        <c:ofPieType val="bar"/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Vendite</c:v>
                </c:pt>
              </c:strCache>
            </c:strRef>
          </c:tx>
          <c:dPt>
            <c:idx val="0"/>
            <c:bubble3D val="0"/>
            <c:spPr>
              <a:solidFill>
                <a:srgbClr val="AFC0D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037E-4C43-9469-EE8268D184AE}"/>
              </c:ext>
            </c:extLst>
          </c:dPt>
          <c:dPt>
            <c:idx val="1"/>
            <c:bubble3D val="0"/>
            <c:spPr>
              <a:solidFill>
                <a:srgbClr val="1C3F6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37E-4C43-9469-EE8268D184AE}"/>
              </c:ext>
            </c:extLst>
          </c:dPt>
          <c:dPt>
            <c:idx val="2"/>
            <c:bubble3D val="0"/>
            <c:spPr>
              <a:solidFill>
                <a:srgbClr val="AFC0D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4-037E-4C43-9469-EE8268D184AE}"/>
              </c:ext>
            </c:extLst>
          </c:dPt>
          <c:dPt>
            <c:idx val="3"/>
            <c:bubble3D val="0"/>
            <c:spPr>
              <a:solidFill>
                <a:srgbClr val="0B132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037E-4C43-9469-EE8268D184AE}"/>
              </c:ext>
            </c:extLst>
          </c:dPt>
          <c:dPt>
            <c:idx val="4"/>
            <c:bubble3D val="0"/>
            <c:spPr>
              <a:solidFill>
                <a:srgbClr val="0B132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37E-4C43-9469-EE8268D184AE}"/>
              </c:ext>
            </c:extLst>
          </c:dPt>
          <c:cat>
            <c:strRef>
              <c:f>Foglio1!$A$2:$A$5</c:f>
              <c:strCache>
                <c:ptCount val="4"/>
                <c:pt idx="0">
                  <c:v>1° trim.</c:v>
                </c:pt>
                <c:pt idx="1">
                  <c:v>2° trim.</c:v>
                </c:pt>
                <c:pt idx="2">
                  <c:v>3° trim.</c:v>
                </c:pt>
                <c:pt idx="3">
                  <c:v>4° trim.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10</c:v>
                </c:pt>
                <c:pt idx="1">
                  <c:v>72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7E-4C43-9469-EE8268D18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plitType val="pos"/>
        <c:splitPos val="3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13E45-3C47-F94B-869D-BD19418DC500}" type="datetimeFigureOut">
              <a:rPr lang="it-IT" smtClean="0"/>
              <a:t>21/05/25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93856-2680-7946-A461-5249C700D75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93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865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60F6-6DAD-881B-1843-8E917FA8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0F2FE7-8F49-0282-A830-D3AF5FC0E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B1C93A0-69E8-B8E6-A284-531C763D1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60B212-5506-B9D4-01C2-A216410B1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551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690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DBF5C-6B51-F724-CC03-A447233E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D36F8E-C01C-439E-AEC4-0A1FAB376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0A12DD3-39A7-47B2-FA0D-76718C40D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42938E-7E88-7CBC-FF59-D392183CC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3261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40A0-E92F-0C3D-A347-07D331AD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1AB53E-6870-A4E1-D7CB-882F9135C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F1430E-5E90-186C-DCC5-84600ED1D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48A5D7-02D7-8439-87A4-A307C2637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259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42CA-3236-0D85-6E17-EC92356B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307FF1-E177-B7EA-CC71-6F7568FF8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9EF8B3-FDE2-9740-7644-0720BA9F6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A29BAF-1A0D-E5E6-80A2-1D6EBD8A1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0093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C99E-B55E-36BB-9D98-92648F5E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64594D-7AD6-DF25-DC0D-FD89746B8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2661E7-77F8-FBCB-AB1C-808FAE45C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93AD8D-1B36-230C-14EA-009129801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3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A8AE-4659-136F-5628-DAE8BB92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A1DCD5-A72F-780A-2023-E579EEE32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8892B4D-0776-06AF-F83C-943A81BF3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A8EDB2-0E50-FBCF-1206-654B1DCF0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603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9CDD-B9DD-FAC6-ED8B-1AFCA87C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D07189-8E91-C550-9A3B-A72F8F811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EF5628-7331-9C28-3175-C7D6E6C14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84F1BD-03BC-1562-5172-179C0EECC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278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BDDC-329B-742A-F65F-86D8A19E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2C1918-81A4-9D68-B169-C4443E0A7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9B1E76E-0EC7-92CF-0C69-B1A9B8120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6ACDA7-80B7-B1C9-37C6-57D85148F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1156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04A5-82F2-4036-8199-95160F8D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12BDF9F-8603-6578-42F1-FC1EA3C56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8C3FE7-48C7-DA74-5FF8-1A891A5B1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Precision: 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 i casi che ho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predetto come positivi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quanti lo erano davvero?</a:t>
            </a:r>
            <a:b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Tra i casi che erano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davvero positivi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quanti li ho trovati?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7B6937-30FF-AEB0-D891-D843F76C0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7133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A540B-1B2F-22F6-1168-D8471A52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BE51D3E-1E8B-BB75-6688-989BEE328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9F1970B-B3D8-DF6F-AB8C-AE7A0A467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98B4FC-A29B-E272-1B74-5ECFECA02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500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7CFA-3A0F-597E-E6E3-AECDA5BD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46511E7-2CB2-1E34-F03F-84DD32371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299995F-C35E-7CC9-DACB-20CB94CFF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68B7A-FEF5-A97D-1744-9E3953D93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0024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D9091-89ED-11C3-DBEF-C3887A16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A182E19-F541-3DB4-05DA-6AFABC65B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34586C-1D1A-43CC-4323-89E1425C4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46BF79-43A1-6049-E2A9-BB642A0E4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6208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4039-C99F-ED45-ECBA-86F2523D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18DA8E-30FD-0B26-64C1-2149170EC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32F457F-559E-1F76-1F3E-111B73DE0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954AA9-6B99-B7B3-BDB7-98EFC5D9C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05233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CF99-D405-D4F1-BF21-EB28284A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BA1092-3AC4-6144-8CE5-67F525313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61E170-E1BB-E85E-44FA-B6BE575BF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64464A-CE5D-DC3F-AA62-CC24BA023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2891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E9D5-1712-9CD9-3F52-3D980C4C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B6FF4BB-8628-D750-4F7C-C63588E0F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AF97BE5-49ED-B38B-78E9-FD8CB0EB7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FEF1263-1FD5-897F-A49E-CD34CC913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3097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18A2-81EA-53D6-C4C5-CD7D9FF1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C582E9-7AF5-D1D2-2200-47F180223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C4F2A4B-7212-483C-7A5D-BE6B7DCC1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62126D-C284-C5C3-5DD7-B0025E0F9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97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38FA-E3D5-67F7-A2F0-E8E6CEC6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B86319-24C4-D5D7-8160-57CBBEB8C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5051F1D-4CA9-A97C-AD81-AB474A8F9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8D4278-2FA7-9C5E-5D1D-9846C2723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7796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plos.org/digitalhealth/article?id=10.1371/journal.pdig.0000168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asterpsicodiagnostica.web.uniroma1.it/it/mmse#:~:text=Un%20punteggio%20uguale%20o%20inferiore,&#232;%20indice%20di%20normalit&#224;%20cognitiva." TargetMode="External"/><Relationship Id="rId5" Type="http://schemas.openxmlformats.org/officeDocument/2006/relationships/hyperlink" Target="https://scikit-learn.org/stable/" TargetMode="External"/><Relationship Id="rId4" Type="http://schemas.openxmlformats.org/officeDocument/2006/relationships/hyperlink" Target="https://platform.openai.com/docs/guides/embedding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6295" y="449588"/>
            <a:ext cx="16813004" cy="8784094"/>
            <a:chOff x="0" y="0"/>
            <a:chExt cx="22417340" cy="11712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5016" cy="1544299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1708258" y="295518"/>
              <a:ext cx="2812910" cy="953263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1508697" y="11276108"/>
              <a:ext cx="908643" cy="436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it-IT" sz="1500" noProof="0" dirty="0">
                  <a:solidFill>
                    <a:srgbClr val="0B1320"/>
                  </a:solidFill>
                  <a:latin typeface="Poppins"/>
                  <a:ea typeface="Poppins"/>
                  <a:cs typeface="Poppins"/>
                  <a:sym typeface="Poppins"/>
                </a:rPr>
                <a:t>01/19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06687" y="3676251"/>
            <a:ext cx="13274625" cy="2795433"/>
            <a:chOff x="0" y="0"/>
            <a:chExt cx="17699500" cy="3727244"/>
          </a:xfrm>
        </p:grpSpPr>
        <p:sp>
          <p:nvSpPr>
            <p:cNvPr id="7" name="AutoShape 7"/>
            <p:cNvSpPr/>
            <p:nvPr/>
          </p:nvSpPr>
          <p:spPr>
            <a:xfrm>
              <a:off x="0" y="2808611"/>
              <a:ext cx="17699500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104" y="-38100"/>
              <a:ext cx="17293293" cy="2425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00"/>
                </a:lnSpc>
              </a:pPr>
              <a:r>
                <a:rPr lang="it-IT" sz="6000" b="1" dirty="0" err="1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Predicting</a:t>
              </a:r>
              <a:r>
                <a:rPr lang="it-IT" sz="6000" b="1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it-IT" sz="6000" b="1" dirty="0" err="1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dementia</a:t>
              </a:r>
              <a:r>
                <a:rPr lang="it-IT" sz="6000" b="1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from </a:t>
              </a:r>
              <a:r>
                <a:rPr lang="it-IT" sz="6000" b="1" dirty="0" err="1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spontaneous</a:t>
              </a:r>
              <a:r>
                <a:rPr lang="it-IT" sz="6000" b="1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speech </a:t>
              </a:r>
              <a:r>
                <a:rPr lang="it-IT" sz="6000" b="1" dirty="0" err="1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using</a:t>
              </a:r>
              <a:r>
                <a:rPr lang="it-IT" sz="6000" b="1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LLM</a:t>
              </a:r>
              <a:endPara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3829" y="3161036"/>
              <a:ext cx="346061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it-IT" sz="2499" b="1" noProof="0" dirty="0">
                  <a:solidFill>
                    <a:srgbClr val="0B13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Arianna Cipolla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69441" y="3161036"/>
              <a:ext cx="2480245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it-IT" sz="2499" b="1" noProof="0">
                  <a:solidFill>
                    <a:srgbClr val="0B13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22/05/2025</a:t>
              </a:r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01600D2-906A-A980-E4DD-45FE98C0D774}"/>
              </a:ext>
            </a:extLst>
          </p:cNvPr>
          <p:cNvSpPr txBox="1"/>
          <p:nvPr/>
        </p:nvSpPr>
        <p:spPr>
          <a:xfrm>
            <a:off x="1627557" y="8906669"/>
            <a:ext cx="3173043" cy="327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 err="1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arianna.cipolla@studenti.unipr.it</a:t>
            </a:r>
            <a:endParaRPr lang="it-IT" sz="1500" noProof="0" dirty="0">
              <a:solidFill>
                <a:srgbClr val="0B13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B31749D-85E8-0884-9B65-D4A516CA17DF}"/>
              </a:ext>
            </a:extLst>
          </p:cNvPr>
          <p:cNvSpPr txBox="1"/>
          <p:nvPr/>
        </p:nvSpPr>
        <p:spPr>
          <a:xfrm>
            <a:off x="13133767" y="1028700"/>
            <a:ext cx="4737245" cy="452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it-IT" sz="3000" noProof="0" dirty="0">
                <a:solidFill>
                  <a:srgbClr val="0B1320"/>
                </a:solidFill>
                <a:latin typeface="Poppins" pitchFamily="2" charset="77"/>
                <a:ea typeface="Poppins Semi-Bold"/>
                <a:cs typeface="Poppins" pitchFamily="2" charset="77"/>
                <a:sym typeface="Poppins Semi-Bold"/>
              </a:rPr>
              <a:t>Big Data e Data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o 29">
            <a:extLst>
              <a:ext uri="{FF2B5EF4-FFF2-40B4-BE49-F238E27FC236}">
                <a16:creationId xmlns:a16="http://schemas.microsoft.com/office/drawing/2014/main" id="{6799B504-68E3-9D39-1149-5B98C0BF5B48}"/>
              </a:ext>
            </a:extLst>
          </p:cNvPr>
          <p:cNvGrpSpPr/>
          <p:nvPr/>
        </p:nvGrpSpPr>
        <p:grpSpPr>
          <a:xfrm>
            <a:off x="-4924836" y="4484244"/>
            <a:ext cx="7560052" cy="7023569"/>
            <a:chOff x="-4051313" y="4484244"/>
            <a:chExt cx="7560052" cy="7023569"/>
          </a:xfrm>
        </p:grpSpPr>
        <p:grpSp>
          <p:nvGrpSpPr>
            <p:cNvPr id="7" name="Group 7"/>
            <p:cNvGrpSpPr/>
            <p:nvPr/>
          </p:nvGrpSpPr>
          <p:grpSpPr>
            <a:xfrm>
              <a:off x="-4051313" y="4484244"/>
              <a:ext cx="7560052" cy="7023569"/>
              <a:chOff x="0" y="0"/>
              <a:chExt cx="10080070" cy="936475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3600284" y="0"/>
                <a:ext cx="6479785" cy="9364759"/>
              </a:xfrm>
              <a:custGeom>
                <a:avLst/>
                <a:gdLst/>
                <a:ahLst/>
                <a:cxnLst/>
                <a:rect l="l" t="t" r="r" b="b"/>
                <a:pathLst>
                  <a:path w="6479785" h="9364759">
                    <a:moveTo>
                      <a:pt x="0" y="0"/>
                    </a:moveTo>
                    <a:lnTo>
                      <a:pt x="6479786" y="0"/>
                    </a:lnTo>
                    <a:lnTo>
                      <a:pt x="6479786" y="9364759"/>
                    </a:lnTo>
                    <a:lnTo>
                      <a:pt x="0" y="9364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99768" t="-6655" r="-104796" b="-11621"/>
                </a:stretch>
              </a:blipFill>
            </p:spPr>
            <p:txBody>
              <a:bodyPr/>
              <a:lstStyle/>
              <a:p>
                <a:endParaRPr lang="it-IT" noProof="0"/>
              </a:p>
            </p:txBody>
          </p:sp>
          <p:grpSp>
            <p:nvGrpSpPr>
              <p:cNvPr id="9" name="Group 9"/>
              <p:cNvGrpSpPr/>
              <p:nvPr/>
            </p:nvGrpSpPr>
            <p:grpSpPr>
              <a:xfrm>
                <a:off x="0" y="417861"/>
                <a:ext cx="6042914" cy="8053534"/>
                <a:chOff x="0" y="0"/>
                <a:chExt cx="1193662" cy="159082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1193662" cy="159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662" h="1590822">
                      <a:moveTo>
                        <a:pt x="87119" y="0"/>
                      </a:moveTo>
                      <a:lnTo>
                        <a:pt x="1106543" y="0"/>
                      </a:lnTo>
                      <a:cubicBezTo>
                        <a:pt x="1154658" y="0"/>
                        <a:pt x="1193662" y="39004"/>
                        <a:pt x="1193662" y="87119"/>
                      </a:cubicBezTo>
                      <a:lnTo>
                        <a:pt x="1193662" y="1503703"/>
                      </a:lnTo>
                      <a:cubicBezTo>
                        <a:pt x="1193662" y="1551817"/>
                        <a:pt x="1154658" y="1590822"/>
                        <a:pt x="1106543" y="1590822"/>
                      </a:cubicBezTo>
                      <a:lnTo>
                        <a:pt x="87119" y="1590822"/>
                      </a:lnTo>
                      <a:cubicBezTo>
                        <a:pt x="39004" y="1590822"/>
                        <a:pt x="0" y="1551817"/>
                        <a:pt x="0" y="1503703"/>
                      </a:cubicBezTo>
                      <a:lnTo>
                        <a:pt x="0" y="87119"/>
                      </a:lnTo>
                      <a:cubicBezTo>
                        <a:pt x="0" y="39004"/>
                        <a:pt x="39004" y="0"/>
                        <a:pt x="87119" y="0"/>
                      </a:cubicBezTo>
                      <a:close/>
                    </a:path>
                  </a:pathLst>
                </a:custGeom>
                <a:solidFill>
                  <a:srgbClr val="AFC0D0"/>
                </a:solidFill>
              </p:spPr>
              <p:txBody>
                <a:bodyPr/>
                <a:lstStyle/>
                <a:p>
                  <a:endParaRPr lang="it-IT" noProof="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0" y="-66675"/>
                  <a:ext cx="1193662" cy="165749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 lang="it-IT" noProof="0"/>
                </a:p>
              </p:txBody>
            </p:sp>
          </p:grp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8D04C356-D1C7-2C84-0B5A-564CF53F416C}"/>
                </a:ext>
              </a:extLst>
            </p:cNvPr>
            <p:cNvSpPr txBox="1"/>
            <p:nvPr/>
          </p:nvSpPr>
          <p:spPr>
            <a:xfrm>
              <a:off x="-1533257" y="6376753"/>
              <a:ext cx="3648024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noProof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Confronto</a:t>
              </a:r>
              <a:r>
                <a:rPr lang="it-IT" sz="4000" noProof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dei risultati restituiti dai due metodi</a:t>
              </a:r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F695FE35-2B2B-8FA0-D78C-412ED39D1DAA}"/>
              </a:ext>
            </a:extLst>
          </p:cNvPr>
          <p:cNvGrpSpPr/>
          <p:nvPr/>
        </p:nvGrpSpPr>
        <p:grpSpPr>
          <a:xfrm>
            <a:off x="-6324600" y="3533473"/>
            <a:ext cx="9331723" cy="9230463"/>
            <a:chOff x="-5486400" y="3533473"/>
            <a:chExt cx="9331723" cy="9230463"/>
          </a:xfrm>
        </p:grpSpPr>
        <p:grpSp>
          <p:nvGrpSpPr>
            <p:cNvPr id="12" name="Group 12"/>
            <p:cNvGrpSpPr/>
            <p:nvPr/>
          </p:nvGrpSpPr>
          <p:grpSpPr>
            <a:xfrm>
              <a:off x="-5486400" y="3533473"/>
              <a:ext cx="9331723" cy="9230463"/>
              <a:chOff x="0" y="0"/>
              <a:chExt cx="10690217" cy="1225790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239571" y="0"/>
                <a:ext cx="7450646" cy="12257907"/>
              </a:xfrm>
              <a:custGeom>
                <a:avLst/>
                <a:gdLst/>
                <a:ahLst/>
                <a:cxnLst/>
                <a:rect l="l" t="t" r="r" b="b"/>
                <a:pathLst>
                  <a:path w="7450646" h="12257907">
                    <a:moveTo>
                      <a:pt x="0" y="0"/>
                    </a:moveTo>
                    <a:lnTo>
                      <a:pt x="7450647" y="0"/>
                    </a:lnTo>
                    <a:lnTo>
                      <a:pt x="7450647" y="12257907"/>
                    </a:lnTo>
                    <a:lnTo>
                      <a:pt x="0" y="1225790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95571" r="-97562"/>
                </a:stretch>
              </a:blipFill>
            </p:spPr>
            <p:txBody>
              <a:bodyPr/>
              <a:lstStyle/>
              <a:p>
                <a:endParaRPr lang="it-IT" noProof="0"/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0" y="1408194"/>
                <a:ext cx="4978327" cy="8458601"/>
                <a:chOff x="0" y="0"/>
                <a:chExt cx="983373" cy="167083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0" y="0"/>
                  <a:ext cx="983373" cy="1670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373" h="1670835">
                      <a:moveTo>
                        <a:pt x="105748" y="0"/>
                      </a:moveTo>
                      <a:lnTo>
                        <a:pt x="877625" y="0"/>
                      </a:lnTo>
                      <a:cubicBezTo>
                        <a:pt x="936028" y="0"/>
                        <a:pt x="983373" y="47345"/>
                        <a:pt x="983373" y="105748"/>
                      </a:cubicBezTo>
                      <a:lnTo>
                        <a:pt x="983373" y="1565086"/>
                      </a:lnTo>
                      <a:cubicBezTo>
                        <a:pt x="983373" y="1623490"/>
                        <a:pt x="936028" y="1670835"/>
                        <a:pt x="877625" y="1670835"/>
                      </a:cubicBezTo>
                      <a:lnTo>
                        <a:pt x="105748" y="1670835"/>
                      </a:lnTo>
                      <a:cubicBezTo>
                        <a:pt x="47345" y="1670835"/>
                        <a:pt x="0" y="1623490"/>
                        <a:pt x="0" y="1565086"/>
                      </a:cubicBezTo>
                      <a:lnTo>
                        <a:pt x="0" y="105748"/>
                      </a:lnTo>
                      <a:cubicBezTo>
                        <a:pt x="0" y="47345"/>
                        <a:pt x="47345" y="0"/>
                        <a:pt x="105748" y="0"/>
                      </a:cubicBezTo>
                      <a:close/>
                    </a:path>
                  </a:pathLst>
                </a:custGeom>
                <a:solidFill>
                  <a:srgbClr val="1C3F60"/>
                </a:solidFill>
              </p:spPr>
              <p:txBody>
                <a:bodyPr/>
                <a:lstStyle/>
                <a:p>
                  <a:endParaRPr lang="it-IT" noProof="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0" y="-66675"/>
                  <a:ext cx="983373" cy="17375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 lang="it-IT" noProof="0"/>
                </a:p>
              </p:txBody>
            </p:sp>
          </p:grpSp>
        </p:grp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679D8840-3498-4DC9-F5A7-2606E20C5154}"/>
                </a:ext>
              </a:extLst>
            </p:cNvPr>
            <p:cNvSpPr txBox="1"/>
            <p:nvPr/>
          </p:nvSpPr>
          <p:spPr>
            <a:xfrm>
              <a:off x="-2743905" y="6540442"/>
              <a:ext cx="453218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noProof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Stimare </a:t>
              </a:r>
              <a:r>
                <a:rPr lang="it-IT" sz="4000" noProof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il punteggio cognitivo (MMSE)</a:t>
              </a:r>
              <a:endParaRPr lang="it-IT" sz="4000" b="1" noProof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CAA55ECE-7A69-D45D-AD41-F199E9145FF4}"/>
              </a:ext>
            </a:extLst>
          </p:cNvPr>
          <p:cNvGrpSpPr/>
          <p:nvPr/>
        </p:nvGrpSpPr>
        <p:grpSpPr>
          <a:xfrm>
            <a:off x="-6248400" y="3238500"/>
            <a:ext cx="8839200" cy="10068227"/>
            <a:chOff x="-6207523" y="3238500"/>
            <a:chExt cx="8839200" cy="10068227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35FADFA7-21C2-AB7C-E4C6-A2CD39446BA6}"/>
                </a:ext>
              </a:extLst>
            </p:cNvPr>
            <p:cNvGrpSpPr/>
            <p:nvPr/>
          </p:nvGrpSpPr>
          <p:grpSpPr>
            <a:xfrm>
              <a:off x="-6207523" y="3238500"/>
              <a:ext cx="8839200" cy="10068227"/>
              <a:chOff x="4114800" y="3086100"/>
              <a:chExt cx="8146441" cy="10061183"/>
            </a:xfrm>
          </p:grpSpPr>
          <p:grpSp>
            <p:nvGrpSpPr>
              <p:cNvPr id="27" name="Gruppo 26">
                <a:extLst>
                  <a:ext uri="{FF2B5EF4-FFF2-40B4-BE49-F238E27FC236}">
                    <a16:creationId xmlns:a16="http://schemas.microsoft.com/office/drawing/2014/main" id="{91747548-6A5F-19EF-E5AE-DA711F811DB7}"/>
                  </a:ext>
                </a:extLst>
              </p:cNvPr>
              <p:cNvGrpSpPr/>
              <p:nvPr/>
            </p:nvGrpSpPr>
            <p:grpSpPr>
              <a:xfrm>
                <a:off x="4114800" y="3086100"/>
                <a:ext cx="8146441" cy="10061183"/>
                <a:chOff x="-4462647" y="3419738"/>
                <a:chExt cx="8146441" cy="10061183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-2279096" y="3419738"/>
                  <a:ext cx="5962890" cy="1006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520" h="13414911">
                      <a:moveTo>
                        <a:pt x="0" y="0"/>
                      </a:moveTo>
                      <a:lnTo>
                        <a:pt x="7950519" y="0"/>
                      </a:lnTo>
                      <a:lnTo>
                        <a:pt x="7950519" y="13414911"/>
                      </a:lnTo>
                      <a:lnTo>
                        <a:pt x="0" y="134149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 l="-98876" r="-101756"/>
                  </a:stretch>
                </a:blipFill>
              </p:spPr>
              <p:txBody>
                <a:bodyPr/>
                <a:lstStyle/>
                <a:p>
                  <a:endParaRPr lang="it-IT" noProof="0"/>
                </a:p>
              </p:txBody>
            </p:sp>
            <p:grpSp>
              <p:nvGrpSpPr>
                <p:cNvPr id="22" name="Group 22"/>
                <p:cNvGrpSpPr/>
                <p:nvPr/>
              </p:nvGrpSpPr>
              <p:grpSpPr>
                <a:xfrm>
                  <a:off x="-4462647" y="4310788"/>
                  <a:ext cx="5537000" cy="7310660"/>
                  <a:chOff x="0" y="-66675"/>
                  <a:chExt cx="1339226" cy="1768219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0" y="-191"/>
                    <a:ext cx="1339226" cy="17017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7063" h="1701544">
                        <a:moveTo>
                          <a:pt x="81429" y="0"/>
                        </a:moveTo>
                        <a:lnTo>
                          <a:pt x="1195634" y="0"/>
                        </a:lnTo>
                        <a:cubicBezTo>
                          <a:pt x="1240606" y="0"/>
                          <a:pt x="1277063" y="36457"/>
                          <a:pt x="1277063" y="81429"/>
                        </a:cubicBezTo>
                        <a:lnTo>
                          <a:pt x="1277063" y="1620114"/>
                        </a:lnTo>
                        <a:cubicBezTo>
                          <a:pt x="1277063" y="1641711"/>
                          <a:pt x="1268484" y="1662423"/>
                          <a:pt x="1253213" y="1677694"/>
                        </a:cubicBezTo>
                        <a:cubicBezTo>
                          <a:pt x="1237942" y="1692964"/>
                          <a:pt x="1217230" y="1701544"/>
                          <a:pt x="1195634" y="1701544"/>
                        </a:cubicBezTo>
                        <a:lnTo>
                          <a:pt x="81429" y="1701544"/>
                        </a:lnTo>
                        <a:cubicBezTo>
                          <a:pt x="59833" y="1701544"/>
                          <a:pt x="39121" y="1692964"/>
                          <a:pt x="23850" y="1677694"/>
                        </a:cubicBezTo>
                        <a:cubicBezTo>
                          <a:pt x="8579" y="1662423"/>
                          <a:pt x="0" y="1641711"/>
                          <a:pt x="0" y="1620114"/>
                        </a:cubicBezTo>
                        <a:lnTo>
                          <a:pt x="0" y="81429"/>
                        </a:lnTo>
                        <a:cubicBezTo>
                          <a:pt x="0" y="59833"/>
                          <a:pt x="8579" y="39121"/>
                          <a:pt x="23850" y="23850"/>
                        </a:cubicBezTo>
                        <a:cubicBezTo>
                          <a:pt x="39121" y="8579"/>
                          <a:pt x="59833" y="0"/>
                          <a:pt x="81429" y="0"/>
                        </a:cubicBezTo>
                        <a:close/>
                      </a:path>
                    </a:pathLst>
                  </a:custGeom>
                  <a:solidFill>
                    <a:srgbClr val="0B1320"/>
                  </a:solidFill>
                </p:spPr>
                <p:txBody>
                  <a:bodyPr/>
                  <a:lstStyle/>
                  <a:p>
                    <a:endParaRPr lang="it-IT" noProof="0"/>
                  </a:p>
                </p:txBody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0" y="-66675"/>
                    <a:ext cx="1277063" cy="176821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800"/>
                      </a:lnSpc>
                    </a:pPr>
                    <a:endParaRPr lang="it-IT" noProof="0"/>
                  </a:p>
                </p:txBody>
              </p:sp>
            </p:grpSp>
          </p:grpSp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2A84E28E-CB82-B3E8-D98B-C4842900EDAA}"/>
                  </a:ext>
                </a:extLst>
              </p:cNvPr>
              <p:cNvSpPr/>
              <p:nvPr/>
            </p:nvSpPr>
            <p:spPr>
              <a:xfrm>
                <a:off x="10084000" y="5189011"/>
                <a:ext cx="1687323" cy="1905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3500" noProof="0">
                    <a:latin typeface="Poppins" pitchFamily="2" charset="77"/>
                    <a:cs typeface="Poppins" pitchFamily="2" charset="77"/>
                  </a:rPr>
                  <a:t>1</a:t>
                </a:r>
              </a:p>
            </p:txBody>
          </p:sp>
        </p:grp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ED3A7A32-6483-4300-ABA2-8D8B3B254F1F}"/>
                </a:ext>
              </a:extLst>
            </p:cNvPr>
            <p:cNvSpPr txBox="1"/>
            <p:nvPr/>
          </p:nvSpPr>
          <p:spPr>
            <a:xfrm>
              <a:off x="-4267200" y="6540441"/>
              <a:ext cx="4476488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noProof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Distinguere</a:t>
              </a:r>
              <a:r>
                <a:rPr lang="it-IT" sz="4000" noProof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soggetti sani da quelli affetti da Alzheimer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6049" y="3314700"/>
            <a:ext cx="16755902" cy="592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it-IT" sz="3399" noProof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Utilizzare GPT-3 per prevedere la demenza analizzando il discorso spontaneo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05430" y="1909641"/>
            <a:ext cx="3286369" cy="90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it-IT" sz="5199" b="1" noProof="0">
                <a:solidFill>
                  <a:srgbClr val="0B1320"/>
                </a:solidFill>
                <a:latin typeface="Poppins" pitchFamily="2" charset="77"/>
                <a:ea typeface="Open Sans Bold"/>
                <a:cs typeface="Poppins" pitchFamily="2" charset="77"/>
                <a:sym typeface="Open Sans Bold"/>
              </a:rPr>
              <a:t>Obiettivo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BEC706C9-6254-FE6A-E00D-C6F717AB4088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02/19</a:t>
            </a: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BC8A2EBA-2808-0A3C-0264-E5B041AEBF52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AE3A8982-C639-F33C-1678-D56CEF88E551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02E94FD3-1F8F-7BC0-3CB5-731D27948D4C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BAF7D-0E94-D9CC-9582-2A3421C4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A52708-2DBC-B7B3-5A61-8637A7AE2A0B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02/19</a:t>
            </a: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8810E6DD-2AD3-3FD5-EAAA-9DD19F1ECAF1}"/>
              </a:ext>
            </a:extLst>
          </p:cNvPr>
          <p:cNvGrpSpPr/>
          <p:nvPr/>
        </p:nvGrpSpPr>
        <p:grpSpPr>
          <a:xfrm>
            <a:off x="10727948" y="4484244"/>
            <a:ext cx="7560052" cy="7023569"/>
            <a:chOff x="-4051313" y="4484244"/>
            <a:chExt cx="7560052" cy="702356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A1F7563-BED0-32F6-3FE3-2C3B9D4EA163}"/>
                </a:ext>
              </a:extLst>
            </p:cNvPr>
            <p:cNvGrpSpPr/>
            <p:nvPr/>
          </p:nvGrpSpPr>
          <p:grpSpPr>
            <a:xfrm>
              <a:off x="-4051313" y="4484244"/>
              <a:ext cx="7560052" cy="7023569"/>
              <a:chOff x="0" y="0"/>
              <a:chExt cx="10080070" cy="9364759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857DC22-6A32-1CC2-E2EC-27C9765EB240}"/>
                  </a:ext>
                </a:extLst>
              </p:cNvPr>
              <p:cNvSpPr/>
              <p:nvPr/>
            </p:nvSpPr>
            <p:spPr>
              <a:xfrm>
                <a:off x="3600284" y="0"/>
                <a:ext cx="6479785" cy="9364759"/>
              </a:xfrm>
              <a:custGeom>
                <a:avLst/>
                <a:gdLst/>
                <a:ahLst/>
                <a:cxnLst/>
                <a:rect l="l" t="t" r="r" b="b"/>
                <a:pathLst>
                  <a:path w="6479785" h="9364759">
                    <a:moveTo>
                      <a:pt x="0" y="0"/>
                    </a:moveTo>
                    <a:lnTo>
                      <a:pt x="6479786" y="0"/>
                    </a:lnTo>
                    <a:lnTo>
                      <a:pt x="6479786" y="9364759"/>
                    </a:lnTo>
                    <a:lnTo>
                      <a:pt x="0" y="9364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99768" t="-6655" r="-104796" b="-11621"/>
                </a:stretch>
              </a:blipFill>
            </p:spPr>
            <p:txBody>
              <a:bodyPr/>
              <a:lstStyle/>
              <a:p>
                <a:endParaRPr lang="it-IT" noProof="0"/>
              </a:p>
            </p:txBody>
          </p:sp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D23DAF81-99F6-16BD-589F-15B2C3B3561A}"/>
                  </a:ext>
                </a:extLst>
              </p:cNvPr>
              <p:cNvGrpSpPr/>
              <p:nvPr/>
            </p:nvGrpSpPr>
            <p:grpSpPr>
              <a:xfrm>
                <a:off x="0" y="417861"/>
                <a:ext cx="6042914" cy="8053534"/>
                <a:chOff x="0" y="0"/>
                <a:chExt cx="1193662" cy="1590822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677A0B38-7B1E-69B7-1E9B-E22A126F8DD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93662" cy="159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662" h="1590822">
                      <a:moveTo>
                        <a:pt x="87119" y="0"/>
                      </a:moveTo>
                      <a:lnTo>
                        <a:pt x="1106543" y="0"/>
                      </a:lnTo>
                      <a:cubicBezTo>
                        <a:pt x="1154658" y="0"/>
                        <a:pt x="1193662" y="39004"/>
                        <a:pt x="1193662" y="87119"/>
                      </a:cubicBezTo>
                      <a:lnTo>
                        <a:pt x="1193662" y="1503703"/>
                      </a:lnTo>
                      <a:cubicBezTo>
                        <a:pt x="1193662" y="1551817"/>
                        <a:pt x="1154658" y="1590822"/>
                        <a:pt x="1106543" y="1590822"/>
                      </a:cubicBezTo>
                      <a:lnTo>
                        <a:pt x="87119" y="1590822"/>
                      </a:lnTo>
                      <a:cubicBezTo>
                        <a:pt x="39004" y="1590822"/>
                        <a:pt x="0" y="1551817"/>
                        <a:pt x="0" y="1503703"/>
                      </a:cubicBezTo>
                      <a:lnTo>
                        <a:pt x="0" y="87119"/>
                      </a:lnTo>
                      <a:cubicBezTo>
                        <a:pt x="0" y="39004"/>
                        <a:pt x="39004" y="0"/>
                        <a:pt x="87119" y="0"/>
                      </a:cubicBezTo>
                      <a:close/>
                    </a:path>
                  </a:pathLst>
                </a:custGeom>
                <a:solidFill>
                  <a:srgbClr val="AFC0D0"/>
                </a:solidFill>
              </p:spPr>
              <p:txBody>
                <a:bodyPr/>
                <a:lstStyle/>
                <a:p>
                  <a:endParaRPr lang="it-IT" noProof="0"/>
                </a:p>
              </p:txBody>
            </p:sp>
            <p:sp>
              <p:nvSpPr>
                <p:cNvPr id="11" name="TextBox 11">
                  <a:extLst>
                    <a:ext uri="{FF2B5EF4-FFF2-40B4-BE49-F238E27FC236}">
                      <a16:creationId xmlns:a16="http://schemas.microsoft.com/office/drawing/2014/main" id="{9AC71973-6869-5AFE-ED2D-C320E090C9D6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1193662" cy="165749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 lang="it-IT" noProof="0"/>
                </a:p>
              </p:txBody>
            </p:sp>
          </p:grp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206EBF4C-8424-747F-5C22-0A58A157BBEA}"/>
                </a:ext>
              </a:extLst>
            </p:cNvPr>
            <p:cNvSpPr txBox="1"/>
            <p:nvPr/>
          </p:nvSpPr>
          <p:spPr>
            <a:xfrm>
              <a:off x="-1533257" y="6376753"/>
              <a:ext cx="3648024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noProof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Confronto</a:t>
              </a:r>
              <a:r>
                <a:rPr lang="it-IT" sz="4000" noProof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 dei risultati restituiti dai due metodi</a:t>
              </a:r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EBD6B585-A33F-DDD5-5B77-414C0F4DFDBB}"/>
              </a:ext>
            </a:extLst>
          </p:cNvPr>
          <p:cNvSpPr txBox="1"/>
          <p:nvPr/>
        </p:nvSpPr>
        <p:spPr>
          <a:xfrm>
            <a:off x="7305430" y="1909641"/>
            <a:ext cx="3286369" cy="90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it-IT" sz="5199" b="1" noProof="0">
                <a:solidFill>
                  <a:srgbClr val="0B1320"/>
                </a:solidFill>
                <a:latin typeface="Poppins" pitchFamily="2" charset="77"/>
                <a:ea typeface="Open Sans Bold"/>
                <a:cs typeface="Poppins" pitchFamily="2" charset="77"/>
                <a:sym typeface="Open Sans Bold"/>
              </a:rPr>
              <a:t>Obiettivo</a:t>
            </a:r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19159A68-DB7B-50E5-98B2-406B564B19BC}"/>
              </a:ext>
            </a:extLst>
          </p:cNvPr>
          <p:cNvGrpSpPr/>
          <p:nvPr/>
        </p:nvGrpSpPr>
        <p:grpSpPr>
          <a:xfrm>
            <a:off x="4618153" y="3533473"/>
            <a:ext cx="9331723" cy="9230463"/>
            <a:chOff x="-5486400" y="3533473"/>
            <a:chExt cx="9331723" cy="923046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B5B0826-593F-3B46-0C13-F64EF4199B03}"/>
                </a:ext>
              </a:extLst>
            </p:cNvPr>
            <p:cNvGrpSpPr/>
            <p:nvPr/>
          </p:nvGrpSpPr>
          <p:grpSpPr>
            <a:xfrm>
              <a:off x="-5486400" y="3533473"/>
              <a:ext cx="9331723" cy="9230463"/>
              <a:chOff x="0" y="0"/>
              <a:chExt cx="10690217" cy="1225790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0AEFE96-62ED-D1A9-04A2-266002B09480}"/>
                  </a:ext>
                </a:extLst>
              </p:cNvPr>
              <p:cNvSpPr/>
              <p:nvPr/>
            </p:nvSpPr>
            <p:spPr>
              <a:xfrm>
                <a:off x="3239571" y="0"/>
                <a:ext cx="7450646" cy="12257907"/>
              </a:xfrm>
              <a:custGeom>
                <a:avLst/>
                <a:gdLst/>
                <a:ahLst/>
                <a:cxnLst/>
                <a:rect l="l" t="t" r="r" b="b"/>
                <a:pathLst>
                  <a:path w="7450646" h="12257907">
                    <a:moveTo>
                      <a:pt x="0" y="0"/>
                    </a:moveTo>
                    <a:lnTo>
                      <a:pt x="7450647" y="0"/>
                    </a:lnTo>
                    <a:lnTo>
                      <a:pt x="7450647" y="12257907"/>
                    </a:lnTo>
                    <a:lnTo>
                      <a:pt x="0" y="1225790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95571" r="-97562"/>
                </a:stretch>
              </a:blipFill>
            </p:spPr>
            <p:txBody>
              <a:bodyPr/>
              <a:lstStyle/>
              <a:p>
                <a:endParaRPr lang="it-IT" noProof="0"/>
              </a:p>
            </p:txBody>
          </p:sp>
          <p:grpSp>
            <p:nvGrpSpPr>
              <p:cNvPr id="14" name="Group 14">
                <a:extLst>
                  <a:ext uri="{FF2B5EF4-FFF2-40B4-BE49-F238E27FC236}">
                    <a16:creationId xmlns:a16="http://schemas.microsoft.com/office/drawing/2014/main" id="{D138AC24-8E6E-66D7-EEFC-0972D05178FA}"/>
                  </a:ext>
                </a:extLst>
              </p:cNvPr>
              <p:cNvGrpSpPr/>
              <p:nvPr/>
            </p:nvGrpSpPr>
            <p:grpSpPr>
              <a:xfrm>
                <a:off x="0" y="1408194"/>
                <a:ext cx="4978327" cy="8458601"/>
                <a:chOff x="0" y="0"/>
                <a:chExt cx="983373" cy="1670835"/>
              </a:xfrm>
            </p:grpSpPr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3BBCC2A0-BB9B-3F71-25FD-B34ADD4827E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3373" cy="1670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373" h="1670835">
                      <a:moveTo>
                        <a:pt x="105748" y="0"/>
                      </a:moveTo>
                      <a:lnTo>
                        <a:pt x="877625" y="0"/>
                      </a:lnTo>
                      <a:cubicBezTo>
                        <a:pt x="936028" y="0"/>
                        <a:pt x="983373" y="47345"/>
                        <a:pt x="983373" y="105748"/>
                      </a:cubicBezTo>
                      <a:lnTo>
                        <a:pt x="983373" y="1565086"/>
                      </a:lnTo>
                      <a:cubicBezTo>
                        <a:pt x="983373" y="1623490"/>
                        <a:pt x="936028" y="1670835"/>
                        <a:pt x="877625" y="1670835"/>
                      </a:cubicBezTo>
                      <a:lnTo>
                        <a:pt x="105748" y="1670835"/>
                      </a:lnTo>
                      <a:cubicBezTo>
                        <a:pt x="47345" y="1670835"/>
                        <a:pt x="0" y="1623490"/>
                        <a:pt x="0" y="1565086"/>
                      </a:cubicBezTo>
                      <a:lnTo>
                        <a:pt x="0" y="105748"/>
                      </a:lnTo>
                      <a:cubicBezTo>
                        <a:pt x="0" y="47345"/>
                        <a:pt x="47345" y="0"/>
                        <a:pt x="105748" y="0"/>
                      </a:cubicBezTo>
                      <a:close/>
                    </a:path>
                  </a:pathLst>
                </a:custGeom>
                <a:solidFill>
                  <a:srgbClr val="1C3F60"/>
                </a:solidFill>
              </p:spPr>
              <p:txBody>
                <a:bodyPr/>
                <a:lstStyle/>
                <a:p>
                  <a:endParaRPr lang="it-IT" noProof="0"/>
                </a:p>
              </p:txBody>
            </p:sp>
            <p:sp>
              <p:nvSpPr>
                <p:cNvPr id="16" name="TextBox 16">
                  <a:extLst>
                    <a:ext uri="{FF2B5EF4-FFF2-40B4-BE49-F238E27FC236}">
                      <a16:creationId xmlns:a16="http://schemas.microsoft.com/office/drawing/2014/main" id="{7127535C-A55D-3595-34DF-F0E49E6DCDE5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83373" cy="17375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 lang="it-IT" noProof="0"/>
                </a:p>
              </p:txBody>
            </p:sp>
          </p:grpSp>
        </p:grp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8950AFF4-06E9-53C8-D0AD-534DBCB354A7}"/>
                </a:ext>
              </a:extLst>
            </p:cNvPr>
            <p:cNvSpPr txBox="1"/>
            <p:nvPr/>
          </p:nvSpPr>
          <p:spPr>
            <a:xfrm>
              <a:off x="-2743905" y="6540442"/>
              <a:ext cx="453218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noProof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Stimare </a:t>
              </a:r>
              <a:r>
                <a:rPr lang="it-IT" sz="4000" noProof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il punteggio cognitivo (MMSE)</a:t>
              </a:r>
              <a:endParaRPr lang="it-IT" sz="4000" b="1" noProof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53B040BC-0F63-CC37-7CF0-DD8456127A74}"/>
              </a:ext>
            </a:extLst>
          </p:cNvPr>
          <p:cNvGrpSpPr/>
          <p:nvPr/>
        </p:nvGrpSpPr>
        <p:grpSpPr>
          <a:xfrm>
            <a:off x="-780460" y="3238500"/>
            <a:ext cx="8839200" cy="10068227"/>
            <a:chOff x="-6207523" y="3238500"/>
            <a:chExt cx="8839200" cy="10068227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B0A95404-87FE-B9B0-4C13-BA874DECFA0F}"/>
                </a:ext>
              </a:extLst>
            </p:cNvPr>
            <p:cNvGrpSpPr/>
            <p:nvPr/>
          </p:nvGrpSpPr>
          <p:grpSpPr>
            <a:xfrm>
              <a:off x="-6207523" y="3238500"/>
              <a:ext cx="8839200" cy="10068227"/>
              <a:chOff x="4114800" y="3086100"/>
              <a:chExt cx="8146441" cy="10061183"/>
            </a:xfrm>
          </p:grpSpPr>
          <p:grpSp>
            <p:nvGrpSpPr>
              <p:cNvPr id="27" name="Gruppo 26">
                <a:extLst>
                  <a:ext uri="{FF2B5EF4-FFF2-40B4-BE49-F238E27FC236}">
                    <a16:creationId xmlns:a16="http://schemas.microsoft.com/office/drawing/2014/main" id="{47BD885E-9D8F-E5B3-420E-8538F3846E7D}"/>
                  </a:ext>
                </a:extLst>
              </p:cNvPr>
              <p:cNvGrpSpPr/>
              <p:nvPr/>
            </p:nvGrpSpPr>
            <p:grpSpPr>
              <a:xfrm>
                <a:off x="4114800" y="3086100"/>
                <a:ext cx="8146441" cy="10061183"/>
                <a:chOff x="-4462647" y="3419738"/>
                <a:chExt cx="8146441" cy="10061183"/>
              </a:xfrm>
            </p:grpSpPr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4C41F329-040D-2486-E796-4C5F46BD9AA6}"/>
                    </a:ext>
                  </a:extLst>
                </p:cNvPr>
                <p:cNvSpPr/>
                <p:nvPr/>
              </p:nvSpPr>
              <p:spPr>
                <a:xfrm>
                  <a:off x="-2279096" y="3419738"/>
                  <a:ext cx="5962890" cy="1006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520" h="13414911">
                      <a:moveTo>
                        <a:pt x="0" y="0"/>
                      </a:moveTo>
                      <a:lnTo>
                        <a:pt x="7950519" y="0"/>
                      </a:lnTo>
                      <a:lnTo>
                        <a:pt x="7950519" y="13414911"/>
                      </a:lnTo>
                      <a:lnTo>
                        <a:pt x="0" y="134149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 l="-98876" r="-101756"/>
                  </a:stretch>
                </a:blipFill>
              </p:spPr>
              <p:txBody>
                <a:bodyPr/>
                <a:lstStyle/>
                <a:p>
                  <a:endParaRPr lang="it-IT" noProof="0"/>
                </a:p>
              </p:txBody>
            </p:sp>
            <p:grpSp>
              <p:nvGrpSpPr>
                <p:cNvPr id="22" name="Group 22">
                  <a:extLst>
                    <a:ext uri="{FF2B5EF4-FFF2-40B4-BE49-F238E27FC236}">
                      <a16:creationId xmlns:a16="http://schemas.microsoft.com/office/drawing/2014/main" id="{FC6F7D9E-1E42-DEB1-4CEE-19ADEDD922DE}"/>
                    </a:ext>
                  </a:extLst>
                </p:cNvPr>
                <p:cNvGrpSpPr/>
                <p:nvPr/>
              </p:nvGrpSpPr>
              <p:grpSpPr>
                <a:xfrm>
                  <a:off x="-4462647" y="4310788"/>
                  <a:ext cx="5537000" cy="7310660"/>
                  <a:chOff x="0" y="-66675"/>
                  <a:chExt cx="1339226" cy="1768219"/>
                </a:xfrm>
              </p:grpSpPr>
              <p:sp>
                <p:nvSpPr>
                  <p:cNvPr id="23" name="Freeform 23">
                    <a:extLst>
                      <a:ext uri="{FF2B5EF4-FFF2-40B4-BE49-F238E27FC236}">
                        <a16:creationId xmlns:a16="http://schemas.microsoft.com/office/drawing/2014/main" id="{6E6DC837-E571-B37D-DC87-8CD0FBEF455F}"/>
                      </a:ext>
                    </a:extLst>
                  </p:cNvPr>
                  <p:cNvSpPr/>
                  <p:nvPr/>
                </p:nvSpPr>
                <p:spPr>
                  <a:xfrm>
                    <a:off x="0" y="-191"/>
                    <a:ext cx="1339226" cy="17017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7063" h="1701544">
                        <a:moveTo>
                          <a:pt x="81429" y="0"/>
                        </a:moveTo>
                        <a:lnTo>
                          <a:pt x="1195634" y="0"/>
                        </a:lnTo>
                        <a:cubicBezTo>
                          <a:pt x="1240606" y="0"/>
                          <a:pt x="1277063" y="36457"/>
                          <a:pt x="1277063" y="81429"/>
                        </a:cubicBezTo>
                        <a:lnTo>
                          <a:pt x="1277063" y="1620114"/>
                        </a:lnTo>
                        <a:cubicBezTo>
                          <a:pt x="1277063" y="1641711"/>
                          <a:pt x="1268484" y="1662423"/>
                          <a:pt x="1253213" y="1677694"/>
                        </a:cubicBezTo>
                        <a:cubicBezTo>
                          <a:pt x="1237942" y="1692964"/>
                          <a:pt x="1217230" y="1701544"/>
                          <a:pt x="1195634" y="1701544"/>
                        </a:cubicBezTo>
                        <a:lnTo>
                          <a:pt x="81429" y="1701544"/>
                        </a:lnTo>
                        <a:cubicBezTo>
                          <a:pt x="59833" y="1701544"/>
                          <a:pt x="39121" y="1692964"/>
                          <a:pt x="23850" y="1677694"/>
                        </a:cubicBezTo>
                        <a:cubicBezTo>
                          <a:pt x="8579" y="1662423"/>
                          <a:pt x="0" y="1641711"/>
                          <a:pt x="0" y="1620114"/>
                        </a:cubicBezTo>
                        <a:lnTo>
                          <a:pt x="0" y="81429"/>
                        </a:lnTo>
                        <a:cubicBezTo>
                          <a:pt x="0" y="59833"/>
                          <a:pt x="8579" y="39121"/>
                          <a:pt x="23850" y="23850"/>
                        </a:cubicBezTo>
                        <a:cubicBezTo>
                          <a:pt x="39121" y="8579"/>
                          <a:pt x="59833" y="0"/>
                          <a:pt x="81429" y="0"/>
                        </a:cubicBezTo>
                        <a:close/>
                      </a:path>
                    </a:pathLst>
                  </a:custGeom>
                  <a:solidFill>
                    <a:srgbClr val="0B1320"/>
                  </a:solidFill>
                </p:spPr>
                <p:txBody>
                  <a:bodyPr/>
                  <a:lstStyle/>
                  <a:p>
                    <a:endParaRPr lang="it-IT" noProof="0"/>
                  </a:p>
                </p:txBody>
              </p:sp>
              <p:sp>
                <p:nvSpPr>
                  <p:cNvPr id="24" name="TextBox 24">
                    <a:extLst>
                      <a:ext uri="{FF2B5EF4-FFF2-40B4-BE49-F238E27FC236}">
                        <a16:creationId xmlns:a16="http://schemas.microsoft.com/office/drawing/2014/main" id="{07C66E57-1D64-6534-E120-959A0DFAA4AD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1277063" cy="176821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800"/>
                      </a:lnSpc>
                    </a:pPr>
                    <a:endParaRPr lang="it-IT" noProof="0"/>
                  </a:p>
                </p:txBody>
              </p:sp>
            </p:grpSp>
          </p:grpSp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06DE38AB-40DB-FC68-4BB8-2D99BAAFEF68}"/>
                  </a:ext>
                </a:extLst>
              </p:cNvPr>
              <p:cNvSpPr/>
              <p:nvPr/>
            </p:nvSpPr>
            <p:spPr>
              <a:xfrm>
                <a:off x="10084000" y="5189011"/>
                <a:ext cx="1687323" cy="1905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3500" noProof="0">
                    <a:latin typeface="Poppins" pitchFamily="2" charset="77"/>
                    <a:cs typeface="Poppins" pitchFamily="2" charset="77"/>
                  </a:rPr>
                  <a:t>1</a:t>
                </a:r>
              </a:p>
            </p:txBody>
          </p:sp>
        </p:grp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482CB59E-FA85-32C5-39BD-CEA1CC3E8CE9}"/>
                </a:ext>
              </a:extLst>
            </p:cNvPr>
            <p:cNvSpPr txBox="1"/>
            <p:nvPr/>
          </p:nvSpPr>
          <p:spPr>
            <a:xfrm>
              <a:off x="-4267200" y="6540441"/>
              <a:ext cx="4476488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noProof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Distinguere</a:t>
              </a:r>
              <a:r>
                <a:rPr lang="it-IT" sz="4000" noProof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 soggetti sani da quelli affetti da Alzheimer</a:t>
              </a:r>
            </a:p>
          </p:txBody>
        </p:sp>
      </p:grpSp>
      <p:sp>
        <p:nvSpPr>
          <p:cNvPr id="45" name="TextBox 6">
            <a:extLst>
              <a:ext uri="{FF2B5EF4-FFF2-40B4-BE49-F238E27FC236}">
                <a16:creationId xmlns:a16="http://schemas.microsoft.com/office/drawing/2014/main" id="{C5226D40-9C91-B696-BBD3-10C6EB8DCAD3}"/>
              </a:ext>
            </a:extLst>
          </p:cNvPr>
          <p:cNvSpPr txBox="1"/>
          <p:nvPr/>
        </p:nvSpPr>
        <p:spPr>
          <a:xfrm>
            <a:off x="766049" y="3314700"/>
            <a:ext cx="16755902" cy="592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it-IT" sz="3399" noProof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Utilizzare GPT-3 per prevedere la demenza analizzando il discorso spontaneo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AA10C17-5852-A1A1-2016-F4DCF13704C1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44EE271-5DFA-2DCE-B7B2-E574259BFBCE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AE7D6965-1493-D210-8468-B6D7542CC0B7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2378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D7CFA-B532-208A-4871-286D6240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C6F4D52-E3B9-E855-6D0D-67F20AB3CBA8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8BB708F-1DE1-02A3-B469-9651A4D9CADA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D5337E-E21E-6039-1710-E65C792998F6}"/>
              </a:ext>
            </a:extLst>
          </p:cNvPr>
          <p:cNvSpPr txBox="1"/>
          <p:nvPr/>
        </p:nvSpPr>
        <p:spPr>
          <a:xfrm>
            <a:off x="2659014" y="2019300"/>
            <a:ext cx="12969970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Approccio tradizionale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66475-0656-48C1-1D26-12CFC39A0A0F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55045B59-140F-796F-1A5E-446FFDE4540E}"/>
              </a:ext>
            </a:extLst>
          </p:cNvPr>
          <p:cNvGrpSpPr/>
          <p:nvPr/>
        </p:nvGrpSpPr>
        <p:grpSpPr>
          <a:xfrm>
            <a:off x="1714500" y="4112527"/>
            <a:ext cx="3810000" cy="3506400"/>
            <a:chOff x="1714500" y="4112527"/>
            <a:chExt cx="3810000" cy="3506400"/>
          </a:xfrm>
          <a:solidFill>
            <a:srgbClr val="1C3F60"/>
          </a:solidFill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C77B0CFB-7C05-3586-18D3-57CD5C80045F}"/>
                </a:ext>
              </a:extLst>
            </p:cNvPr>
            <p:cNvSpPr/>
            <p:nvPr/>
          </p:nvSpPr>
          <p:spPr>
            <a:xfrm>
              <a:off x="1714500" y="4112527"/>
              <a:ext cx="3810000" cy="3506400"/>
            </a:xfrm>
            <a:prstGeom prst="roundRect">
              <a:avLst/>
            </a:prstGeom>
            <a:grpFill/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F0871137-EB88-C11F-F6B6-7896FFE2EA95}"/>
                </a:ext>
              </a:extLst>
            </p:cNvPr>
            <p:cNvSpPr txBox="1"/>
            <p:nvPr/>
          </p:nvSpPr>
          <p:spPr>
            <a:xfrm>
              <a:off x="1924050" y="5172629"/>
              <a:ext cx="3390900" cy="13849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800" b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Test cognitivi standard </a:t>
              </a:r>
            </a:p>
            <a:p>
              <a:pPr algn="ctr"/>
              <a:r>
                <a:rPr lang="it-IT" sz="280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basati sul MMSE</a:t>
              </a:r>
              <a:endParaRPr lang="it-IT" sz="28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2CE81A88-5804-7EDD-A109-F6EC2B4C9F87}"/>
              </a:ext>
            </a:extLst>
          </p:cNvPr>
          <p:cNvGrpSpPr/>
          <p:nvPr/>
        </p:nvGrpSpPr>
        <p:grpSpPr>
          <a:xfrm>
            <a:off x="7239000" y="4112527"/>
            <a:ext cx="3810000" cy="3506400"/>
            <a:chOff x="7239000" y="4112527"/>
            <a:chExt cx="3810000" cy="3506400"/>
          </a:xfrm>
        </p:grpSpPr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E765719C-58F2-7219-5161-8C7CB10846AE}"/>
                </a:ext>
              </a:extLst>
            </p:cNvPr>
            <p:cNvSpPr/>
            <p:nvPr/>
          </p:nvSpPr>
          <p:spPr>
            <a:xfrm>
              <a:off x="7239000" y="4112527"/>
              <a:ext cx="3810000" cy="3506400"/>
            </a:xfrm>
            <a:prstGeom prst="roundRect">
              <a:avLst/>
            </a:prstGeom>
            <a:solidFill>
              <a:srgbClr val="1C3F60"/>
            </a:solidFill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687B5E45-CE1B-2E6B-2BE1-81C923295707}"/>
                </a:ext>
              </a:extLst>
            </p:cNvPr>
            <p:cNvSpPr txBox="1"/>
            <p:nvPr/>
          </p:nvSpPr>
          <p:spPr>
            <a:xfrm>
              <a:off x="7448549" y="4956586"/>
              <a:ext cx="33909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800" b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Neuroimmagini</a:t>
              </a:r>
            </a:p>
            <a:p>
              <a:pPr algn="ctr"/>
              <a:r>
                <a:rPr lang="it-IT" sz="280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per osservare alterazioni cerebrali</a:t>
              </a:r>
            </a:p>
          </p:txBody>
        </p:sp>
      </p:grp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64788D34-BA54-5298-BDF4-93371D9E82FD}"/>
              </a:ext>
            </a:extLst>
          </p:cNvPr>
          <p:cNvSpPr/>
          <p:nvPr/>
        </p:nvSpPr>
        <p:spPr>
          <a:xfrm>
            <a:off x="12763500" y="4111327"/>
            <a:ext cx="3810000" cy="3506400"/>
          </a:xfrm>
          <a:prstGeom prst="roundRect">
            <a:avLst/>
          </a:prstGeom>
          <a:solidFill>
            <a:srgbClr val="1C3F60"/>
          </a:solidFill>
          <a:ln>
            <a:noFill/>
          </a:ln>
          <a:effectLst>
            <a:outerShdw blurRad="398620" dist="128409" dir="1620000" sx="100904" sy="100904" algn="l" rotWithShape="0">
              <a:prstClr val="black">
                <a:alpha val="7485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6AF9F70-8FC8-B42E-10F2-1547A9CA80C0}"/>
              </a:ext>
            </a:extLst>
          </p:cNvPr>
          <p:cNvSpPr txBox="1"/>
          <p:nvPr/>
        </p:nvSpPr>
        <p:spPr>
          <a:xfrm>
            <a:off x="12973050" y="4956586"/>
            <a:ext cx="3390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Caratteristiche acustiche </a:t>
            </a:r>
          </a:p>
          <a:p>
            <a:pPr algn="ctr"/>
            <a:r>
              <a:rPr lang="it-IT" sz="280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per analizzare il parlato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6F4A11A9-632C-9B75-7A6F-38559D31B7AB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03/19</a:t>
            </a:r>
          </a:p>
        </p:txBody>
      </p:sp>
    </p:spTree>
    <p:extLst>
      <p:ext uri="{BB962C8B-B14F-4D97-AF65-F5344CB8AC3E}">
        <p14:creationId xmlns:p14="http://schemas.microsoft.com/office/powerpoint/2010/main" val="21683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722CE-4676-F800-6E6F-23BBE03B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0D54206-6EB7-8B6F-AEF0-EC57D2E0A74F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74EA8A1-C838-A220-661E-AEEDDC26C788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5DE30F4-2DF1-00F0-69E2-8D397428E91F}"/>
              </a:ext>
            </a:extLst>
          </p:cNvPr>
          <p:cNvSpPr txBox="1"/>
          <p:nvPr/>
        </p:nvSpPr>
        <p:spPr>
          <a:xfrm>
            <a:off x="2659014" y="2019300"/>
            <a:ext cx="12969970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Approccio tradizionale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FC982FE1-F0B1-8F8D-1965-CD3809270C3A}"/>
              </a:ext>
            </a:extLst>
          </p:cNvPr>
          <p:cNvGrpSpPr/>
          <p:nvPr/>
        </p:nvGrpSpPr>
        <p:grpSpPr>
          <a:xfrm>
            <a:off x="1714500" y="4112527"/>
            <a:ext cx="3810000" cy="3506400"/>
            <a:chOff x="1714500" y="4112527"/>
            <a:chExt cx="3810000" cy="3506400"/>
          </a:xfrm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3F748A88-3D02-9C08-669E-2D8FA746574B}"/>
                </a:ext>
              </a:extLst>
            </p:cNvPr>
            <p:cNvSpPr/>
            <p:nvPr/>
          </p:nvSpPr>
          <p:spPr>
            <a:xfrm>
              <a:off x="1714500" y="4112527"/>
              <a:ext cx="3810000" cy="3506400"/>
            </a:xfrm>
            <a:prstGeom prst="roundRect">
              <a:avLst/>
            </a:prstGeom>
            <a:solidFill>
              <a:srgbClr val="1C3F60"/>
            </a:solidFill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E5272E3C-4FF4-35DF-C255-31D9232A2C2D}"/>
                </a:ext>
              </a:extLst>
            </p:cNvPr>
            <p:cNvSpPr txBox="1"/>
            <p:nvPr/>
          </p:nvSpPr>
          <p:spPr>
            <a:xfrm>
              <a:off x="1924050" y="5172629"/>
              <a:ext cx="33909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8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Test cognitivi standard </a:t>
              </a:r>
            </a:p>
            <a:p>
              <a:pPr algn="ctr"/>
              <a:r>
                <a:rPr lang="it-IT" sz="28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basati sul MMSE</a:t>
              </a:r>
              <a:endParaRPr lang="it-IT" sz="28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4B3188F9-457E-0794-6782-254A2DC7AC43}"/>
              </a:ext>
            </a:extLst>
          </p:cNvPr>
          <p:cNvGrpSpPr/>
          <p:nvPr/>
        </p:nvGrpSpPr>
        <p:grpSpPr>
          <a:xfrm>
            <a:off x="7239000" y="4112527"/>
            <a:ext cx="3810000" cy="3506400"/>
            <a:chOff x="7239000" y="4112527"/>
            <a:chExt cx="3810000" cy="3506400"/>
          </a:xfrm>
        </p:grpSpPr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CA46156A-4FE8-1AC0-367C-14C5653CCF7C}"/>
                </a:ext>
              </a:extLst>
            </p:cNvPr>
            <p:cNvSpPr/>
            <p:nvPr/>
          </p:nvSpPr>
          <p:spPr>
            <a:xfrm>
              <a:off x="7239000" y="4112527"/>
              <a:ext cx="3810000" cy="3506400"/>
            </a:xfrm>
            <a:prstGeom prst="roundRect">
              <a:avLst/>
            </a:prstGeom>
            <a:solidFill>
              <a:srgbClr val="1C3F60"/>
            </a:solidFill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D55C652D-AC52-38EE-7825-DE00466CD0CA}"/>
                </a:ext>
              </a:extLst>
            </p:cNvPr>
            <p:cNvSpPr txBox="1"/>
            <p:nvPr/>
          </p:nvSpPr>
          <p:spPr>
            <a:xfrm>
              <a:off x="7448549" y="4956586"/>
              <a:ext cx="33909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8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Neuroimmagini</a:t>
              </a:r>
            </a:p>
            <a:p>
              <a:pPr algn="ctr"/>
              <a:r>
                <a:rPr lang="it-IT" sz="280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per osservare alterazioni cerebrali</a:t>
              </a:r>
            </a:p>
          </p:txBody>
        </p:sp>
      </p:grp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584EE722-EA71-2C6A-610B-AB710C3620A3}"/>
              </a:ext>
            </a:extLst>
          </p:cNvPr>
          <p:cNvSpPr/>
          <p:nvPr/>
        </p:nvSpPr>
        <p:spPr>
          <a:xfrm>
            <a:off x="-3962401" y="-4443089"/>
            <a:ext cx="26212800" cy="24124032"/>
          </a:xfrm>
          <a:prstGeom prst="roundRect">
            <a:avLst/>
          </a:prstGeom>
          <a:solidFill>
            <a:srgbClr val="1C3F60"/>
          </a:solidFill>
          <a:ln>
            <a:noFill/>
          </a:ln>
          <a:effectLst>
            <a:outerShdw blurRad="398620" dist="128409" dir="1620000" sx="100904" sy="100904" algn="l" rotWithShape="0">
              <a:prstClr val="black">
                <a:alpha val="7485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D12B9EF-13CF-0F1A-7E20-3EA3292F8E48}"/>
              </a:ext>
            </a:extLst>
          </p:cNvPr>
          <p:cNvSpPr txBox="1"/>
          <p:nvPr/>
        </p:nvSpPr>
        <p:spPr>
          <a:xfrm>
            <a:off x="1371600" y="1028700"/>
            <a:ext cx="15544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5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Caratteristiche acustiche </a:t>
            </a:r>
            <a:r>
              <a:rPr lang="it-IT" sz="450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per analizzare il parlato</a:t>
            </a: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150E62E2-265A-DF2E-E61E-D654ABBFC0FF}"/>
              </a:ext>
            </a:extLst>
          </p:cNvPr>
          <p:cNvGrpSpPr/>
          <p:nvPr/>
        </p:nvGrpSpPr>
        <p:grpSpPr>
          <a:xfrm>
            <a:off x="1447800" y="2633212"/>
            <a:ext cx="15392400" cy="5405888"/>
            <a:chOff x="1981200" y="3394193"/>
            <a:chExt cx="15392400" cy="5405888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BDE5482B-3937-77D5-0E38-FD00A95AEBBD}"/>
                </a:ext>
              </a:extLst>
            </p:cNvPr>
            <p:cNvSpPr txBox="1"/>
            <p:nvPr/>
          </p:nvSpPr>
          <p:spPr>
            <a:xfrm>
              <a:off x="8000999" y="3446502"/>
              <a:ext cx="2286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000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OpenSMILE</a:t>
              </a:r>
              <a:endParaRPr lang="it-IT" sz="300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41" name="Rettangolo con angoli arrotondati 40">
              <a:extLst>
                <a:ext uri="{FF2B5EF4-FFF2-40B4-BE49-F238E27FC236}">
                  <a16:creationId xmlns:a16="http://schemas.microsoft.com/office/drawing/2014/main" id="{49554EE2-4000-C7E4-56B2-EBB7773F03D1}"/>
                </a:ext>
              </a:extLst>
            </p:cNvPr>
            <p:cNvSpPr/>
            <p:nvPr/>
          </p:nvSpPr>
          <p:spPr>
            <a:xfrm>
              <a:off x="12761472" y="6819900"/>
              <a:ext cx="4154928" cy="1980181"/>
            </a:xfrm>
            <a:prstGeom prst="roundRect">
              <a:avLst/>
            </a:prstGeom>
            <a:solidFill>
              <a:srgbClr val="EDE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Rettangolo con angoli arrotondati 43">
              <a:extLst>
                <a:ext uri="{FF2B5EF4-FFF2-40B4-BE49-F238E27FC236}">
                  <a16:creationId xmlns:a16="http://schemas.microsoft.com/office/drawing/2014/main" id="{C9BABFC5-9B54-F0F1-DEC0-0014ACEC3106}"/>
                </a:ext>
              </a:extLst>
            </p:cNvPr>
            <p:cNvSpPr/>
            <p:nvPr/>
          </p:nvSpPr>
          <p:spPr>
            <a:xfrm>
              <a:off x="1991612" y="7048628"/>
              <a:ext cx="3037588" cy="1447672"/>
            </a:xfrm>
            <a:prstGeom prst="roundRect">
              <a:avLst/>
            </a:prstGeom>
            <a:solidFill>
              <a:srgbClr val="EDE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9F4861C4-E4D4-2965-1363-595BE311D245}"/>
                </a:ext>
              </a:extLst>
            </p:cNvPr>
            <p:cNvSpPr txBox="1"/>
            <p:nvPr/>
          </p:nvSpPr>
          <p:spPr>
            <a:xfrm>
              <a:off x="12906150" y="7300560"/>
              <a:ext cx="39340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000" b="1">
                  <a:solidFill>
                    <a:srgbClr val="1C3F60"/>
                  </a:solidFill>
                  <a:latin typeface="Poppins" pitchFamily="2" charset="77"/>
                  <a:cs typeface="Poppins" pitchFamily="2" charset="77"/>
                </a:rPr>
                <a:t>Addestramento di modelli di ML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0AA61EDF-4B58-EC7B-8AB6-6AAD2B3B75BD}"/>
                </a:ext>
              </a:extLst>
            </p:cNvPr>
            <p:cNvSpPr txBox="1"/>
            <p:nvPr/>
          </p:nvSpPr>
          <p:spPr>
            <a:xfrm>
              <a:off x="1981200" y="7300560"/>
              <a:ext cx="300932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000" b="1">
                  <a:solidFill>
                    <a:srgbClr val="1C3F60"/>
                  </a:solidFill>
                  <a:latin typeface="Poppins" pitchFamily="2" charset="77"/>
                  <a:cs typeface="Poppins" pitchFamily="2" charset="77"/>
                </a:rPr>
                <a:t>Valutazione dei risultati</a:t>
              </a:r>
            </a:p>
          </p:txBody>
        </p:sp>
        <p:sp>
          <p:nvSpPr>
            <p:cNvPr id="37" name="Rettangolo con angoli arrotondati 36">
              <a:extLst>
                <a:ext uri="{FF2B5EF4-FFF2-40B4-BE49-F238E27FC236}">
                  <a16:creationId xmlns:a16="http://schemas.microsoft.com/office/drawing/2014/main" id="{3C4F4261-80A3-B3E2-EB12-BD7C1A7BC6E1}"/>
                </a:ext>
              </a:extLst>
            </p:cNvPr>
            <p:cNvSpPr/>
            <p:nvPr/>
          </p:nvSpPr>
          <p:spPr>
            <a:xfrm>
              <a:off x="2099928" y="3581416"/>
              <a:ext cx="2776872" cy="1409684"/>
            </a:xfrm>
            <a:prstGeom prst="roundRect">
              <a:avLst/>
            </a:prstGeom>
            <a:solidFill>
              <a:srgbClr val="EDE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8" name="Rettangolo con angoli arrotondati 37">
              <a:extLst>
                <a:ext uri="{FF2B5EF4-FFF2-40B4-BE49-F238E27FC236}">
                  <a16:creationId xmlns:a16="http://schemas.microsoft.com/office/drawing/2014/main" id="{4308D064-18DA-832F-B8D9-2995125D2A13}"/>
                </a:ext>
              </a:extLst>
            </p:cNvPr>
            <p:cNvSpPr/>
            <p:nvPr/>
          </p:nvSpPr>
          <p:spPr>
            <a:xfrm>
              <a:off x="13093505" y="3394193"/>
              <a:ext cx="3670495" cy="1749307"/>
            </a:xfrm>
            <a:prstGeom prst="roundRect">
              <a:avLst/>
            </a:prstGeom>
            <a:solidFill>
              <a:srgbClr val="EDE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3F159B4E-E56F-95DF-8EC1-BA10752C2C7E}"/>
                </a:ext>
              </a:extLst>
            </p:cNvPr>
            <p:cNvSpPr txBox="1"/>
            <p:nvPr/>
          </p:nvSpPr>
          <p:spPr>
            <a:xfrm>
              <a:off x="2213655" y="3777735"/>
              <a:ext cx="24975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000" b="1">
                  <a:solidFill>
                    <a:srgbClr val="1C3F60"/>
                  </a:solidFill>
                  <a:latin typeface="Poppins" pitchFamily="2" charset="77"/>
                  <a:cs typeface="Poppins" pitchFamily="2" charset="77"/>
                </a:rPr>
                <a:t>Raccolta del parlato</a:t>
              </a:r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0CD1CAF4-C25B-5DDD-C9D8-4F86E93B7F09}"/>
                </a:ext>
              </a:extLst>
            </p:cNvPr>
            <p:cNvSpPr txBox="1"/>
            <p:nvPr/>
          </p:nvSpPr>
          <p:spPr>
            <a:xfrm>
              <a:off x="12522001" y="3546902"/>
              <a:ext cx="485159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000" b="1">
                  <a:solidFill>
                    <a:srgbClr val="1C3F60"/>
                  </a:solidFill>
                  <a:latin typeface="Poppins" pitchFamily="2" charset="77"/>
                  <a:cs typeface="Poppins" pitchFamily="2" charset="77"/>
                </a:rPr>
                <a:t>Estrazione delle caratteristiche acustiche </a:t>
              </a:r>
            </a:p>
          </p:txBody>
        </p:sp>
        <p:cxnSp>
          <p:nvCxnSpPr>
            <p:cNvPr id="24" name="Connettore 2 23">
              <a:extLst>
                <a:ext uri="{FF2B5EF4-FFF2-40B4-BE49-F238E27FC236}">
                  <a16:creationId xmlns:a16="http://schemas.microsoft.com/office/drawing/2014/main" id="{B5E02611-E112-7EBE-5365-7249F487D523}"/>
                </a:ext>
              </a:extLst>
            </p:cNvPr>
            <p:cNvCxnSpPr>
              <a:cxnSpLocks/>
            </p:cNvCxnSpPr>
            <p:nvPr/>
          </p:nvCxnSpPr>
          <p:spPr>
            <a:xfrm>
              <a:off x="5103242" y="4285566"/>
              <a:ext cx="7802908" cy="0"/>
            </a:xfrm>
            <a:prstGeom prst="straightConnector1">
              <a:avLst/>
            </a:prstGeom>
            <a:ln w="76200">
              <a:solidFill>
                <a:srgbClr val="EDEEE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C5F2CDCA-27CD-8605-305F-7AF3C3C92E80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0" y="5294641"/>
              <a:ext cx="0" cy="1296659"/>
            </a:xfrm>
            <a:prstGeom prst="straightConnector1">
              <a:avLst/>
            </a:prstGeom>
            <a:ln w="76200">
              <a:solidFill>
                <a:srgbClr val="EDEEE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2 31">
              <a:extLst>
                <a:ext uri="{FF2B5EF4-FFF2-40B4-BE49-F238E27FC236}">
                  <a16:creationId xmlns:a16="http://schemas.microsoft.com/office/drawing/2014/main" id="{75E957C5-68FB-F976-104B-FEC01F2C62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00" y="7788688"/>
              <a:ext cx="7321924" cy="0"/>
            </a:xfrm>
            <a:prstGeom prst="straightConnector1">
              <a:avLst/>
            </a:prstGeom>
            <a:ln w="76200">
              <a:solidFill>
                <a:srgbClr val="EDEEE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60E18490-F788-C861-0DDF-0EFA26681D8B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EDEEEF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9932D5B-6050-1C7B-623B-1B94EA7CF008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EDEEEF"/>
                </a:solidFill>
                <a:latin typeface="Poppins"/>
                <a:ea typeface="Poppins"/>
                <a:cs typeface="Poppins"/>
                <a:sym typeface="Poppins"/>
              </a:rPr>
              <a:t>04/19</a:t>
            </a:r>
          </a:p>
        </p:txBody>
      </p:sp>
    </p:spTree>
    <p:extLst>
      <p:ext uri="{BB962C8B-B14F-4D97-AF65-F5344CB8AC3E}">
        <p14:creationId xmlns:p14="http://schemas.microsoft.com/office/powerpoint/2010/main" val="652043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ECBA1-9984-A2A8-DB21-7ECFE20F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F49F108-CFB0-AE7A-4478-6B0525629F42}"/>
              </a:ext>
            </a:extLst>
          </p:cNvPr>
          <p:cNvSpPr txBox="1"/>
          <p:nvPr/>
        </p:nvSpPr>
        <p:spPr>
          <a:xfrm>
            <a:off x="2396307" y="20193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Approccio con </a:t>
            </a:r>
            <a:r>
              <a:rPr lang="it-IT" sz="6000" b="1" noProof="0" err="1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embedding</a:t>
            </a: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 GPT-3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9DE727DF-73B7-0119-B694-53A1E47EE195}"/>
              </a:ext>
            </a:extLst>
          </p:cNvPr>
          <p:cNvSpPr/>
          <p:nvPr/>
        </p:nvSpPr>
        <p:spPr>
          <a:xfrm>
            <a:off x="1113308" y="3541824"/>
            <a:ext cx="2723862" cy="1957776"/>
          </a:xfrm>
          <a:prstGeom prst="roundRect">
            <a:avLst/>
          </a:prstGeom>
          <a:solidFill>
            <a:srgbClr val="1C3F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>
                <a:latin typeface="Poppins" pitchFamily="2" charset="77"/>
                <a:cs typeface="Poppins" pitchFamily="2" charset="77"/>
              </a:rPr>
              <a:t>Raccolta del parlato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58F6451-A8E7-6479-B51F-64196E95050E}"/>
              </a:ext>
            </a:extLst>
          </p:cNvPr>
          <p:cNvSpPr/>
          <p:nvPr/>
        </p:nvSpPr>
        <p:spPr>
          <a:xfrm>
            <a:off x="3837170" y="6567527"/>
            <a:ext cx="3200400" cy="1647745"/>
          </a:xfrm>
          <a:prstGeom prst="roundRect">
            <a:avLst/>
          </a:prstGeom>
          <a:solidFill>
            <a:srgbClr val="1C3F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Valutazione dei risultati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7310152A-FC32-DA13-4703-948EA49F2F11}"/>
              </a:ext>
            </a:extLst>
          </p:cNvPr>
          <p:cNvSpPr/>
          <p:nvPr/>
        </p:nvSpPr>
        <p:spPr>
          <a:xfrm>
            <a:off x="7391398" y="3644412"/>
            <a:ext cx="3505201" cy="1752600"/>
          </a:xfrm>
          <a:prstGeom prst="roundRect">
            <a:avLst/>
          </a:prstGeom>
          <a:solidFill>
            <a:srgbClr val="1C3F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Trasformazione in testo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2F0ED73-42C4-B904-D1FB-640FF2DD586D}"/>
              </a:ext>
            </a:extLst>
          </p:cNvPr>
          <p:cNvSpPr/>
          <p:nvPr/>
        </p:nvSpPr>
        <p:spPr>
          <a:xfrm>
            <a:off x="10793226" y="6515100"/>
            <a:ext cx="3657600" cy="1752600"/>
          </a:xfrm>
          <a:prstGeom prst="roundRect">
            <a:avLst/>
          </a:prstGeom>
          <a:solidFill>
            <a:srgbClr val="1C3F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Addestramento di modelli di ML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CF21672-AE33-7ED8-900D-055922B220B2}"/>
              </a:ext>
            </a:extLst>
          </p:cNvPr>
          <p:cNvSpPr/>
          <p:nvPr/>
        </p:nvSpPr>
        <p:spPr>
          <a:xfrm>
            <a:off x="14450826" y="3592624"/>
            <a:ext cx="2723861" cy="1752600"/>
          </a:xfrm>
          <a:prstGeom prst="roundRect">
            <a:avLst/>
          </a:prstGeom>
          <a:solidFill>
            <a:srgbClr val="1C3F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 err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30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 testuali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375BF9D9-7339-E40A-2A9E-66776504CA82}"/>
              </a:ext>
            </a:extLst>
          </p:cNvPr>
          <p:cNvCxnSpPr>
            <a:cxnSpLocks/>
          </p:cNvCxnSpPr>
          <p:nvPr/>
        </p:nvCxnSpPr>
        <p:spPr>
          <a:xfrm>
            <a:off x="4136268" y="4533900"/>
            <a:ext cx="2901302" cy="0"/>
          </a:xfrm>
          <a:prstGeom prst="straightConnector1">
            <a:avLst/>
          </a:prstGeom>
          <a:ln w="76200">
            <a:solidFill>
              <a:srgbClr val="1C3F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E669F21E-811F-DD08-3577-D8AE589FE15D}"/>
              </a:ext>
            </a:extLst>
          </p:cNvPr>
          <p:cNvCxnSpPr>
            <a:cxnSpLocks/>
          </p:cNvCxnSpPr>
          <p:nvPr/>
        </p:nvCxnSpPr>
        <p:spPr>
          <a:xfrm>
            <a:off x="11201400" y="4533900"/>
            <a:ext cx="2901302" cy="0"/>
          </a:xfrm>
          <a:prstGeom prst="straightConnector1">
            <a:avLst/>
          </a:prstGeom>
          <a:ln w="76200">
            <a:solidFill>
              <a:srgbClr val="1C3F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9317872-7481-22D7-E2A5-8693F7119987}"/>
              </a:ext>
            </a:extLst>
          </p:cNvPr>
          <p:cNvCxnSpPr>
            <a:cxnSpLocks/>
          </p:cNvCxnSpPr>
          <p:nvPr/>
        </p:nvCxnSpPr>
        <p:spPr>
          <a:xfrm>
            <a:off x="7391398" y="7505700"/>
            <a:ext cx="2901302" cy="0"/>
          </a:xfrm>
          <a:prstGeom prst="straightConnector1">
            <a:avLst/>
          </a:prstGeom>
          <a:ln w="76200">
            <a:solidFill>
              <a:srgbClr val="1C3F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igura a mano libera 31">
            <a:extLst>
              <a:ext uri="{FF2B5EF4-FFF2-40B4-BE49-F238E27FC236}">
                <a16:creationId xmlns:a16="http://schemas.microsoft.com/office/drawing/2014/main" id="{C315AD44-7389-307C-D776-7B78FDE21980}"/>
              </a:ext>
            </a:extLst>
          </p:cNvPr>
          <p:cNvSpPr/>
          <p:nvPr/>
        </p:nvSpPr>
        <p:spPr>
          <a:xfrm>
            <a:off x="14791509" y="5524500"/>
            <a:ext cx="1210491" cy="2032584"/>
          </a:xfrm>
          <a:custGeom>
            <a:avLst/>
            <a:gdLst>
              <a:gd name="connsiteX0" fmla="*/ 1193800 w 1369735"/>
              <a:gd name="connsiteY0" fmla="*/ 0 h 2248484"/>
              <a:gd name="connsiteX1" fmla="*/ 1270000 w 1369735"/>
              <a:gd name="connsiteY1" fmla="*/ 2057400 h 2248484"/>
              <a:gd name="connsiteX2" fmla="*/ 0 w 1369735"/>
              <a:gd name="connsiteY2" fmla="*/ 2184400 h 224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9735" h="2248484">
                <a:moveTo>
                  <a:pt x="1193800" y="0"/>
                </a:moveTo>
                <a:cubicBezTo>
                  <a:pt x="1331383" y="846666"/>
                  <a:pt x="1468967" y="1693333"/>
                  <a:pt x="1270000" y="2057400"/>
                </a:cubicBezTo>
                <a:cubicBezTo>
                  <a:pt x="1071033" y="2421467"/>
                  <a:pt x="50800" y="2146300"/>
                  <a:pt x="0" y="2184400"/>
                </a:cubicBezTo>
              </a:path>
            </a:pathLst>
          </a:custGeom>
          <a:noFill/>
          <a:ln w="76200">
            <a:solidFill>
              <a:srgbClr val="1C3F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E85053B-6EEF-42E3-87D5-A7E0B64CBF92}"/>
              </a:ext>
            </a:extLst>
          </p:cNvPr>
          <p:cNvSpPr txBox="1"/>
          <p:nvPr/>
        </p:nvSpPr>
        <p:spPr>
          <a:xfrm>
            <a:off x="4267200" y="3981703"/>
            <a:ext cx="2554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>
                <a:solidFill>
                  <a:srgbClr val="1C3F60"/>
                </a:solidFill>
                <a:latin typeface="Poppins" pitchFamily="2" charset="77"/>
                <a:cs typeface="Poppins" pitchFamily="2" charset="77"/>
              </a:rPr>
              <a:t>Wav2Vec 2.0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CDFBFC3-70AE-CD5C-0C34-D7117B717D46}"/>
              </a:ext>
            </a:extLst>
          </p:cNvPr>
          <p:cNvSpPr txBox="1"/>
          <p:nvPr/>
        </p:nvSpPr>
        <p:spPr>
          <a:xfrm>
            <a:off x="11396476" y="3981703"/>
            <a:ext cx="2554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>
                <a:solidFill>
                  <a:srgbClr val="1C3F60"/>
                </a:solidFill>
                <a:latin typeface="Poppins" pitchFamily="2" charset="77"/>
                <a:cs typeface="Poppins" pitchFamily="2" charset="77"/>
              </a:rPr>
              <a:t>GPT-3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0813DBD6-D8F0-EACD-62CB-B2B2DC1AF605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1C3F6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2EEF4B4A-E093-C49D-036F-E96D5A90763B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1C3F60"/>
                </a:solidFill>
                <a:latin typeface="Poppins"/>
                <a:ea typeface="Poppins"/>
                <a:cs typeface="Poppins"/>
                <a:sym typeface="Poppins"/>
              </a:rPr>
              <a:t>05/19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3D21EDD7-EF13-8F15-A5F3-20A5F8C49996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B561EE43-DB7A-0F5C-8C43-CD9889810334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D4F076A8-C67D-B14A-4DBB-45CBC903B00B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5021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94996-65C5-4410-63DA-EAD4B5B8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0A7F7E9-FFC3-162F-C4B6-8D9803D230D5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BBA86A0-B5D2-9D66-DC78-16125AED9104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AF5C8C1-5902-1512-2126-41331E5F8C2A}"/>
              </a:ext>
            </a:extLst>
          </p:cNvPr>
          <p:cNvSpPr txBox="1"/>
          <p:nvPr/>
        </p:nvSpPr>
        <p:spPr>
          <a:xfrm>
            <a:off x="2396308" y="4699183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Strutturazione della ricerca…</a:t>
            </a:r>
            <a:endParaRPr lang="it-IT" sz="6000" b="1" noProof="0" dirty="0">
              <a:solidFill>
                <a:srgbClr val="0B13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C644DEF2-22A6-282F-C140-56A8060DDEBA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1C3F6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2222EDF6-98D3-28A2-23E9-C6F51035EC5E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1C3F60"/>
                </a:solidFill>
                <a:latin typeface="Poppins"/>
                <a:ea typeface="Poppins"/>
                <a:cs typeface="Poppins"/>
                <a:sym typeface="Poppins"/>
              </a:rPr>
              <a:t>06/19</a:t>
            </a:r>
          </a:p>
        </p:txBody>
      </p:sp>
    </p:spTree>
    <p:extLst>
      <p:ext uri="{BB962C8B-B14F-4D97-AF65-F5344CB8AC3E}">
        <p14:creationId xmlns:p14="http://schemas.microsoft.com/office/powerpoint/2010/main" val="97950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DECB8-D35A-65B4-5A4E-A68DA297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82BD50D-B716-6F73-A2B5-341A1BDEA863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25436D4-4E12-9C54-1796-49CBFE3F4A03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26BE9BB-77EA-C03E-228C-320441A63648}"/>
              </a:ext>
            </a:extLst>
          </p:cNvPr>
          <p:cNvSpPr txBox="1"/>
          <p:nvPr/>
        </p:nvSpPr>
        <p:spPr>
          <a:xfrm>
            <a:off x="2396308" y="15621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Raccolta del </a:t>
            </a:r>
            <a:r>
              <a:rPr lang="it-IT" sz="6000" b="1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parlato</a:t>
            </a:r>
            <a:endParaRPr lang="it-IT" sz="6000" b="1" noProof="0">
              <a:solidFill>
                <a:srgbClr val="0B13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38E3D02-6450-0347-C93F-25916252ED2C}"/>
              </a:ext>
            </a:extLst>
          </p:cNvPr>
          <p:cNvSpPr txBox="1"/>
          <p:nvPr/>
        </p:nvSpPr>
        <p:spPr>
          <a:xfrm>
            <a:off x="762000" y="2630066"/>
            <a:ext cx="16764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dirty="0">
                <a:latin typeface="Poppins" pitchFamily="2" charset="77"/>
                <a:cs typeface="Poppins" pitchFamily="2" charset="77"/>
              </a:rPr>
              <a:t>Il dataset utilizzato proviene dalla sfida:</a:t>
            </a:r>
          </a:p>
          <a:p>
            <a:pPr algn="ctr"/>
            <a:r>
              <a:rPr lang="it-IT" sz="3500" dirty="0">
                <a:latin typeface="Poppins" pitchFamily="2" charset="77"/>
                <a:cs typeface="Poppins" pitchFamily="2" charset="77"/>
              </a:rPr>
              <a:t>"</a:t>
            </a:r>
            <a:r>
              <a:rPr lang="it-IT" sz="3500" i="1" dirty="0" err="1">
                <a:latin typeface="Poppins" pitchFamily="2" charset="77"/>
                <a:cs typeface="Poppins" pitchFamily="2" charset="77"/>
              </a:rPr>
              <a:t>Alzheimer’s</a:t>
            </a:r>
            <a:r>
              <a:rPr lang="it-IT" sz="3500" i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3500" i="1" dirty="0" err="1">
                <a:latin typeface="Poppins" pitchFamily="2" charset="77"/>
                <a:cs typeface="Poppins" pitchFamily="2" charset="77"/>
              </a:rPr>
              <a:t>Dementia</a:t>
            </a:r>
            <a:r>
              <a:rPr lang="it-IT" sz="3500" i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3500" i="1" dirty="0" err="1">
                <a:latin typeface="Poppins" pitchFamily="2" charset="77"/>
                <a:cs typeface="Poppins" pitchFamily="2" charset="77"/>
              </a:rPr>
              <a:t>Recognition</a:t>
            </a:r>
            <a:r>
              <a:rPr lang="it-IT" sz="3500" i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3500" i="1" dirty="0" err="1">
                <a:latin typeface="Poppins" pitchFamily="2" charset="77"/>
                <a:cs typeface="Poppins" pitchFamily="2" charset="77"/>
              </a:rPr>
              <a:t>through</a:t>
            </a:r>
            <a:r>
              <a:rPr lang="it-IT" sz="3500" i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3500" i="1" dirty="0" err="1">
                <a:latin typeface="Poppins" pitchFamily="2" charset="77"/>
                <a:cs typeface="Poppins" pitchFamily="2" charset="77"/>
              </a:rPr>
              <a:t>Spontaneous</a:t>
            </a:r>
            <a:r>
              <a:rPr lang="it-IT" sz="3500" i="1" dirty="0">
                <a:latin typeface="Poppins" pitchFamily="2" charset="77"/>
                <a:cs typeface="Poppins" pitchFamily="2" charset="77"/>
              </a:rPr>
              <a:t> Speech </a:t>
            </a:r>
            <a:r>
              <a:rPr lang="it-IT" sz="3500" i="1" dirty="0" err="1">
                <a:latin typeface="Poppins" pitchFamily="2" charset="77"/>
                <a:cs typeface="Poppins" pitchFamily="2" charset="77"/>
              </a:rPr>
              <a:t>only</a:t>
            </a:r>
            <a:r>
              <a:rPr lang="it-IT" sz="3500" dirty="0">
                <a:latin typeface="Poppins" pitchFamily="2" charset="77"/>
                <a:cs typeface="Poppins" pitchFamily="2" charset="77"/>
              </a:rPr>
              <a:t>"</a:t>
            </a:r>
          </a:p>
        </p:txBody>
      </p:sp>
      <p:pic>
        <p:nvPicPr>
          <p:cNvPr id="7" name="Immagine 6" descr="Immagine che contiene schizzo, disegno, Line 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C9772DE2-DC21-54F1-9158-A25E45F1A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606" y="4152401"/>
            <a:ext cx="4897564" cy="3617237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DEF0A66D-073B-E68C-10A0-A5ABF314B968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19E01101-0D6C-787F-4D43-5BED83D78A5A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07/19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50FD3EA-4849-D205-FDD7-6B2465AD4BAD}"/>
              </a:ext>
            </a:extLst>
          </p:cNvPr>
          <p:cNvSpPr txBox="1"/>
          <p:nvPr/>
        </p:nvSpPr>
        <p:spPr>
          <a:xfrm>
            <a:off x="7514008" y="4837559"/>
            <a:ext cx="940455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500" dirty="0">
                <a:latin typeface="Poppins" pitchFamily="2" charset="77"/>
                <a:cs typeface="Poppins" pitchFamily="2" charset="77"/>
              </a:rPr>
              <a:t>Da cui otteniamo </a:t>
            </a:r>
            <a:r>
              <a:rPr lang="it-IT" sz="3500" b="1" dirty="0">
                <a:latin typeface="Poppins" pitchFamily="2" charset="77"/>
                <a:cs typeface="Poppins" pitchFamily="2" charset="77"/>
              </a:rPr>
              <a:t>237 registrazioni vocali </a:t>
            </a:r>
            <a:r>
              <a:rPr lang="it-IT" sz="3500" dirty="0">
                <a:latin typeface="Poppins" pitchFamily="2" charset="77"/>
                <a:cs typeface="Poppins" pitchFamily="2" charset="77"/>
              </a:rPr>
              <a:t>che sono bilanciate secondo i dati demografici</a:t>
            </a:r>
          </a:p>
        </p:txBody>
      </p:sp>
    </p:spTree>
    <p:extLst>
      <p:ext uri="{BB962C8B-B14F-4D97-AF65-F5344CB8AC3E}">
        <p14:creationId xmlns:p14="http://schemas.microsoft.com/office/powerpoint/2010/main" val="253238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BA038-19ED-D7EB-EAAF-B5CA3663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EC488FB-1750-B808-CC75-EBE1D39980FA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79BE25C-B74D-0910-12A5-2FE2A04CB08C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A54AE7C3-3375-5C4F-9421-ACC2683D2774}"/>
              </a:ext>
            </a:extLst>
          </p:cNvPr>
          <p:cNvSpPr txBox="1"/>
          <p:nvPr/>
        </p:nvSpPr>
        <p:spPr>
          <a:xfrm>
            <a:off x="2396307" y="18669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Estrazioni delle caratteristiche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5214CBBA-99B7-290D-8A02-468BD2638B90}"/>
              </a:ext>
            </a:extLst>
          </p:cNvPr>
          <p:cNvCxnSpPr>
            <a:cxnSpLocks/>
          </p:cNvCxnSpPr>
          <p:nvPr/>
        </p:nvCxnSpPr>
        <p:spPr>
          <a:xfrm>
            <a:off x="9144000" y="3269903"/>
            <a:ext cx="0" cy="6459158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56FB0888-74B2-167D-BA2E-9375CD706351}"/>
              </a:ext>
            </a:extLst>
          </p:cNvPr>
          <p:cNvGrpSpPr/>
          <p:nvPr/>
        </p:nvGrpSpPr>
        <p:grpSpPr>
          <a:xfrm>
            <a:off x="838200" y="3162300"/>
            <a:ext cx="7822309" cy="5258961"/>
            <a:chOff x="838200" y="3162300"/>
            <a:chExt cx="7822309" cy="5258961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9441A1CF-246A-6D07-5D1E-719BC3404C7F}"/>
                </a:ext>
              </a:extLst>
            </p:cNvPr>
            <p:cNvSpPr txBox="1"/>
            <p:nvPr/>
          </p:nvSpPr>
          <p:spPr>
            <a:xfrm>
              <a:off x="838200" y="3162300"/>
              <a:ext cx="533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000" b="1">
                  <a:latin typeface="Poppins" pitchFamily="2" charset="77"/>
                  <a:cs typeface="Poppins" pitchFamily="2" charset="77"/>
                </a:rPr>
                <a:t>Caratteristiche acustiche: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32C66A0B-6384-2D04-356C-964F6FCB18F5}"/>
                </a:ext>
              </a:extLst>
            </p:cNvPr>
            <p:cNvSpPr txBox="1"/>
            <p:nvPr/>
          </p:nvSpPr>
          <p:spPr>
            <a:xfrm>
              <a:off x="838200" y="8021151"/>
              <a:ext cx="7822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>
                  <a:latin typeface="Poppins" pitchFamily="2" charset="77"/>
                  <a:cs typeface="Poppins" pitchFamily="2" charset="77"/>
                </a:rPr>
                <a:t>Queste caratteristiche vengono estratte tramite </a:t>
              </a:r>
              <a:r>
                <a:rPr lang="it-IT" sz="2000" b="1" err="1">
                  <a:latin typeface="Poppins" pitchFamily="2" charset="77"/>
                  <a:cs typeface="Poppins" pitchFamily="2" charset="77"/>
                </a:rPr>
                <a:t>OpenSMILE</a:t>
              </a:r>
              <a:endParaRPr lang="it-IT" sz="2000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9B195505-A5B2-F053-5FCB-ABC357F44D28}"/>
                </a:ext>
              </a:extLst>
            </p:cNvPr>
            <p:cNvSpPr/>
            <p:nvPr/>
          </p:nvSpPr>
          <p:spPr>
            <a:xfrm>
              <a:off x="3592468" y="4078287"/>
              <a:ext cx="1516964" cy="1516964"/>
            </a:xfrm>
            <a:prstGeom prst="ellipse">
              <a:avLst/>
            </a:prstGeom>
            <a:solidFill>
              <a:srgbClr val="EDEEEF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51B0C7E1-6451-2E83-9BCD-DC97A991B7A7}"/>
                </a:ext>
              </a:extLst>
            </p:cNvPr>
            <p:cNvSpPr/>
            <p:nvPr/>
          </p:nvSpPr>
          <p:spPr>
            <a:xfrm>
              <a:off x="1456696" y="5582974"/>
              <a:ext cx="1421063" cy="1421063"/>
            </a:xfrm>
            <a:prstGeom prst="ellipse">
              <a:avLst/>
            </a:prstGeom>
            <a:solidFill>
              <a:srgbClr val="AFC0D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9AD0B76C-1EA8-6D90-A947-C59D8B7E8980}"/>
                </a:ext>
              </a:extLst>
            </p:cNvPr>
            <p:cNvSpPr/>
            <p:nvPr/>
          </p:nvSpPr>
          <p:spPr>
            <a:xfrm>
              <a:off x="4693854" y="5985244"/>
              <a:ext cx="1489361" cy="1489361"/>
            </a:xfrm>
            <a:prstGeom prst="ellipse">
              <a:avLst/>
            </a:prstGeom>
            <a:solidFill>
              <a:srgbClr val="AFC0D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1778B7FC-4712-1415-8C45-FB05AA6AC257}"/>
                </a:ext>
              </a:extLst>
            </p:cNvPr>
            <p:cNvSpPr/>
            <p:nvPr/>
          </p:nvSpPr>
          <p:spPr>
            <a:xfrm>
              <a:off x="6490368" y="4028096"/>
              <a:ext cx="1129632" cy="1129632"/>
            </a:xfrm>
            <a:prstGeom prst="ellipse">
              <a:avLst/>
            </a:prstGeom>
            <a:solidFill>
              <a:srgbClr val="EDEEEF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998D3523-8165-7A2B-425A-DB716F4FCC9C}"/>
                </a:ext>
              </a:extLst>
            </p:cNvPr>
            <p:cNvSpPr/>
            <p:nvPr/>
          </p:nvSpPr>
          <p:spPr>
            <a:xfrm>
              <a:off x="4643520" y="4200011"/>
              <a:ext cx="2411664" cy="2411664"/>
            </a:xfrm>
            <a:prstGeom prst="ellipse">
              <a:avLst/>
            </a:prstGeom>
            <a:solidFill>
              <a:srgbClr val="1C3F6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b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Analisi della frequenza</a:t>
              </a:r>
              <a:endParaRPr lang="it-IT" b="1">
                <a:solidFill>
                  <a:srgbClr val="EDEEEF"/>
                </a:solidFill>
              </a:endParaRP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8B3BE841-E0CF-2D70-B195-AB841A02DD06}"/>
                </a:ext>
              </a:extLst>
            </p:cNvPr>
            <p:cNvSpPr/>
            <p:nvPr/>
          </p:nvSpPr>
          <p:spPr>
            <a:xfrm>
              <a:off x="2277391" y="5094037"/>
              <a:ext cx="2411663" cy="2411663"/>
            </a:xfrm>
            <a:prstGeom prst="ellipse">
              <a:avLst/>
            </a:prstGeom>
            <a:solidFill>
              <a:srgbClr val="1C3F6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b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Analisi temporale</a:t>
              </a:r>
              <a:endParaRPr lang="it-IT" b="1">
                <a:solidFill>
                  <a:srgbClr val="EDEEEF"/>
                </a:solidFill>
              </a:endParaRPr>
            </a:p>
          </p:txBody>
        </p:sp>
      </p:grp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FB367619-AB68-A6DA-27E4-FF9A293EA67B}"/>
              </a:ext>
            </a:extLst>
          </p:cNvPr>
          <p:cNvGrpSpPr/>
          <p:nvPr/>
        </p:nvGrpSpPr>
        <p:grpSpPr>
          <a:xfrm>
            <a:off x="9677400" y="3162300"/>
            <a:ext cx="7694297" cy="5479786"/>
            <a:chOff x="9677400" y="3162300"/>
            <a:chExt cx="7694297" cy="5479786"/>
          </a:xfrm>
        </p:grpSpPr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71AB5489-315A-3C54-9311-EA1D1FE1C981}"/>
                </a:ext>
              </a:extLst>
            </p:cNvPr>
            <p:cNvSpPr/>
            <p:nvPr/>
          </p:nvSpPr>
          <p:spPr>
            <a:xfrm>
              <a:off x="14929861" y="6499482"/>
              <a:ext cx="2109467" cy="2109467"/>
            </a:xfrm>
            <a:prstGeom prst="ellipse">
              <a:avLst/>
            </a:prstGeom>
            <a:solidFill>
              <a:srgbClr val="EDEEEF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2500" b="1" err="1">
                  <a:solidFill>
                    <a:srgbClr val="0B1320"/>
                  </a:solidFill>
                  <a:latin typeface="Poppins" pitchFamily="2" charset="77"/>
                  <a:cs typeface="Poppins" pitchFamily="2" charset="77"/>
                </a:rPr>
                <a:t>Davinci</a:t>
              </a:r>
              <a:endParaRPr lang="it-IT" sz="2500" b="1">
                <a:solidFill>
                  <a:srgbClr val="0B1320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it-IT" sz="2000">
                  <a:solidFill>
                    <a:srgbClr val="0B1320"/>
                  </a:solidFill>
                  <a:latin typeface="Poppins" pitchFamily="2" charset="77"/>
                  <a:cs typeface="Poppins" pitchFamily="2" charset="77"/>
                </a:rPr>
                <a:t>12228</a:t>
              </a:r>
              <a:endParaRPr lang="it-IT" sz="2000">
                <a:solidFill>
                  <a:srgbClr val="0B1320"/>
                </a:solidFill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C67D14E8-7333-77DE-E087-5BE485B697F4}"/>
                </a:ext>
              </a:extLst>
            </p:cNvPr>
            <p:cNvSpPr txBox="1"/>
            <p:nvPr/>
          </p:nvSpPr>
          <p:spPr>
            <a:xfrm>
              <a:off x="9677400" y="3162300"/>
              <a:ext cx="533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000" b="1" err="1">
                  <a:latin typeface="Poppins" pitchFamily="2" charset="77"/>
                  <a:cs typeface="Poppins" pitchFamily="2" charset="77"/>
                </a:rPr>
                <a:t>Embedding</a:t>
              </a:r>
              <a:r>
                <a:rPr lang="it-IT" sz="3000" b="1">
                  <a:latin typeface="Poppins" pitchFamily="2" charset="77"/>
                  <a:cs typeface="Poppins" pitchFamily="2" charset="77"/>
                </a:rPr>
                <a:t> con GPT-3:</a:t>
              </a:r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63B5492D-C8A6-4BBC-C2B4-F38ABD88FA40}"/>
                </a:ext>
              </a:extLst>
            </p:cNvPr>
            <p:cNvSpPr txBox="1"/>
            <p:nvPr/>
          </p:nvSpPr>
          <p:spPr>
            <a:xfrm>
              <a:off x="9978325" y="3878232"/>
              <a:ext cx="73933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>
                  <a:latin typeface="Poppins" pitchFamily="2" charset="77"/>
                  <a:cs typeface="Poppins" pitchFamily="2" charset="77"/>
                </a:rPr>
                <a:t>Il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parlato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viene trasformato in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testo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tramite Wav2Vec 2.0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C3C8DF71-1527-3F2D-04A6-AB439007C0AC}"/>
                </a:ext>
              </a:extLst>
            </p:cNvPr>
            <p:cNvSpPr txBox="1"/>
            <p:nvPr/>
          </p:nvSpPr>
          <p:spPr>
            <a:xfrm>
              <a:off x="9978325" y="4305300"/>
              <a:ext cx="73933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Poppins" pitchFamily="2" charset="77"/>
                  <a:cs typeface="Poppins" pitchFamily="2" charset="77"/>
                </a:rPr>
                <a:t>Dal testo</a:t>
              </a:r>
              <a:r>
                <a:rPr lang="it-IT" sz="2000" b="1" dirty="0">
                  <a:latin typeface="Poppins" pitchFamily="2" charset="77"/>
                  <a:cs typeface="Poppins" pitchFamily="2" charset="77"/>
                </a:rPr>
                <a:t> </a:t>
              </a:r>
              <a:r>
                <a:rPr lang="it-IT" sz="2000" dirty="0">
                  <a:latin typeface="Poppins" pitchFamily="2" charset="77"/>
                  <a:cs typeface="Poppins" pitchFamily="2" charset="77"/>
                </a:rPr>
                <a:t>ricaviamo gli </a:t>
              </a:r>
              <a:r>
                <a:rPr lang="it-IT" sz="2000" b="1" dirty="0" err="1">
                  <a:latin typeface="Poppins" pitchFamily="2" charset="77"/>
                  <a:cs typeface="Poppins" pitchFamily="2" charset="77"/>
                </a:rPr>
                <a:t>embedding</a:t>
              </a:r>
              <a:r>
                <a:rPr lang="it-IT" sz="2000" dirty="0">
                  <a:latin typeface="Poppins" pitchFamily="2" charset="77"/>
                  <a:cs typeface="Poppins" pitchFamily="2" charset="77"/>
                </a:rPr>
                <a:t> testuali utilizzando </a:t>
              </a:r>
              <a:r>
                <a:rPr lang="it-IT" sz="2000" b="1" dirty="0">
                  <a:latin typeface="Poppins" pitchFamily="2" charset="77"/>
                  <a:cs typeface="Poppins" pitchFamily="2" charset="77"/>
                </a:rPr>
                <a:t>GPT-3</a:t>
              </a:r>
              <a:r>
                <a:rPr lang="it-IT" sz="2000" dirty="0">
                  <a:latin typeface="Poppins" pitchFamily="2" charset="77"/>
                  <a:cs typeface="Poppins" pitchFamily="2" charset="77"/>
                </a:rPr>
                <a:t>, questi forniscono rappresentazioni vettoriali che catturano proprietà lessicali, sintattiche e semantiche</a:t>
              </a:r>
            </a:p>
          </p:txBody>
        </p:sp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A320B930-4A3B-F895-853D-A4305AD72F7F}"/>
                </a:ext>
              </a:extLst>
            </p:cNvPr>
            <p:cNvSpPr/>
            <p:nvPr/>
          </p:nvSpPr>
          <p:spPr>
            <a:xfrm>
              <a:off x="13403354" y="5578396"/>
              <a:ext cx="2109467" cy="2109467"/>
            </a:xfrm>
            <a:prstGeom prst="ellipse">
              <a:avLst/>
            </a:prstGeom>
            <a:solidFill>
              <a:srgbClr val="AFC0D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2500" b="1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Cuire</a:t>
              </a:r>
              <a:endParaRPr lang="it-IT" sz="25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it-IT" sz="200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4096</a:t>
              </a:r>
              <a:endParaRPr lang="it-IT" sz="2000">
                <a:solidFill>
                  <a:srgbClr val="EDEEEF"/>
                </a:solidFill>
              </a:endParaRPr>
            </a:p>
          </p:txBody>
        </p:sp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A4A0705B-0B76-4C35-CE20-00D80FD4CB62}"/>
                </a:ext>
              </a:extLst>
            </p:cNvPr>
            <p:cNvSpPr/>
            <p:nvPr/>
          </p:nvSpPr>
          <p:spPr>
            <a:xfrm>
              <a:off x="11851447" y="6532620"/>
              <a:ext cx="2109466" cy="2109466"/>
            </a:xfrm>
            <a:prstGeom prst="ellipse">
              <a:avLst/>
            </a:prstGeom>
            <a:solidFill>
              <a:srgbClr val="1C3F6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2200" b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Babbage</a:t>
              </a:r>
            </a:p>
            <a:p>
              <a:pPr algn="ctr"/>
              <a:r>
                <a:rPr lang="it-IT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2048</a:t>
              </a:r>
              <a:endParaRPr lang="it-IT">
                <a:solidFill>
                  <a:srgbClr val="EDEEEF"/>
                </a:solidFill>
              </a:endParaRPr>
            </a:p>
          </p:txBody>
        </p: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94B0F0BE-4230-FCA1-83F1-42D8AB2646BA}"/>
                </a:ext>
              </a:extLst>
            </p:cNvPr>
            <p:cNvSpPr/>
            <p:nvPr/>
          </p:nvSpPr>
          <p:spPr>
            <a:xfrm>
              <a:off x="10324939" y="5578396"/>
              <a:ext cx="2109467" cy="2109467"/>
            </a:xfrm>
            <a:prstGeom prst="ellipse">
              <a:avLst/>
            </a:prstGeom>
            <a:solidFill>
              <a:srgbClr val="0B1320"/>
            </a:solidFill>
            <a:ln>
              <a:noFill/>
            </a:ln>
            <a:effectLst>
              <a:outerShdw blurRad="174722" dist="33645" dir="8100000" sx="102000" sy="102000" algn="tr" rotWithShape="0">
                <a:prstClr val="black">
                  <a:alpha val="5581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2500" b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Ada</a:t>
              </a:r>
            </a:p>
            <a:p>
              <a:pPr algn="ctr"/>
              <a:r>
                <a:rPr lang="it-IT" sz="200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1024</a:t>
              </a:r>
              <a:endParaRPr lang="it-IT" sz="2000">
                <a:solidFill>
                  <a:srgbClr val="EDEEEF"/>
                </a:solidFill>
              </a:endParaRPr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A0F753A6-2ABF-97D7-4686-B0C7349C24A0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5C8DF88F-4B0F-2731-3DA1-0F9B3B3C219E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08/19</a:t>
            </a:r>
          </a:p>
        </p:txBody>
      </p:sp>
    </p:spTree>
    <p:extLst>
      <p:ext uri="{BB962C8B-B14F-4D97-AF65-F5344CB8AC3E}">
        <p14:creationId xmlns:p14="http://schemas.microsoft.com/office/powerpoint/2010/main" val="303445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8FEBA-2313-E847-F104-2DD7F423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B5C047F-4150-C82F-39E1-4C6426A48E59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8BA5B5D-0035-ABE6-B384-97F1A7F62471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4DBE8B2-ECAC-9909-28DC-BF480B25B6FA}"/>
              </a:ext>
            </a:extLst>
          </p:cNvPr>
          <p:cNvSpPr/>
          <p:nvPr/>
        </p:nvSpPr>
        <p:spPr>
          <a:xfrm>
            <a:off x="1714500" y="3465900"/>
            <a:ext cx="3810000" cy="3506400"/>
          </a:xfrm>
          <a:prstGeom prst="roundRect">
            <a:avLst/>
          </a:prstGeom>
          <a:solidFill>
            <a:srgbClr val="1C3F60"/>
          </a:solidFill>
          <a:ln>
            <a:noFill/>
          </a:ln>
          <a:effectLst>
            <a:outerShdw blurRad="398620" dist="128409" dir="1620000" sx="100904" sy="100904" algn="l" rotWithShape="0">
              <a:prstClr val="black">
                <a:alpha val="7485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SVC</a:t>
            </a:r>
          </a:p>
          <a:p>
            <a:pPr algn="ctr"/>
            <a:endParaRPr lang="it-IT" sz="2000" dirty="0">
              <a:solidFill>
                <a:srgbClr val="EDEEEF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it-IT" sz="2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Support </a:t>
            </a:r>
            <a:r>
              <a:rPr lang="it-IT" sz="2000" b="1" dirty="0" err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Vector</a:t>
            </a:r>
            <a:r>
              <a:rPr lang="it-IT" sz="2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 </a:t>
            </a:r>
          </a:p>
          <a:p>
            <a:pPr algn="ctr"/>
            <a:r>
              <a:rPr lang="it-IT" sz="2000" b="1" dirty="0" err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Classifier</a:t>
            </a:r>
            <a:endParaRPr lang="it-IT" sz="2000" b="1" dirty="0">
              <a:solidFill>
                <a:srgbClr val="EDEEEF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4A81BEF-5A32-09CA-A204-6FA42ACAE8D4}"/>
              </a:ext>
            </a:extLst>
          </p:cNvPr>
          <p:cNvSpPr/>
          <p:nvPr/>
        </p:nvSpPr>
        <p:spPr>
          <a:xfrm>
            <a:off x="7239000" y="3465900"/>
            <a:ext cx="3810000" cy="3506400"/>
          </a:xfrm>
          <a:prstGeom prst="roundRect">
            <a:avLst/>
          </a:prstGeom>
          <a:solidFill>
            <a:srgbClr val="1C3F60"/>
          </a:solidFill>
          <a:ln>
            <a:noFill/>
          </a:ln>
          <a:effectLst>
            <a:outerShdw blurRad="398620" dist="128409" dir="1620000" sx="100904" sy="100904" algn="l" rotWithShape="0">
              <a:prstClr val="black">
                <a:alpha val="7485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LR</a:t>
            </a:r>
          </a:p>
          <a:p>
            <a:pPr algn="ctr"/>
            <a:endParaRPr lang="it-IT" sz="2400" dirty="0">
              <a:solidFill>
                <a:srgbClr val="EDEEEF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it-IT" sz="2000" b="1" dirty="0" err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Logistic</a:t>
            </a:r>
            <a:r>
              <a:rPr lang="it-IT" sz="2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b="1" dirty="0" err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Regression</a:t>
            </a:r>
            <a:endParaRPr lang="it-IT" sz="2000" b="1" dirty="0">
              <a:solidFill>
                <a:srgbClr val="EDEEEF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it-IT" dirty="0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7C94EA41-1898-B844-21F4-137D616A2EF0}"/>
              </a:ext>
            </a:extLst>
          </p:cNvPr>
          <p:cNvSpPr/>
          <p:nvPr/>
        </p:nvSpPr>
        <p:spPr>
          <a:xfrm>
            <a:off x="12763500" y="3464700"/>
            <a:ext cx="3810000" cy="3506400"/>
          </a:xfrm>
          <a:prstGeom prst="roundRect">
            <a:avLst/>
          </a:prstGeom>
          <a:solidFill>
            <a:srgbClr val="1C3F60"/>
          </a:solidFill>
          <a:ln>
            <a:noFill/>
          </a:ln>
          <a:effectLst>
            <a:outerShdw blurRad="398620" dist="128409" dir="1620000" sx="100904" sy="100904" algn="l" rotWithShape="0">
              <a:prstClr val="black">
                <a:alpha val="7485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0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RF</a:t>
            </a:r>
          </a:p>
          <a:p>
            <a:pPr algn="ctr"/>
            <a:endParaRPr lang="it-IT" sz="2400">
              <a:solidFill>
                <a:srgbClr val="EDEEEF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it-IT" sz="2000" b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Random </a:t>
            </a:r>
            <a:r>
              <a:rPr lang="it-IT" sz="2000" b="1" err="1">
                <a:solidFill>
                  <a:srgbClr val="EDEEEF"/>
                </a:solidFill>
                <a:latin typeface="Poppins" pitchFamily="2" charset="77"/>
                <a:cs typeface="Poppins" pitchFamily="2" charset="77"/>
              </a:rPr>
              <a:t>Forest</a:t>
            </a:r>
            <a:endParaRPr lang="it-IT" sz="2000" b="1">
              <a:solidFill>
                <a:srgbClr val="EDEEEF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8CC2BD77-0F64-3E39-56A2-F90978FA353F}"/>
              </a:ext>
            </a:extLst>
          </p:cNvPr>
          <p:cNvSpPr txBox="1"/>
          <p:nvPr/>
        </p:nvSpPr>
        <p:spPr>
          <a:xfrm>
            <a:off x="2396307" y="20193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Addestramento dei modelli di ML</a:t>
            </a:r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BBF0B26D-D287-19FB-988D-9A3805D91CA2}"/>
              </a:ext>
            </a:extLst>
          </p:cNvPr>
          <p:cNvCxnSpPr>
            <a:cxnSpLocks/>
          </p:cNvCxnSpPr>
          <p:nvPr/>
        </p:nvCxnSpPr>
        <p:spPr>
          <a:xfrm flipH="1">
            <a:off x="2667000" y="5106473"/>
            <a:ext cx="1779770" cy="0"/>
          </a:xfrm>
          <a:prstGeom prst="line">
            <a:avLst/>
          </a:prstGeom>
          <a:ln w="28575">
            <a:solidFill>
              <a:srgbClr val="EDEE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940E528F-E0E9-612D-3571-1FF51F77E749}"/>
              </a:ext>
            </a:extLst>
          </p:cNvPr>
          <p:cNvCxnSpPr>
            <a:cxnSpLocks/>
          </p:cNvCxnSpPr>
          <p:nvPr/>
        </p:nvCxnSpPr>
        <p:spPr>
          <a:xfrm flipH="1">
            <a:off x="8254114" y="5106473"/>
            <a:ext cx="1779770" cy="0"/>
          </a:xfrm>
          <a:prstGeom prst="line">
            <a:avLst/>
          </a:prstGeom>
          <a:ln w="28575">
            <a:solidFill>
              <a:srgbClr val="EDEE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8EA8B179-C2AB-C728-6034-683AC64ED0CE}"/>
              </a:ext>
            </a:extLst>
          </p:cNvPr>
          <p:cNvCxnSpPr>
            <a:cxnSpLocks/>
          </p:cNvCxnSpPr>
          <p:nvPr/>
        </p:nvCxnSpPr>
        <p:spPr>
          <a:xfrm flipH="1">
            <a:off x="13778615" y="5217900"/>
            <a:ext cx="1779770" cy="0"/>
          </a:xfrm>
          <a:prstGeom prst="line">
            <a:avLst/>
          </a:prstGeom>
          <a:ln w="28575">
            <a:solidFill>
              <a:srgbClr val="EDEE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D6506ED-F457-A660-6C38-6187E1C3366D}"/>
              </a:ext>
            </a:extLst>
          </p:cNvPr>
          <p:cNvSpPr txBox="1"/>
          <p:nvPr/>
        </p:nvSpPr>
        <p:spPr>
          <a:xfrm>
            <a:off x="1080396" y="7658100"/>
            <a:ext cx="16127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latin typeface="Poppins" pitchFamily="2" charset="77"/>
                <a:cs typeface="Poppins" pitchFamily="2" charset="77"/>
              </a:rPr>
              <a:t>L’addestramento di questa tipologia di modelli viene utilizzata per la </a:t>
            </a:r>
            <a:r>
              <a:rPr lang="it-IT" sz="2000" b="1">
                <a:latin typeface="Poppins" pitchFamily="2" charset="77"/>
                <a:cs typeface="Poppins" pitchFamily="2" charset="77"/>
              </a:rPr>
              <a:t>classificazione dei soggetti </a:t>
            </a:r>
            <a:r>
              <a:rPr lang="it-IT" sz="2000">
                <a:latin typeface="Poppins" pitchFamily="2" charset="77"/>
                <a:cs typeface="Poppins" pitchFamily="2" charset="77"/>
              </a:rPr>
              <a:t>affetti o meno da Alzheimer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D28D830-F536-B564-8A77-FD0542A11798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5DCFF133-A829-6510-842D-A9026CD58090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09/19</a:t>
            </a:r>
          </a:p>
        </p:txBody>
      </p:sp>
    </p:spTree>
    <p:extLst>
      <p:ext uri="{BB962C8B-B14F-4D97-AF65-F5344CB8AC3E}">
        <p14:creationId xmlns:p14="http://schemas.microsoft.com/office/powerpoint/2010/main" val="63719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4460E-7DCC-D2C3-A9A4-80ACE5CB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C109EEF-C4E6-B062-9146-6116EBA4E93C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F53F1FA5-E107-9E58-1A64-02AEEE74A218}"/>
              </a:ext>
            </a:extLst>
          </p:cNvPr>
          <p:cNvSpPr txBox="1"/>
          <p:nvPr/>
        </p:nvSpPr>
        <p:spPr>
          <a:xfrm>
            <a:off x="2396307" y="15621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Tipologia di addestramento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F8E2805E-4B5F-43B5-302E-37B9E75C48A2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3414BFD-E580-01DF-4F52-115D212A00E6}"/>
              </a:ext>
            </a:extLst>
          </p:cNvPr>
          <p:cNvSpPr txBox="1"/>
          <p:nvPr/>
        </p:nvSpPr>
        <p:spPr>
          <a:xfrm>
            <a:off x="16433839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FF09A6DB-C44D-29D7-9BA0-D02E3558954A}"/>
              </a:ext>
            </a:extLst>
          </p:cNvPr>
          <p:cNvGrpSpPr/>
          <p:nvPr/>
        </p:nvGrpSpPr>
        <p:grpSpPr>
          <a:xfrm>
            <a:off x="687040" y="2628900"/>
            <a:ext cx="8304560" cy="5969302"/>
            <a:chOff x="687040" y="2628900"/>
            <a:chExt cx="8304560" cy="5969302"/>
          </a:xfrm>
        </p:grpSpPr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9803C3D8-A527-40CE-9CF1-AC9618A2DF9E}"/>
                </a:ext>
              </a:extLst>
            </p:cNvPr>
            <p:cNvSpPr txBox="1"/>
            <p:nvPr/>
          </p:nvSpPr>
          <p:spPr>
            <a:xfrm>
              <a:off x="687040" y="2628900"/>
              <a:ext cx="503214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3000" b="1" dirty="0">
                  <a:latin typeface="Poppins" pitchFamily="2" charset="77"/>
                  <a:cs typeface="Poppins" pitchFamily="2" charset="77"/>
                </a:rPr>
                <a:t>10-fold Cross </a:t>
              </a:r>
              <a:r>
                <a:rPr lang="en-US" sz="3000" b="1" noProof="0" dirty="0">
                  <a:latin typeface="Poppins" pitchFamily="2" charset="77"/>
                  <a:cs typeface="Poppins" pitchFamily="2" charset="77"/>
                </a:rPr>
                <a:t>Validation</a:t>
              </a:r>
              <a:r>
                <a:rPr lang="it-IT" sz="3000" b="1" dirty="0">
                  <a:latin typeface="Poppins" pitchFamily="2" charset="77"/>
                  <a:cs typeface="Poppins" pitchFamily="2" charset="77"/>
                </a:rPr>
                <a:t>: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1B3D8469-2A27-84C6-4565-4103914D2702}"/>
                </a:ext>
              </a:extLst>
            </p:cNvPr>
            <p:cNvSpPr txBox="1"/>
            <p:nvPr/>
          </p:nvSpPr>
          <p:spPr>
            <a:xfrm>
              <a:off x="963440" y="3255610"/>
              <a:ext cx="35461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>
                  <a:latin typeface="Poppins" pitchFamily="2" charset="77"/>
                  <a:cs typeface="Poppins" pitchFamily="2" charset="77"/>
                </a:rPr>
                <a:t>I dati vengono suddivisi in:</a:t>
              </a:r>
            </a:p>
          </p:txBody>
        </p:sp>
        <p:grpSp>
          <p:nvGrpSpPr>
            <p:cNvPr id="60" name="Gruppo 59">
              <a:extLst>
                <a:ext uri="{FF2B5EF4-FFF2-40B4-BE49-F238E27FC236}">
                  <a16:creationId xmlns:a16="http://schemas.microsoft.com/office/drawing/2014/main" id="{43EEC3CA-8982-ECA8-73EE-12AD1DBF158C}"/>
                </a:ext>
              </a:extLst>
            </p:cNvPr>
            <p:cNvGrpSpPr/>
            <p:nvPr/>
          </p:nvGrpSpPr>
          <p:grpSpPr>
            <a:xfrm>
              <a:off x="917114" y="3695700"/>
              <a:ext cx="5133109" cy="3595410"/>
              <a:chOff x="76301" y="3626237"/>
              <a:chExt cx="7772299" cy="5443991"/>
            </a:xfrm>
          </p:grpSpPr>
          <p:grpSp>
            <p:nvGrpSpPr>
              <p:cNvPr id="35" name="Gruppo 34">
                <a:extLst>
                  <a:ext uri="{FF2B5EF4-FFF2-40B4-BE49-F238E27FC236}">
                    <a16:creationId xmlns:a16="http://schemas.microsoft.com/office/drawing/2014/main" id="{2BAFC933-6F2A-75B3-44F9-B277C2E73C2F}"/>
                  </a:ext>
                </a:extLst>
              </p:cNvPr>
              <p:cNvGrpSpPr/>
              <p:nvPr/>
            </p:nvGrpSpPr>
            <p:grpSpPr>
              <a:xfrm>
                <a:off x="524816" y="4376766"/>
                <a:ext cx="7323784" cy="4693462"/>
                <a:chOff x="-385292" y="3499293"/>
                <a:chExt cx="7323784" cy="4693462"/>
              </a:xfrm>
            </p:grpSpPr>
            <p:graphicFrame>
              <p:nvGraphicFramePr>
                <p:cNvPr id="31" name="Grafico 30">
                  <a:extLst>
                    <a:ext uri="{FF2B5EF4-FFF2-40B4-BE49-F238E27FC236}">
                      <a16:creationId xmlns:a16="http://schemas.microsoft.com/office/drawing/2014/main" id="{C5C11557-B06D-20ED-46C3-BE9C763F692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941089339"/>
                    </p:ext>
                  </p:extLst>
                </p:nvPr>
              </p:nvGraphicFramePr>
              <p:xfrm>
                <a:off x="-385292" y="3686892"/>
                <a:ext cx="7323784" cy="415653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8556DF3D-74AC-56BF-6F00-0C31114CC225}"/>
                    </a:ext>
                  </a:extLst>
                </p:cNvPr>
                <p:cNvSpPr txBox="1"/>
                <p:nvPr/>
              </p:nvSpPr>
              <p:spPr>
                <a:xfrm rot="17225404">
                  <a:off x="1023478" y="3602549"/>
                  <a:ext cx="4693462" cy="4486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prstTxWarp prst="textArchDown">
                    <a:avLst/>
                  </a:prstTxWarp>
                  <a:spAutoFit/>
                </a:bodyPr>
                <a:lstStyle/>
                <a:p>
                  <a:r>
                    <a:rPr lang="it-IT" sz="3000" b="1">
                      <a:solidFill>
                        <a:srgbClr val="0B1320"/>
                      </a:solidFill>
                      <a:latin typeface="Poppins" pitchFamily="2" charset="77"/>
                      <a:cs typeface="Poppins" pitchFamily="2" charset="77"/>
                    </a:rPr>
                    <a:t>80% Training Set</a:t>
                  </a:r>
                </a:p>
              </p:txBody>
            </p:sp>
          </p:grp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DE293822-F8D7-E8C2-2C78-7C7F0B69DE5B}"/>
                  </a:ext>
                </a:extLst>
              </p:cNvPr>
              <p:cNvSpPr txBox="1"/>
              <p:nvPr/>
            </p:nvSpPr>
            <p:spPr>
              <a:xfrm>
                <a:off x="76301" y="4087750"/>
                <a:ext cx="1898546" cy="1307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10% </a:t>
                </a:r>
              </a:p>
              <a:p>
                <a:pPr algn="ctr"/>
                <a:r>
                  <a:rPr lang="it-IT" sz="1500" b="1" err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Validation</a:t>
                </a:r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 </a:t>
                </a:r>
              </a:p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Set</a:t>
                </a:r>
              </a:p>
            </p:txBody>
          </p:sp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0BA1F0BC-A5E7-0794-060F-6FE3A3CBF603}"/>
                  </a:ext>
                </a:extLst>
              </p:cNvPr>
              <p:cNvSpPr txBox="1"/>
              <p:nvPr/>
            </p:nvSpPr>
            <p:spPr>
              <a:xfrm>
                <a:off x="1804519" y="3626237"/>
                <a:ext cx="1617752" cy="838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10% </a:t>
                </a:r>
              </a:p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Test  Set</a:t>
                </a:r>
              </a:p>
            </p:txBody>
          </p:sp>
          <p:cxnSp>
            <p:nvCxnSpPr>
              <p:cNvPr id="42" name="Connettore 4 41">
                <a:extLst>
                  <a:ext uri="{FF2B5EF4-FFF2-40B4-BE49-F238E27FC236}">
                    <a16:creationId xmlns:a16="http://schemas.microsoft.com/office/drawing/2014/main" id="{E8FF2248-8CC7-4C86-C8D5-473EE96DC4C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040750" y="5228495"/>
                <a:ext cx="1930060" cy="529748"/>
              </a:xfrm>
              <a:prstGeom prst="bentConnector3">
                <a:avLst>
                  <a:gd name="adj1" fmla="val 99973"/>
                </a:avLst>
              </a:prstGeom>
              <a:ln w="28575">
                <a:solidFill>
                  <a:srgbClr val="0B1320"/>
                </a:solidFill>
                <a:headEnd type="oval" w="med" len="med"/>
                <a:tailEnd type="triangl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ttore 4 51">
                <a:extLst>
                  <a:ext uri="{FF2B5EF4-FFF2-40B4-BE49-F238E27FC236}">
                    <a16:creationId xmlns:a16="http://schemas.microsoft.com/office/drawing/2014/main" id="{D0C6A076-1E78-E95F-F371-B1D5CE9BE5E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821271" y="4315964"/>
                <a:ext cx="1282773" cy="542285"/>
              </a:xfrm>
              <a:prstGeom prst="bentConnector3">
                <a:avLst>
                  <a:gd name="adj1" fmla="val 100935"/>
                </a:avLst>
              </a:prstGeom>
              <a:ln w="28575">
                <a:solidFill>
                  <a:srgbClr val="0B1320"/>
                </a:solidFill>
                <a:headEnd type="oval" w="med" len="med"/>
                <a:tailEnd type="triangl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F97CEDC4-BBC3-6B0A-1C4D-0E6E53550524}"/>
                </a:ext>
              </a:extLst>
            </p:cNvPr>
            <p:cNvSpPr txBox="1"/>
            <p:nvPr/>
          </p:nvSpPr>
          <p:spPr>
            <a:xfrm>
              <a:off x="963440" y="7582539"/>
              <a:ext cx="802816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>
                  <a:latin typeface="Poppins" pitchFamily="2" charset="77"/>
                  <a:cs typeface="Poppins" pitchFamily="2" charset="77"/>
                </a:rPr>
                <a:t>Viene applicata la modalità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10-fold cross </a:t>
              </a:r>
              <a:r>
                <a:rPr lang="it-IT" sz="2000" b="1" err="1">
                  <a:latin typeface="Poppins" pitchFamily="2" charset="77"/>
                  <a:cs typeface="Poppins" pitchFamily="2" charset="77"/>
                </a:rPr>
                <a:t>validation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000">
                  <a:latin typeface="Poppins" pitchFamily="2" charset="77"/>
                  <a:cs typeface="Poppins" pitchFamily="2" charset="77"/>
                </a:rPr>
                <a:t>Ad ogni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ciclo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: 8 </a:t>
              </a:r>
              <a:r>
                <a:rPr lang="it-IT" sz="2000" err="1">
                  <a:latin typeface="Poppins" pitchFamily="2" charset="77"/>
                  <a:cs typeface="Poppins" pitchFamily="2" charset="77"/>
                </a:rPr>
                <a:t>fold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Training set, 1 </a:t>
              </a:r>
              <a:r>
                <a:rPr lang="it-IT" sz="2000" err="1">
                  <a:latin typeface="Poppins" pitchFamily="2" charset="77"/>
                  <a:cs typeface="Poppins" pitchFamily="2" charset="77"/>
                </a:rPr>
                <a:t>Validation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set e 1 Test set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000">
                  <a:latin typeface="Poppins" pitchFamily="2" charset="77"/>
                  <a:cs typeface="Poppins" pitchFamily="2" charset="77"/>
                </a:rPr>
                <a:t>Viene calcolata la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media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su 10 esecuzioni indipendenti</a:t>
              </a:r>
            </a:p>
          </p:txBody>
        </p:sp>
      </p:grpSp>
      <p:cxnSp>
        <p:nvCxnSpPr>
          <p:cNvPr id="73" name="Connettore 1 72">
            <a:extLst>
              <a:ext uri="{FF2B5EF4-FFF2-40B4-BE49-F238E27FC236}">
                <a16:creationId xmlns:a16="http://schemas.microsoft.com/office/drawing/2014/main" id="{B3239662-A0F0-D7FB-F7E6-4E77AC80D4CF}"/>
              </a:ext>
            </a:extLst>
          </p:cNvPr>
          <p:cNvCxnSpPr>
            <a:cxnSpLocks/>
          </p:cNvCxnSpPr>
          <p:nvPr/>
        </p:nvCxnSpPr>
        <p:spPr>
          <a:xfrm>
            <a:off x="9144000" y="2628900"/>
            <a:ext cx="0" cy="6629400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3824982A-5D70-97D0-8598-7329EB31310B}"/>
              </a:ext>
            </a:extLst>
          </p:cNvPr>
          <p:cNvGrpSpPr/>
          <p:nvPr/>
        </p:nvGrpSpPr>
        <p:grpSpPr>
          <a:xfrm>
            <a:off x="9296400" y="2628900"/>
            <a:ext cx="8619022" cy="6277078"/>
            <a:chOff x="9296400" y="2628900"/>
            <a:chExt cx="8619022" cy="6277078"/>
          </a:xfrm>
        </p:grpSpPr>
        <p:sp>
          <p:nvSpPr>
            <p:cNvPr id="76" name="CasellaDiTesto 75">
              <a:extLst>
                <a:ext uri="{FF2B5EF4-FFF2-40B4-BE49-F238E27FC236}">
                  <a16:creationId xmlns:a16="http://schemas.microsoft.com/office/drawing/2014/main" id="{BB8073FD-B347-C7FB-8A78-502868BB2724}"/>
                </a:ext>
              </a:extLst>
            </p:cNvPr>
            <p:cNvSpPr txBox="1"/>
            <p:nvPr/>
          </p:nvSpPr>
          <p:spPr>
            <a:xfrm>
              <a:off x="9296400" y="2628900"/>
              <a:ext cx="656461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3000" b="1" dirty="0">
                  <a:latin typeface="Poppins" pitchFamily="2" charset="77"/>
                  <a:cs typeface="Poppins" pitchFamily="2" charset="77"/>
                </a:rPr>
                <a:t>Valutazione su test set bloccato:</a:t>
              </a:r>
            </a:p>
          </p:txBody>
        </p:sp>
        <p:sp>
          <p:nvSpPr>
            <p:cNvPr id="81" name="CasellaDiTesto 80">
              <a:extLst>
                <a:ext uri="{FF2B5EF4-FFF2-40B4-BE49-F238E27FC236}">
                  <a16:creationId xmlns:a16="http://schemas.microsoft.com/office/drawing/2014/main" id="{E9C3D7C3-B319-7807-2BB9-293AAE5E87F4}"/>
                </a:ext>
              </a:extLst>
            </p:cNvPr>
            <p:cNvSpPr txBox="1"/>
            <p:nvPr/>
          </p:nvSpPr>
          <p:spPr>
            <a:xfrm>
              <a:off x="9548041" y="3255610"/>
              <a:ext cx="35461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>
                  <a:latin typeface="Poppins" pitchFamily="2" charset="77"/>
                  <a:cs typeface="Poppins" pitchFamily="2" charset="77"/>
                </a:rPr>
                <a:t>I dati vengono suddivisi in:</a:t>
              </a:r>
            </a:p>
          </p:txBody>
        </p:sp>
        <p:grpSp>
          <p:nvGrpSpPr>
            <p:cNvPr id="93" name="Gruppo 92">
              <a:extLst>
                <a:ext uri="{FF2B5EF4-FFF2-40B4-BE49-F238E27FC236}">
                  <a16:creationId xmlns:a16="http://schemas.microsoft.com/office/drawing/2014/main" id="{395D5F1C-0048-38F5-D237-FD704F55C12C}"/>
                </a:ext>
              </a:extLst>
            </p:cNvPr>
            <p:cNvGrpSpPr/>
            <p:nvPr/>
          </p:nvGrpSpPr>
          <p:grpSpPr>
            <a:xfrm>
              <a:off x="9940659" y="3849828"/>
              <a:ext cx="7974763" cy="3351072"/>
              <a:chOff x="9475036" y="4249698"/>
              <a:chExt cx="7974763" cy="3351072"/>
            </a:xfrm>
          </p:grpSpPr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3ACDF428-26E8-C2F1-87B0-CDB9F462E3CF}"/>
                  </a:ext>
                </a:extLst>
              </p:cNvPr>
              <p:cNvSpPr txBox="1"/>
              <p:nvPr/>
            </p:nvSpPr>
            <p:spPr>
              <a:xfrm rot="19718548">
                <a:off x="10459356" y="4282451"/>
                <a:ext cx="3201800" cy="3318319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/>
                </a:prstTxWarp>
                <a:spAutoFit/>
              </a:bodyPr>
              <a:lstStyle/>
              <a:p>
                <a:r>
                  <a:rPr lang="it-IT" sz="20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90% Training Set</a:t>
                </a:r>
              </a:p>
            </p:txBody>
          </p:sp>
          <p:graphicFrame>
            <p:nvGraphicFramePr>
              <p:cNvPr id="80" name="Grafico 79">
                <a:extLst>
                  <a:ext uri="{FF2B5EF4-FFF2-40B4-BE49-F238E27FC236}">
                    <a16:creationId xmlns:a16="http://schemas.microsoft.com/office/drawing/2014/main" id="{9FFCB400-28FE-C5DE-E4E4-4B14B7DB252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66333528"/>
                  </p:ext>
                </p:extLst>
              </p:nvPr>
            </p:nvGraphicFramePr>
            <p:xfrm>
              <a:off x="9628909" y="4249698"/>
              <a:ext cx="6603874" cy="327417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83" name="CasellaDiTesto 82">
                <a:extLst>
                  <a:ext uri="{FF2B5EF4-FFF2-40B4-BE49-F238E27FC236}">
                    <a16:creationId xmlns:a16="http://schemas.microsoft.com/office/drawing/2014/main" id="{25625843-FB1A-F4F0-F6D6-C54D65C890B2}"/>
                  </a:ext>
                </a:extLst>
              </p:cNvPr>
              <p:cNvSpPr txBox="1"/>
              <p:nvPr/>
            </p:nvSpPr>
            <p:spPr>
              <a:xfrm>
                <a:off x="9475036" y="4741902"/>
                <a:ext cx="106842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10% </a:t>
                </a:r>
              </a:p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Test  Set</a:t>
                </a:r>
              </a:p>
            </p:txBody>
          </p:sp>
          <p:cxnSp>
            <p:nvCxnSpPr>
              <p:cNvPr id="84" name="Connettore 4 83">
                <a:extLst>
                  <a:ext uri="{FF2B5EF4-FFF2-40B4-BE49-F238E27FC236}">
                    <a16:creationId xmlns:a16="http://schemas.microsoft.com/office/drawing/2014/main" id="{7CBC6176-1EDF-7F64-0FC6-E30138EB17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0009248" y="5266457"/>
                <a:ext cx="1093251" cy="684491"/>
              </a:xfrm>
              <a:prstGeom prst="bentConnector3">
                <a:avLst>
                  <a:gd name="adj1" fmla="val 100840"/>
                </a:avLst>
              </a:prstGeom>
              <a:ln w="28575">
                <a:solidFill>
                  <a:srgbClr val="0B1320"/>
                </a:solidFill>
                <a:headEnd type="oval" w="med" len="med"/>
                <a:tailEnd type="triangl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CasellaDiTesto 89">
                <a:extLst>
                  <a:ext uri="{FF2B5EF4-FFF2-40B4-BE49-F238E27FC236}">
                    <a16:creationId xmlns:a16="http://schemas.microsoft.com/office/drawing/2014/main" id="{9F6A3192-5271-ED29-1F2F-D84443AE7E2B}"/>
                  </a:ext>
                </a:extLst>
              </p:cNvPr>
              <p:cNvSpPr txBox="1"/>
              <p:nvPr/>
            </p:nvSpPr>
            <p:spPr>
              <a:xfrm>
                <a:off x="15310791" y="6743962"/>
                <a:ext cx="15261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10% Test  Set</a:t>
                </a: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D7C6A419-F74A-DEF8-9012-E648AACB4259}"/>
                  </a:ext>
                </a:extLst>
              </p:cNvPr>
              <p:cNvSpPr txBox="1"/>
              <p:nvPr/>
            </p:nvSpPr>
            <p:spPr>
              <a:xfrm>
                <a:off x="15310790" y="6506090"/>
                <a:ext cx="213900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10% </a:t>
                </a:r>
                <a:r>
                  <a:rPr lang="it-IT" sz="1500" b="1" err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Validation</a:t>
                </a:r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  Set</a:t>
                </a:r>
              </a:p>
            </p:txBody>
          </p:sp>
          <p:sp>
            <p:nvSpPr>
              <p:cNvPr id="92" name="CasellaDiTesto 91">
                <a:extLst>
                  <a:ext uri="{FF2B5EF4-FFF2-40B4-BE49-F238E27FC236}">
                    <a16:creationId xmlns:a16="http://schemas.microsoft.com/office/drawing/2014/main" id="{B100D7BB-9AEF-409D-A827-A38BD510FC51}"/>
                  </a:ext>
                </a:extLst>
              </p:cNvPr>
              <p:cNvSpPr txBox="1"/>
              <p:nvPr/>
            </p:nvSpPr>
            <p:spPr>
              <a:xfrm>
                <a:off x="15310789" y="4828872"/>
                <a:ext cx="213900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500" b="1">
                    <a:solidFill>
                      <a:srgbClr val="0B1320"/>
                    </a:solidFill>
                    <a:latin typeface="Poppins" pitchFamily="2" charset="77"/>
                    <a:cs typeface="Poppins" pitchFamily="2" charset="77"/>
                  </a:rPr>
                  <a:t>80% Training  Set</a:t>
                </a:r>
              </a:p>
            </p:txBody>
          </p:sp>
        </p:grpSp>
        <p:sp>
          <p:nvSpPr>
            <p:cNvPr id="94" name="CasellaDiTesto 93">
              <a:extLst>
                <a:ext uri="{FF2B5EF4-FFF2-40B4-BE49-F238E27FC236}">
                  <a16:creationId xmlns:a16="http://schemas.microsoft.com/office/drawing/2014/main" id="{9A707CA9-1784-6C96-2CB5-B8200F354757}"/>
                </a:ext>
              </a:extLst>
            </p:cNvPr>
            <p:cNvSpPr txBox="1"/>
            <p:nvPr/>
          </p:nvSpPr>
          <p:spPr>
            <a:xfrm>
              <a:off x="9548044" y="7582539"/>
              <a:ext cx="775777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Clr>
                  <a:srgbClr val="7030A0"/>
                </a:buClr>
                <a:buFont typeface="+mj-lt"/>
                <a:buAutoNum type="alphaLcPeriod"/>
              </a:pPr>
              <a:r>
                <a:rPr lang="it-IT" sz="2000">
                  <a:latin typeface="Poppins" pitchFamily="2" charset="77"/>
                  <a:cs typeface="Poppins" pitchFamily="2" charset="77"/>
                </a:rPr>
                <a:t>Si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sceglie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la combinazione di </a:t>
              </a:r>
              <a:r>
                <a:rPr lang="it-IT" sz="2000" err="1">
                  <a:latin typeface="Poppins" pitchFamily="2" charset="77"/>
                  <a:cs typeface="Poppins" pitchFamily="2" charset="77"/>
                </a:rPr>
                <a:t>iperparametri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che ha dato i risultati migliori </a:t>
              </a:r>
            </a:p>
            <a:p>
              <a:pPr marL="457200" indent="-457200">
                <a:buClr>
                  <a:srgbClr val="7030A0"/>
                </a:buClr>
                <a:buFont typeface="+mj-lt"/>
                <a:buAutoNum type="alphaLcPeriod"/>
              </a:pPr>
              <a:r>
                <a:rPr lang="it-IT" sz="2000">
                  <a:latin typeface="Poppins" pitchFamily="2" charset="77"/>
                  <a:cs typeface="Poppins" pitchFamily="2" charset="77"/>
                </a:rPr>
                <a:t>Si </a:t>
              </a:r>
              <a:r>
                <a:rPr lang="it-IT" sz="2000" b="1">
                  <a:latin typeface="Poppins" pitchFamily="2" charset="77"/>
                  <a:cs typeface="Poppins" pitchFamily="2" charset="77"/>
                </a:rPr>
                <a:t>riaddestra</a:t>
              </a:r>
              <a:r>
                <a:rPr lang="it-IT" sz="2000">
                  <a:latin typeface="Poppins" pitchFamily="2" charset="77"/>
                  <a:cs typeface="Poppins" pitchFamily="2" charset="77"/>
                </a:rPr>
                <a:t> il modello su tutto il Training test e si testa sul test set che non abbiamo mai utilizzato</a:t>
              </a:r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BE711D75-6557-6485-AC50-E58C59C1F5F8}"/>
                </a:ext>
              </a:extLst>
            </p:cNvPr>
            <p:cNvSpPr txBox="1"/>
            <p:nvPr/>
          </p:nvSpPr>
          <p:spPr>
            <a:xfrm>
              <a:off x="9705968" y="3738961"/>
              <a:ext cx="4315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rgbClr val="7030A0"/>
                  </a:solidFill>
                  <a:latin typeface="Poppins" pitchFamily="2" charset="77"/>
                  <a:cs typeface="Poppins" pitchFamily="2" charset="77"/>
                </a:rPr>
                <a:t>b.</a:t>
              </a:r>
            </a:p>
          </p:txBody>
        </p:sp>
        <p:sp>
          <p:nvSpPr>
            <p:cNvPr id="98" name="CasellaDiTesto 97">
              <a:extLst>
                <a:ext uri="{FF2B5EF4-FFF2-40B4-BE49-F238E27FC236}">
                  <a16:creationId xmlns:a16="http://schemas.microsoft.com/office/drawing/2014/main" id="{A2B30700-A6F8-F078-18D8-5F66E5B3D0D7}"/>
                </a:ext>
              </a:extLst>
            </p:cNvPr>
            <p:cNvSpPr txBox="1"/>
            <p:nvPr/>
          </p:nvSpPr>
          <p:spPr>
            <a:xfrm>
              <a:off x="14394180" y="3738961"/>
              <a:ext cx="4315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rgbClr val="7030A0"/>
                  </a:solidFill>
                  <a:latin typeface="Poppins" pitchFamily="2" charset="77"/>
                  <a:cs typeface="Poppins" pitchFamily="2" charset="77"/>
                </a:rPr>
                <a:t>a.</a:t>
              </a:r>
            </a:p>
          </p:txBody>
        </p:sp>
      </p:grpSp>
      <p:sp>
        <p:nvSpPr>
          <p:cNvPr id="7" name="Freeform 4">
            <a:extLst>
              <a:ext uri="{FF2B5EF4-FFF2-40B4-BE49-F238E27FC236}">
                <a16:creationId xmlns:a16="http://schemas.microsoft.com/office/drawing/2014/main" id="{21A4B593-C833-CB8F-E6C5-EDF7267FBCFD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029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E87E8-85A5-7131-0D3D-9F5C80A5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F3DE6AC-4C49-49C1-F3B4-24FB9137A173}"/>
              </a:ext>
            </a:extLst>
          </p:cNvPr>
          <p:cNvSpPr/>
          <p:nvPr/>
        </p:nvSpPr>
        <p:spPr>
          <a:xfrm>
            <a:off x="446295" y="449588"/>
            <a:ext cx="1181262" cy="1158224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noProof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426AF438-ACB7-C65E-663F-51CF7A2DB3C5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8943DA2-5C43-B722-2439-9205C2D07739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9986EDA4-4BC6-81FC-3D84-172BF9F0AF18}"/>
              </a:ext>
            </a:extLst>
          </p:cNvPr>
          <p:cNvGrpSpPr/>
          <p:nvPr/>
        </p:nvGrpSpPr>
        <p:grpSpPr>
          <a:xfrm>
            <a:off x="1356814" y="1931737"/>
            <a:ext cx="15574372" cy="6423526"/>
            <a:chOff x="1356814" y="1409700"/>
            <a:chExt cx="15574372" cy="6423526"/>
          </a:xfrm>
        </p:grpSpPr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06C40C7E-F119-66B3-0B77-AF66DAE672CF}"/>
                </a:ext>
              </a:extLst>
            </p:cNvPr>
            <p:cNvSpPr txBox="1"/>
            <p:nvPr/>
          </p:nvSpPr>
          <p:spPr>
            <a:xfrm>
              <a:off x="2150656" y="1409700"/>
              <a:ext cx="13986688" cy="894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900"/>
                </a:lnSpc>
              </a:pPr>
              <a:r>
                <a:rPr lang="it-IT" sz="6000" b="1" noProof="0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Classificazione dei risultati ottenuti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8C23F6E6-D50A-392B-14D4-864EE392BAEE}"/>
                </a:ext>
              </a:extLst>
            </p:cNvPr>
            <p:cNvSpPr txBox="1"/>
            <p:nvPr/>
          </p:nvSpPr>
          <p:spPr>
            <a:xfrm>
              <a:off x="1356814" y="2739524"/>
              <a:ext cx="15574372" cy="5093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b="1" dirty="0" err="1">
                  <a:latin typeface="Poppins" pitchFamily="2" charset="77"/>
                  <a:cs typeface="Poppins" pitchFamily="2" charset="77"/>
                </a:rPr>
                <a:t>Accuracy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: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proporzione di previsioni corrette (sia positivi che negativi) rispetto al numero totale di esempi.</a:t>
              </a:r>
            </a:p>
            <a:p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Precision: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proporzione dei soggetti classificati come malati che sono effettivamente pazienti affetti da Alzheimer.</a:t>
              </a:r>
            </a:p>
            <a:p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Recall: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proporzione di pazienti con l’Alzheimer che sono stati correttamente identificati dal modello.</a:t>
              </a:r>
            </a:p>
            <a:p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F1: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media armonica tra Precision e Recall, fornisce un equilibrio tra i due.</a:t>
              </a:r>
            </a:p>
            <a:p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Deviazione standard: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indica quanto è stabile la performance del modello tra una suddivisione dei dati e l’altra</a:t>
              </a:r>
              <a:endParaRPr lang="it-IT" sz="2500" b="1" dirty="0"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AA2277C9-DFF7-5B4C-8E98-BE42E2F7A6A1}"/>
              </a:ext>
            </a:extLst>
          </p:cNvPr>
          <p:cNvSpPr/>
          <p:nvPr/>
        </p:nvSpPr>
        <p:spPr>
          <a:xfrm>
            <a:off x="1727488" y="671227"/>
            <a:ext cx="2109682" cy="714947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924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D3A8F-93BE-4134-FD48-A3A27227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0140EE1C-27CE-1FD8-2808-5F86B0470BE7}"/>
              </a:ext>
            </a:extLst>
          </p:cNvPr>
          <p:cNvSpPr txBox="1"/>
          <p:nvPr/>
        </p:nvSpPr>
        <p:spPr>
          <a:xfrm>
            <a:off x="2396307" y="1750755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Discussione dei risultati ottenuti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D5C19932-37BB-3C19-38DD-7B7AB52225EA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93E1CD06-7BED-7DC1-23D7-CF5AF8150AA3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BBF5472-7F0C-505F-C9CE-1CDFD447878A}"/>
              </a:ext>
            </a:extLst>
          </p:cNvPr>
          <p:cNvSpPr txBox="1"/>
          <p:nvPr/>
        </p:nvSpPr>
        <p:spPr>
          <a:xfrm>
            <a:off x="687040" y="2741355"/>
            <a:ext cx="50321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000" b="1" dirty="0">
                <a:latin typeface="Poppins" pitchFamily="2" charset="77"/>
                <a:cs typeface="Poppins" pitchFamily="2" charset="77"/>
              </a:rPr>
              <a:t>10-fold Cross </a:t>
            </a:r>
            <a:r>
              <a:rPr lang="en-US" sz="3000" b="1" noProof="0" dirty="0">
                <a:latin typeface="Poppins" pitchFamily="2" charset="77"/>
                <a:cs typeface="Poppins" pitchFamily="2" charset="77"/>
              </a:rPr>
              <a:t>Validation</a:t>
            </a:r>
            <a:r>
              <a:rPr lang="it-IT" sz="3000" b="1" dirty="0">
                <a:latin typeface="Poppins" pitchFamily="2" charset="77"/>
                <a:cs typeface="Poppins" pitchFamily="2" charset="77"/>
              </a:rPr>
              <a:t>:</a:t>
            </a:r>
          </a:p>
        </p:txBody>
      </p:sp>
      <p:cxnSp>
        <p:nvCxnSpPr>
          <p:cNvPr id="73" name="Connettore 1 72">
            <a:extLst>
              <a:ext uri="{FF2B5EF4-FFF2-40B4-BE49-F238E27FC236}">
                <a16:creationId xmlns:a16="http://schemas.microsoft.com/office/drawing/2014/main" id="{8A5B21C9-B7F0-8458-C616-3868DD4FFE4C}"/>
              </a:ext>
            </a:extLst>
          </p:cNvPr>
          <p:cNvCxnSpPr>
            <a:cxnSpLocks/>
          </p:cNvCxnSpPr>
          <p:nvPr/>
        </p:nvCxnSpPr>
        <p:spPr>
          <a:xfrm>
            <a:off x="9144000" y="3066990"/>
            <a:ext cx="0" cy="2686110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12BEE18-39E5-502A-EDDE-B1A416CE0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327201"/>
              </p:ext>
            </p:extLst>
          </p:nvPr>
        </p:nvGraphicFramePr>
        <p:xfrm>
          <a:off x="1058380" y="4128195"/>
          <a:ext cx="7704620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924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5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b="1" dirty="0">
                          <a:latin typeface="Poppins" pitchFamily="2" charset="77"/>
                          <a:cs typeface="Poppins" pitchFamily="2" charset="77"/>
                        </a:rPr>
                        <a:t>0.697 (0.095)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b="1" dirty="0">
                          <a:latin typeface="Poppins" pitchFamily="2" charset="77"/>
                          <a:cs typeface="Poppins" pitchFamily="2" charset="77"/>
                        </a:rPr>
                        <a:t>0.722 (0.091)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0.660 (0.120)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0.678 (0.084)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0.632 (0.120)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0.645 (0.136)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0.656 (0.131)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0.647 (0.121)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0.668 (0.101)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dirty="0">
                          <a:latin typeface="Poppins" pitchFamily="2" charset="77"/>
                          <a:cs typeface="Poppins" pitchFamily="2" charset="77"/>
                        </a:rPr>
                        <a:t>0.705 (0.156)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b="1" dirty="0">
                          <a:latin typeface="Poppins" pitchFamily="2" charset="77"/>
                          <a:cs typeface="Poppins" pitchFamily="2" charset="77"/>
                        </a:rPr>
                        <a:t>0.704 (0.114)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500" b="1" dirty="0">
                          <a:latin typeface="Poppins" pitchFamily="2" charset="77"/>
                          <a:cs typeface="Poppins" pitchFamily="2" charset="77"/>
                        </a:rPr>
                        <a:t>0.686 (0.084)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3A3F27BB-E073-AAA6-B768-F69AB3E6D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571784"/>
              </p:ext>
            </p:extLst>
          </p:nvPr>
        </p:nvGraphicFramePr>
        <p:xfrm>
          <a:off x="9829800" y="4105335"/>
          <a:ext cx="7852332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722">
                  <a:extLst>
                    <a:ext uri="{9D8B030D-6E8A-4147-A177-3AD203B41FA5}">
                      <a16:colId xmlns:a16="http://schemas.microsoft.com/office/drawing/2014/main" val="2676824071"/>
                    </a:ext>
                  </a:extLst>
                </a:gridCol>
                <a:gridCol w="1308722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1308722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308722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308722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308722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304356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GPT-3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32622">
                <a:tc rowSpan="3"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Ada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0.788 (0.075)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0.798 (0.109)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0.819 (0.098)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0.799 (0.066)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0.796 (0.107)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0.798 (0.126)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0.835 (0.129)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0.808 (0.100)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0.734 (0.090)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0.738 (0.109)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0.763 (0.149)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0.743 (0.103)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  <a:tr h="532622">
                <a:tc rowSpan="3"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Babbage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0.802 (0.054)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0.823 (0.092)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0.804 (0.103)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0.806 (0.053)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6354868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0.809</a:t>
                      </a:r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(0.112)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0.843 (0.148)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0.811 (0.091)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0.818 (0.091)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04427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0.760 (0.052)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0.780 (0.102)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0.781 (0.110)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0.770 (0.047)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632998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DF45E713-D70B-C6E3-161F-9C66DD37227F}"/>
              </a:ext>
            </a:extLst>
          </p:cNvPr>
          <p:cNvSpPr txBox="1"/>
          <p:nvPr/>
        </p:nvSpPr>
        <p:spPr>
          <a:xfrm>
            <a:off x="891173" y="3408045"/>
            <a:ext cx="3639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Poppins" pitchFamily="2" charset="77"/>
                <a:cs typeface="Poppins" pitchFamily="2" charset="77"/>
              </a:rPr>
              <a:t>Caratteristiche acustiche: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F8427A5-0ACB-42A2-723E-CEA2EDEAF96B}"/>
              </a:ext>
            </a:extLst>
          </p:cNvPr>
          <p:cNvSpPr txBox="1"/>
          <p:nvPr/>
        </p:nvSpPr>
        <p:spPr>
          <a:xfrm>
            <a:off x="9753600" y="3408045"/>
            <a:ext cx="2945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 di GPT-3: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4578133-9DD9-E717-2B49-3A5319AC5A75}"/>
              </a:ext>
            </a:extLst>
          </p:cNvPr>
          <p:cNvSpPr txBox="1"/>
          <p:nvPr/>
        </p:nvSpPr>
        <p:spPr>
          <a:xfrm>
            <a:off x="891173" y="6094155"/>
            <a:ext cx="78503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Poppins" pitchFamily="2" charset="77"/>
                <a:cs typeface="Poppins" pitchFamily="2" charset="77"/>
              </a:rPr>
              <a:t>Valutazione: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Poppins" pitchFamily="2" charset="77"/>
                <a:cs typeface="Poppins" pitchFamily="2" charset="77"/>
              </a:rPr>
              <a:t>Accuracy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11,2%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Precision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12,1%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Recall 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13,1%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F1 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13,2%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b="1" dirty="0">
              <a:latin typeface="Poppins" pitchFamily="2" charset="77"/>
              <a:cs typeface="Poppins" pitchFamily="2" charset="77"/>
            </a:endParaRPr>
          </a:p>
          <a:p>
            <a:r>
              <a:rPr lang="it-IT" sz="2000" dirty="0">
                <a:latin typeface="Poppins" pitchFamily="2" charset="77"/>
                <a:cs typeface="Poppins" pitchFamily="2" charset="77"/>
              </a:rPr>
              <a:t>Il modello di ML che si è comportato meglio sembra essere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LR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Babbage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998AB8C4-D4CD-E58C-A3A4-DD5156EAC7FF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E085B99-9E58-8F71-1A4B-B2EDCCEA4155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7D57A571-DCCD-9783-8BE7-D087B795754A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8230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07DC2-0F7A-A537-BAF4-1440EF71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80D54D1B-FD45-70D5-A289-BE3ACBE223A9}"/>
              </a:ext>
            </a:extLst>
          </p:cNvPr>
          <p:cNvSpPr txBox="1"/>
          <p:nvPr/>
        </p:nvSpPr>
        <p:spPr>
          <a:xfrm>
            <a:off x="2396307" y="1750755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Discussione dei risultati ottenuti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F945C166-23BE-F1DC-E163-895054BDFDFD}"/>
              </a:ext>
            </a:extLst>
          </p:cNvPr>
          <p:cNvSpPr txBox="1"/>
          <p:nvPr/>
        </p:nvSpPr>
        <p:spPr>
          <a:xfrm>
            <a:off x="1286816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49F83F08-C5E5-62EA-0AE0-27842E775081}"/>
              </a:ext>
            </a:extLst>
          </p:cNvPr>
          <p:cNvSpPr txBox="1"/>
          <p:nvPr/>
        </p:nvSpPr>
        <p:spPr>
          <a:xfrm>
            <a:off x="16577817" y="8906669"/>
            <a:ext cx="681482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4047366-7505-69A1-FBD8-60C92F9481D6}"/>
              </a:ext>
            </a:extLst>
          </p:cNvPr>
          <p:cNvSpPr txBox="1"/>
          <p:nvPr/>
        </p:nvSpPr>
        <p:spPr>
          <a:xfrm>
            <a:off x="687040" y="2741355"/>
            <a:ext cx="6591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Poppins" pitchFamily="2" charset="77"/>
                <a:cs typeface="Poppins" pitchFamily="2" charset="77"/>
              </a:rPr>
              <a:t>Valutazione su test set bloccato: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A0BC79E-35DE-3DC5-FCDB-6A05036A0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40143"/>
              </p:ext>
            </p:extLst>
          </p:nvPr>
        </p:nvGraphicFramePr>
        <p:xfrm>
          <a:off x="1036926" y="4006275"/>
          <a:ext cx="770462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924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540924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Poppins" pitchFamily="2" charset="77"/>
                          <a:cs typeface="Poppins" pitchFamily="2" charset="77"/>
                        </a:rPr>
                        <a:t>0.634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Poppins" pitchFamily="2" charset="77"/>
                          <a:cs typeface="Poppins" pitchFamily="2" charset="77"/>
                        </a:rPr>
                        <a:t>0.657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Poppins" pitchFamily="2" charset="77"/>
                          <a:cs typeface="Poppins" pitchFamily="2" charset="77"/>
                        </a:rPr>
                        <a:t>0.622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Poppins" pitchFamily="2" charset="77"/>
                          <a:cs typeface="Poppins" pitchFamily="2" charset="77"/>
                        </a:rPr>
                        <a:t>0.639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0.620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Poppins" pitchFamily="2" charset="77"/>
                          <a:cs typeface="Poppins" pitchFamily="2" charset="77"/>
                        </a:rPr>
                        <a:t>0.618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Poppins" pitchFamily="2" charset="77"/>
                          <a:cs typeface="Poppins" pitchFamily="2" charset="77"/>
                        </a:rPr>
                        <a:t>0.609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latin typeface="Poppins" pitchFamily="2" charset="77"/>
                          <a:cs typeface="Poppins" pitchFamily="2" charset="77"/>
                        </a:rPr>
                        <a:t>0.746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latin typeface="Poppins" pitchFamily="2" charset="77"/>
                          <a:cs typeface="Poppins" pitchFamily="2" charset="77"/>
                        </a:rPr>
                        <a:t>0.771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latin typeface="Poppins" pitchFamily="2" charset="77"/>
                          <a:cs typeface="Poppins" pitchFamily="2" charset="77"/>
                        </a:rPr>
                        <a:t>0.730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latin typeface="Poppins" pitchFamily="2" charset="77"/>
                          <a:cs typeface="Poppins" pitchFamily="2" charset="77"/>
                        </a:rPr>
                        <a:t>0.750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EA88A6D-8A69-2A19-0014-A1F0EC56A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10586"/>
              </p:ext>
            </p:extLst>
          </p:nvPr>
        </p:nvGraphicFramePr>
        <p:xfrm>
          <a:off x="9977512" y="4105335"/>
          <a:ext cx="7700880" cy="354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480">
                  <a:extLst>
                    <a:ext uri="{9D8B030D-6E8A-4147-A177-3AD203B41FA5}">
                      <a16:colId xmlns:a16="http://schemas.microsoft.com/office/drawing/2014/main" val="2676824071"/>
                    </a:ext>
                  </a:extLst>
                </a:gridCol>
                <a:gridCol w="1283480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1283480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283480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283480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283480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304356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GPT-3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32622">
                <a:tc rowSpan="3"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Ada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0.788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0.708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0.971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0.819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0.762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0.732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0.690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0.829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0.753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  <a:tr h="532622">
                <a:tc rowSpan="3"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Babbage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0.803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0.723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0.971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1" dirty="0">
                          <a:latin typeface="Poppins" pitchFamily="2" charset="77"/>
                          <a:cs typeface="Poppins" pitchFamily="2" charset="77"/>
                        </a:rPr>
                        <a:t>0.829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6354868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0.718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0.647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0.943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0.767</a:t>
                      </a:r>
                    </a:p>
                  </a:txBody>
                  <a:tcPr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04427"/>
                  </a:ext>
                </a:extLst>
              </a:tr>
              <a:tr h="532622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0.779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632998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DC2B5A19-6D65-B337-B0A6-450FAB0F1815}"/>
              </a:ext>
            </a:extLst>
          </p:cNvPr>
          <p:cNvSpPr txBox="1"/>
          <p:nvPr/>
        </p:nvSpPr>
        <p:spPr>
          <a:xfrm>
            <a:off x="891173" y="3408045"/>
            <a:ext cx="3567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Poppins" pitchFamily="2" charset="77"/>
                <a:cs typeface="Poppins" pitchFamily="2" charset="77"/>
              </a:rPr>
              <a:t>Caratteristiche acustiche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5036DDA-8C52-7C7B-A463-100A8E12E003}"/>
              </a:ext>
            </a:extLst>
          </p:cNvPr>
          <p:cNvSpPr txBox="1"/>
          <p:nvPr/>
        </p:nvSpPr>
        <p:spPr>
          <a:xfrm>
            <a:off x="9829800" y="3408045"/>
            <a:ext cx="2872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 di GPT-3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CD2CB50-A1FA-9DE9-A945-F923CBB929ED}"/>
              </a:ext>
            </a:extLst>
          </p:cNvPr>
          <p:cNvSpPr txBox="1"/>
          <p:nvPr/>
        </p:nvSpPr>
        <p:spPr>
          <a:xfrm>
            <a:off x="891173" y="6094155"/>
            <a:ext cx="78503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Poppins" pitchFamily="2" charset="77"/>
                <a:cs typeface="Poppins" pitchFamily="2" charset="77"/>
              </a:rPr>
              <a:t>Valutazione: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latin typeface="Poppins" pitchFamily="2" charset="77"/>
                <a:cs typeface="Poppins" pitchFamily="2" charset="77"/>
              </a:rPr>
              <a:t>Accuracy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5,7%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Precision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peggiore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4,8%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Recall 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24,1%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F1 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è </a:t>
            </a:r>
            <a:r>
              <a:rPr lang="it-IT" sz="2000" i="1" dirty="0">
                <a:latin typeface="Poppins" pitchFamily="2" charset="77"/>
                <a:cs typeface="Poppins" pitchFamily="2" charset="77"/>
              </a:rPr>
              <a:t>migliore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del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7,9%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b="1" dirty="0">
              <a:latin typeface="Poppins" pitchFamily="2" charset="77"/>
              <a:cs typeface="Poppins" pitchFamily="2" charset="77"/>
            </a:endParaRPr>
          </a:p>
          <a:p>
            <a:r>
              <a:rPr lang="it-IT" sz="2000" dirty="0">
                <a:latin typeface="Poppins" pitchFamily="2" charset="77"/>
                <a:cs typeface="Poppins" pitchFamily="2" charset="77"/>
              </a:rPr>
              <a:t>Il modello di ML che si è comportato meglio sembra essere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SVC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con l’utilizzo di GPT-3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Babbage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.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C2968E8-AA24-96F1-DEAC-1CF18600C24F}"/>
              </a:ext>
            </a:extLst>
          </p:cNvPr>
          <p:cNvCxnSpPr>
            <a:cxnSpLocks/>
          </p:cNvCxnSpPr>
          <p:nvPr/>
        </p:nvCxnSpPr>
        <p:spPr>
          <a:xfrm>
            <a:off x="9144000" y="3066990"/>
            <a:ext cx="0" cy="2686110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3C62609-666F-1BCC-7FAD-BBCA7CF11F66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4A7967C8-C3D9-B15A-88A5-DA252ACEC8EB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15941CEB-D906-43DD-3184-726D5B4FB67C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3599559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D04EE-2A04-F9C9-24AB-01AD9DF8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605A0FFD-D7E5-E6FC-E77F-45247EB7A076}"/>
              </a:ext>
            </a:extLst>
          </p:cNvPr>
          <p:cNvSpPr txBox="1"/>
          <p:nvPr/>
        </p:nvSpPr>
        <p:spPr>
          <a:xfrm>
            <a:off x="1392890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E78C77FE-A7B9-E175-5721-B537DCE6E083}"/>
              </a:ext>
            </a:extLst>
          </p:cNvPr>
          <p:cNvSpPr txBox="1"/>
          <p:nvPr/>
        </p:nvSpPr>
        <p:spPr>
          <a:xfrm>
            <a:off x="16683891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14/19</a:t>
            </a:r>
          </a:p>
        </p:txBody>
      </p:sp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0E4E59D2-F037-62AA-D35A-BDBA33AAD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732857"/>
              </p:ext>
            </p:extLst>
          </p:nvPr>
        </p:nvGraphicFramePr>
        <p:xfrm>
          <a:off x="762000" y="3622176"/>
          <a:ext cx="8458202" cy="39597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9115">
                  <a:extLst>
                    <a:ext uri="{9D8B030D-6E8A-4147-A177-3AD203B41FA5}">
                      <a16:colId xmlns:a16="http://schemas.microsoft.com/office/drawing/2014/main" val="447738757"/>
                    </a:ext>
                  </a:extLst>
                </a:gridCol>
                <a:gridCol w="1409115">
                  <a:extLst>
                    <a:ext uri="{9D8B030D-6E8A-4147-A177-3AD203B41FA5}">
                      <a16:colId xmlns:a16="http://schemas.microsoft.com/office/drawing/2014/main" val="2531188916"/>
                    </a:ext>
                  </a:extLst>
                </a:gridCol>
                <a:gridCol w="1409993">
                  <a:extLst>
                    <a:ext uri="{9D8B030D-6E8A-4147-A177-3AD203B41FA5}">
                      <a16:colId xmlns:a16="http://schemas.microsoft.com/office/drawing/2014/main" val="2725753527"/>
                    </a:ext>
                  </a:extLst>
                </a:gridCol>
                <a:gridCol w="1409993">
                  <a:extLst>
                    <a:ext uri="{9D8B030D-6E8A-4147-A177-3AD203B41FA5}">
                      <a16:colId xmlns:a16="http://schemas.microsoft.com/office/drawing/2014/main" val="2553626669"/>
                    </a:ext>
                  </a:extLst>
                </a:gridCol>
                <a:gridCol w="1409993">
                  <a:extLst>
                    <a:ext uri="{9D8B030D-6E8A-4147-A177-3AD203B41FA5}">
                      <a16:colId xmlns:a16="http://schemas.microsoft.com/office/drawing/2014/main" val="1869186805"/>
                    </a:ext>
                  </a:extLst>
                </a:gridCol>
                <a:gridCol w="1409993">
                  <a:extLst>
                    <a:ext uri="{9D8B030D-6E8A-4147-A177-3AD203B41FA5}">
                      <a16:colId xmlns:a16="http://schemas.microsoft.com/office/drawing/2014/main" val="3612481183"/>
                    </a:ext>
                  </a:extLst>
                </a:gridCol>
              </a:tblGrid>
              <a:tr h="53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Tipo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 err="1">
                          <a:effectLst/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5845"/>
                  </a:ext>
                </a:extLst>
              </a:tr>
              <a:tr h="53273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10-fold CV</a:t>
                      </a: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0.814 (0.115)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0.838 (0.133)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0.802 (0.136)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0.814 (0.119)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9905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0.800 (0.108)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0.831 (0.137)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0.803 (0.097)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0.809 (0.093)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1985723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0.731 (0.121)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0.741 (0.141)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0.762 (0.119)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0.745 (0.109)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010240"/>
                  </a:ext>
                </a:extLst>
              </a:tr>
              <a:tr h="53273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Test Set</a:t>
                      </a: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0.802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0.971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0.723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0.829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252573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0.676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0.971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0.607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0.747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50272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0.788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0.914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0.727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0.810 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2815836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9D3EA2F4-E550-86A8-3779-C37F93A7B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839" y="4163337"/>
            <a:ext cx="32621324" cy="133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 dirty="0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F303340A-B3BF-199B-7023-8D8EF67395C4}"/>
              </a:ext>
            </a:extLst>
          </p:cNvPr>
          <p:cNvSpPr txBox="1"/>
          <p:nvPr/>
        </p:nvSpPr>
        <p:spPr>
          <a:xfrm>
            <a:off x="2396308" y="8763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Altri approcci utilizzati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1D3495-F83B-87DF-9F52-AC23466638C2}"/>
              </a:ext>
            </a:extLst>
          </p:cNvPr>
          <p:cNvSpPr txBox="1"/>
          <p:nvPr/>
        </p:nvSpPr>
        <p:spPr>
          <a:xfrm>
            <a:off x="609600" y="1835884"/>
            <a:ext cx="84582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Poppins" pitchFamily="2" charset="77"/>
                <a:cs typeface="Poppins" pitchFamily="2" charset="77"/>
              </a:rPr>
              <a:t>Combinazione tra caratteristiche acustiche e </a:t>
            </a:r>
            <a:r>
              <a:rPr lang="it-IT" sz="3000" b="1" dirty="0" err="1">
                <a:latin typeface="Poppins" pitchFamily="2" charset="77"/>
                <a:cs typeface="Poppins" pitchFamily="2" charset="77"/>
              </a:rPr>
              <a:t>embadding</a:t>
            </a:r>
            <a:r>
              <a:rPr lang="it-IT" sz="3000" b="1" dirty="0">
                <a:latin typeface="Poppins" pitchFamily="2" charset="77"/>
                <a:cs typeface="Poppins" pitchFamily="2" charset="77"/>
              </a:rPr>
              <a:t> GPT-3:</a:t>
            </a:r>
          </a:p>
          <a:p>
            <a:r>
              <a:rPr lang="it-IT" sz="2000" dirty="0">
                <a:latin typeface="Poppins" pitchFamily="2" charset="77"/>
                <a:cs typeface="Poppins" pitchFamily="2" charset="77"/>
              </a:rPr>
              <a:t>Concateniamo le caratteristiche acustiche con gli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testuali 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CAB347-DDED-0DC0-1E4A-FCA6B0ABEE3B}"/>
              </a:ext>
            </a:extLst>
          </p:cNvPr>
          <p:cNvSpPr txBox="1"/>
          <p:nvPr/>
        </p:nvSpPr>
        <p:spPr>
          <a:xfrm>
            <a:off x="828770" y="7887725"/>
            <a:ext cx="16197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Poppins" pitchFamily="2" charset="77"/>
                <a:cs typeface="Poppins" pitchFamily="2" charset="77"/>
              </a:rPr>
              <a:t>Osserviamo solo un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miglioramento marginale 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delle prestazioni di classificazione nella validazione incrociata a 10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fold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, mentre non si osservano differenze significative nella previsione sul set di test in termini di accuratezza e F1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2AFA80-33FC-3A22-F97E-411E8141F332}"/>
              </a:ext>
            </a:extLst>
          </p:cNvPr>
          <p:cNvSpPr txBox="1"/>
          <p:nvPr/>
        </p:nvSpPr>
        <p:spPr>
          <a:xfrm>
            <a:off x="10134600" y="3467100"/>
            <a:ext cx="422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>
                <a:latin typeface="Poppins" pitchFamily="2" charset="77"/>
                <a:cs typeface="Poppins" pitchFamily="2" charset="77"/>
              </a:rPr>
              <a:t>10-fold cross </a:t>
            </a:r>
            <a:r>
              <a:rPr lang="it-IT" sz="2500" b="1" dirty="0" err="1">
                <a:latin typeface="Poppins" pitchFamily="2" charset="77"/>
                <a:cs typeface="Poppins" pitchFamily="2" charset="77"/>
              </a:rPr>
              <a:t>validation</a:t>
            </a:r>
            <a:r>
              <a:rPr lang="it-IT" sz="2500" b="1" dirty="0">
                <a:latin typeface="Poppins" pitchFamily="2" charset="77"/>
                <a:cs typeface="Poppins" pitchFamily="2" charset="77"/>
              </a:rPr>
              <a:t>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A29EF5-664E-64C6-C4FE-AB8E91AF680F}"/>
              </a:ext>
            </a:extLst>
          </p:cNvPr>
          <p:cNvSpPr txBox="1"/>
          <p:nvPr/>
        </p:nvSpPr>
        <p:spPr>
          <a:xfrm>
            <a:off x="10124110" y="5179803"/>
            <a:ext cx="422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>
                <a:latin typeface="Poppins" pitchFamily="2" charset="77"/>
                <a:cs typeface="Poppins" pitchFamily="2" charset="77"/>
              </a:rPr>
              <a:t>Test set: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7A6E7E0-4E33-8333-08D9-DF5387E71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013814"/>
              </p:ext>
            </p:extLst>
          </p:nvPr>
        </p:nvGraphicFramePr>
        <p:xfrm>
          <a:off x="10124110" y="5647291"/>
          <a:ext cx="740189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378">
                  <a:extLst>
                    <a:ext uri="{9D8B030D-6E8A-4147-A177-3AD203B41FA5}">
                      <a16:colId xmlns:a16="http://schemas.microsoft.com/office/drawing/2014/main" val="2676824071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304356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Embedding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32622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Babbage</a:t>
                      </a:r>
                    </a:p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54868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63E1C6B2-A3E0-9062-24E6-4D64C6FA5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237052"/>
              </p:ext>
            </p:extLst>
          </p:nvPr>
        </p:nvGraphicFramePr>
        <p:xfrm>
          <a:off x="10124110" y="4030881"/>
          <a:ext cx="740189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378">
                  <a:extLst>
                    <a:ext uri="{9D8B030D-6E8A-4147-A177-3AD203B41FA5}">
                      <a16:colId xmlns:a16="http://schemas.microsoft.com/office/drawing/2014/main" val="2676824071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304356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Embedding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32622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Babbage</a:t>
                      </a:r>
                    </a:p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0.809 (0.112)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0.843 (0.148)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0.811 (0.091)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0.818 (0.091)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54868"/>
                  </a:ext>
                </a:extLst>
              </a:tr>
            </a:tbl>
          </a:graphicData>
        </a:graphic>
      </p:graphicFrame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36BE1691-E28F-59B6-A6D7-8FC33DE01AD3}"/>
              </a:ext>
            </a:extLst>
          </p:cNvPr>
          <p:cNvCxnSpPr>
            <a:cxnSpLocks/>
          </p:cNvCxnSpPr>
          <p:nvPr/>
        </p:nvCxnSpPr>
        <p:spPr>
          <a:xfrm>
            <a:off x="9637602" y="2019300"/>
            <a:ext cx="0" cy="5562600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FC42E74-4585-2FB9-91D6-05F9EFAEF2EE}"/>
              </a:ext>
            </a:extLst>
          </p:cNvPr>
          <p:cNvSpPr txBox="1"/>
          <p:nvPr/>
        </p:nvSpPr>
        <p:spPr>
          <a:xfrm>
            <a:off x="9906000" y="2456646"/>
            <a:ext cx="33580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2500" b="1" dirty="0">
                <a:latin typeface="Poppins" pitchFamily="2" charset="77"/>
                <a:cs typeface="Poppins" pitchFamily="2" charset="77"/>
              </a:rPr>
              <a:t> GPT-3: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15C35237-3EFB-DD15-4124-0DEB7AC86113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C8002FCB-424A-1692-2C4F-0D60E764464B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582B985C-FA3B-0355-57C2-8B046D85FC5E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99923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AD8A7-915E-EF19-9338-1F204339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AACE4738-E79E-44F0-1970-77A968E4A3CF}"/>
              </a:ext>
            </a:extLst>
          </p:cNvPr>
          <p:cNvSpPr txBox="1"/>
          <p:nvPr/>
        </p:nvSpPr>
        <p:spPr>
          <a:xfrm>
            <a:off x="1392890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D1A72065-818E-31B7-B2B7-2597345FA6C9}"/>
              </a:ext>
            </a:extLst>
          </p:cNvPr>
          <p:cNvSpPr txBox="1"/>
          <p:nvPr/>
        </p:nvSpPr>
        <p:spPr>
          <a:xfrm>
            <a:off x="16683891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F623F93F-1687-9BB6-CE9A-356A71B64CF4}"/>
              </a:ext>
            </a:extLst>
          </p:cNvPr>
          <p:cNvSpPr txBox="1"/>
          <p:nvPr/>
        </p:nvSpPr>
        <p:spPr>
          <a:xfrm>
            <a:off x="2396308" y="1333500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Altri approcci utilizzati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5310502-0E93-910A-EC0F-D9A7B0CCF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790957"/>
              </p:ext>
            </p:extLst>
          </p:nvPr>
        </p:nvGraphicFramePr>
        <p:xfrm>
          <a:off x="980111" y="4535238"/>
          <a:ext cx="7401889" cy="16750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9641">
                  <a:extLst>
                    <a:ext uri="{9D8B030D-6E8A-4147-A177-3AD203B41FA5}">
                      <a16:colId xmlns:a16="http://schemas.microsoft.com/office/drawing/2014/main" val="447738757"/>
                    </a:ext>
                  </a:extLst>
                </a:gridCol>
                <a:gridCol w="1480562">
                  <a:extLst>
                    <a:ext uri="{9D8B030D-6E8A-4147-A177-3AD203B41FA5}">
                      <a16:colId xmlns:a16="http://schemas.microsoft.com/office/drawing/2014/main" val="2725753527"/>
                    </a:ext>
                  </a:extLst>
                </a:gridCol>
                <a:gridCol w="1480562">
                  <a:extLst>
                    <a:ext uri="{9D8B030D-6E8A-4147-A177-3AD203B41FA5}">
                      <a16:colId xmlns:a16="http://schemas.microsoft.com/office/drawing/2014/main" val="2553626669"/>
                    </a:ext>
                  </a:extLst>
                </a:gridCol>
                <a:gridCol w="1480562">
                  <a:extLst>
                    <a:ext uri="{9D8B030D-6E8A-4147-A177-3AD203B41FA5}">
                      <a16:colId xmlns:a16="http://schemas.microsoft.com/office/drawing/2014/main" val="1869186805"/>
                    </a:ext>
                  </a:extLst>
                </a:gridCol>
                <a:gridCol w="1480562">
                  <a:extLst>
                    <a:ext uri="{9D8B030D-6E8A-4147-A177-3AD203B41FA5}">
                      <a16:colId xmlns:a16="http://schemas.microsoft.com/office/drawing/2014/main" val="3612481183"/>
                    </a:ext>
                  </a:extLst>
                </a:gridCol>
              </a:tblGrid>
              <a:tr h="53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Tipo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 err="1">
                          <a:effectLst/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5845"/>
                  </a:ext>
                </a:extLst>
              </a:tr>
              <a:tr h="53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10-fold CV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0.797 (0.058)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0.810 (0.127)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0.809 (0.071)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0.797 (0.105)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99052"/>
                  </a:ext>
                </a:extLst>
              </a:tr>
              <a:tr h="53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Test Set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0.803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0.806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0.806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0.806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2525732"/>
                  </a:ext>
                </a:extLst>
              </a:tr>
            </a:tbl>
          </a:graphicData>
        </a:graphic>
      </p:graphicFrame>
      <p:grpSp>
        <p:nvGrpSpPr>
          <p:cNvPr id="10" name="Gruppo 9">
            <a:extLst>
              <a:ext uri="{FF2B5EF4-FFF2-40B4-BE49-F238E27FC236}">
                <a16:creationId xmlns:a16="http://schemas.microsoft.com/office/drawing/2014/main" id="{018EFEE0-F93C-7950-FED3-C78E79CF5FBB}"/>
              </a:ext>
            </a:extLst>
          </p:cNvPr>
          <p:cNvGrpSpPr/>
          <p:nvPr/>
        </p:nvGrpSpPr>
        <p:grpSpPr>
          <a:xfrm>
            <a:off x="968388" y="2668318"/>
            <a:ext cx="16365342" cy="5079542"/>
            <a:chOff x="1023480" y="2668318"/>
            <a:chExt cx="16365342" cy="5079542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F90FBE2F-C4B9-D5AD-84A4-4E6714FB2AB2}"/>
                </a:ext>
              </a:extLst>
            </p:cNvPr>
            <p:cNvSpPr txBox="1"/>
            <p:nvPr/>
          </p:nvSpPr>
          <p:spPr>
            <a:xfrm>
              <a:off x="1023480" y="2668318"/>
              <a:ext cx="77184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000" b="1" dirty="0" err="1">
                  <a:latin typeface="Poppins" pitchFamily="2" charset="77"/>
                  <a:cs typeface="Poppins" pitchFamily="2" charset="77"/>
                </a:rPr>
                <a:t>Embedding</a:t>
              </a:r>
              <a:r>
                <a:rPr lang="it-IT" sz="3000" b="1" dirty="0">
                  <a:latin typeface="Poppins" pitchFamily="2" charset="77"/>
                  <a:cs typeface="Poppins" pitchFamily="2" charset="77"/>
                </a:rPr>
                <a:t> con GPT-3 fine-tuning:</a:t>
              </a:r>
            </a:p>
            <a:p>
              <a:r>
                <a:rPr lang="it-IT" sz="2500" dirty="0">
                  <a:latin typeface="Poppins" pitchFamily="2" charset="77"/>
                  <a:cs typeface="Poppins" pitchFamily="2" charset="77"/>
                </a:rPr>
                <a:t>Viene adattato GPT-3 Babbage con il dataset posseduto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9C91BD40-839A-852E-2D49-E6C3CEBA96EF}"/>
                </a:ext>
              </a:extLst>
            </p:cNvPr>
            <p:cNvSpPr txBox="1"/>
            <p:nvPr/>
          </p:nvSpPr>
          <p:spPr>
            <a:xfrm>
              <a:off x="1166449" y="7270806"/>
              <a:ext cx="16222373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500" dirty="0">
                  <a:latin typeface="Poppins" pitchFamily="2" charset="77"/>
                  <a:cs typeface="Poppins" pitchFamily="2" charset="77"/>
                </a:rPr>
                <a:t>Si evince che il modello ottimizzato è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inferiore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alle incorporazioni testuali basate su GPT-3</a:t>
              </a: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809AC7-AE88-CF1C-17A9-86E491448373}"/>
              </a:ext>
            </a:extLst>
          </p:cNvPr>
          <p:cNvSpPr txBox="1"/>
          <p:nvPr/>
        </p:nvSpPr>
        <p:spPr>
          <a:xfrm>
            <a:off x="9677400" y="3390900"/>
            <a:ext cx="422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>
                <a:latin typeface="Poppins" pitchFamily="2" charset="77"/>
                <a:cs typeface="Poppins" pitchFamily="2" charset="77"/>
              </a:rPr>
              <a:t>10-fold cross </a:t>
            </a:r>
            <a:r>
              <a:rPr lang="it-IT" sz="2500" b="1" dirty="0" err="1">
                <a:latin typeface="Poppins" pitchFamily="2" charset="77"/>
                <a:cs typeface="Poppins" pitchFamily="2" charset="77"/>
              </a:rPr>
              <a:t>validation</a:t>
            </a:r>
            <a:r>
              <a:rPr lang="it-IT" sz="2500" b="1" dirty="0">
                <a:latin typeface="Poppins" pitchFamily="2" charset="77"/>
                <a:cs typeface="Poppins" pitchFamily="2" charset="77"/>
              </a:rPr>
              <a:t>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4A876C5-C0DE-3370-B7DF-444C8177B023}"/>
              </a:ext>
            </a:extLst>
          </p:cNvPr>
          <p:cNvSpPr txBox="1"/>
          <p:nvPr/>
        </p:nvSpPr>
        <p:spPr>
          <a:xfrm>
            <a:off x="9706708" y="5103603"/>
            <a:ext cx="422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>
                <a:latin typeface="Poppins" pitchFamily="2" charset="77"/>
                <a:cs typeface="Poppins" pitchFamily="2" charset="77"/>
              </a:rPr>
              <a:t>Test set: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9AAE844-45B5-E529-EA11-C456E141D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67024"/>
              </p:ext>
            </p:extLst>
          </p:nvPr>
        </p:nvGraphicFramePr>
        <p:xfrm>
          <a:off x="9706708" y="5571091"/>
          <a:ext cx="740189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378">
                  <a:extLst>
                    <a:ext uri="{9D8B030D-6E8A-4147-A177-3AD203B41FA5}">
                      <a16:colId xmlns:a16="http://schemas.microsoft.com/office/drawing/2014/main" val="2676824071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304356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Embedding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32622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Babbage</a:t>
                      </a:r>
                    </a:p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SVC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54868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C6246BA7-0F10-7C62-3FB0-CEDBB8EE3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36099"/>
              </p:ext>
            </p:extLst>
          </p:nvPr>
        </p:nvGraphicFramePr>
        <p:xfrm>
          <a:off x="9706708" y="3954681"/>
          <a:ext cx="740189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378">
                  <a:extLst>
                    <a:ext uri="{9D8B030D-6E8A-4147-A177-3AD203B41FA5}">
                      <a16:colId xmlns:a16="http://schemas.microsoft.com/office/drawing/2014/main" val="2676824071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53702873"/>
                    </a:ext>
                  </a:extLst>
                </a:gridCol>
                <a:gridCol w="1480378">
                  <a:extLst>
                    <a:ext uri="{9D8B030D-6E8A-4147-A177-3AD203B41FA5}">
                      <a16:colId xmlns:a16="http://schemas.microsoft.com/office/drawing/2014/main" val="3626978628"/>
                    </a:ext>
                  </a:extLst>
                </a:gridCol>
              </a:tblGrid>
              <a:tr h="304356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Embedding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7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Precision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Recall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F1</a:t>
                      </a:r>
                    </a:p>
                  </a:txBody>
                  <a:tcPr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32622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Babbage</a:t>
                      </a:r>
                    </a:p>
                    <a:p>
                      <a:pPr algn="ctr"/>
                      <a:r>
                        <a:rPr lang="it-IT" sz="1700" dirty="0">
                          <a:latin typeface="Poppins" pitchFamily="2" charset="77"/>
                          <a:cs typeface="Poppins" pitchFamily="2" charset="77"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0.809 (0.112)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0.843 (0.148)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0.811 (0.091)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b="0" dirty="0">
                          <a:latin typeface="Poppins" pitchFamily="2" charset="77"/>
                          <a:cs typeface="Poppins" pitchFamily="2" charset="77"/>
                        </a:rPr>
                        <a:t>0.818 (0.091)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54868"/>
                  </a:ext>
                </a:extLst>
              </a:tr>
            </a:tbl>
          </a:graphicData>
        </a:graphic>
      </p:graphicFrame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C705BE8F-829F-EBBD-9BB4-581A9DF49935}"/>
              </a:ext>
            </a:extLst>
          </p:cNvPr>
          <p:cNvCxnSpPr>
            <a:cxnSpLocks/>
          </p:cNvCxnSpPr>
          <p:nvPr/>
        </p:nvCxnSpPr>
        <p:spPr>
          <a:xfrm>
            <a:off x="8991600" y="2582318"/>
            <a:ext cx="0" cy="4299120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0847E36-88F2-7E3C-20FB-53E798980907}"/>
              </a:ext>
            </a:extLst>
          </p:cNvPr>
          <p:cNvSpPr txBox="1"/>
          <p:nvPr/>
        </p:nvSpPr>
        <p:spPr>
          <a:xfrm>
            <a:off x="9448800" y="2668318"/>
            <a:ext cx="33580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2500" b="1" dirty="0">
                <a:latin typeface="Poppins" pitchFamily="2" charset="77"/>
                <a:cs typeface="Poppins" pitchFamily="2" charset="77"/>
              </a:rPr>
              <a:t> GPT-3:</a:t>
            </a: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EDDFEC9E-EE34-F925-814F-D3FBBF5DF417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38D263EE-4445-3858-B600-A7094C093D5C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24" name="Freeform 4">
              <a:extLst>
                <a:ext uri="{FF2B5EF4-FFF2-40B4-BE49-F238E27FC236}">
                  <a16:creationId xmlns:a16="http://schemas.microsoft.com/office/drawing/2014/main" id="{37F6376E-7AD5-1AB6-2D9F-B83965B5CB7E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504521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0C331-5799-6F6A-47C4-1334F1F8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59437B4C-7B37-09B8-6423-7451247992FB}"/>
              </a:ext>
            </a:extLst>
          </p:cNvPr>
          <p:cNvSpPr txBox="1"/>
          <p:nvPr/>
        </p:nvSpPr>
        <p:spPr>
          <a:xfrm>
            <a:off x="1392890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0FEF38B5-D12F-78B9-5E1D-5E5BBAFB61F3}"/>
              </a:ext>
            </a:extLst>
          </p:cNvPr>
          <p:cNvSpPr txBox="1"/>
          <p:nvPr/>
        </p:nvSpPr>
        <p:spPr>
          <a:xfrm>
            <a:off x="16683891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EA22DEB-1BC2-8FD6-D790-BAA2CEA2EE81}"/>
              </a:ext>
            </a:extLst>
          </p:cNvPr>
          <p:cNvGrpSpPr/>
          <p:nvPr/>
        </p:nvGrpSpPr>
        <p:grpSpPr>
          <a:xfrm>
            <a:off x="1032814" y="1790700"/>
            <a:ext cx="16222373" cy="6592500"/>
            <a:chOff x="977720" y="1753800"/>
            <a:chExt cx="16222373" cy="6592500"/>
          </a:xfrm>
        </p:grpSpPr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4F60CADE-3B8B-FC34-88AA-DC43C90167B4}"/>
                </a:ext>
              </a:extLst>
            </p:cNvPr>
            <p:cNvSpPr txBox="1"/>
            <p:nvPr/>
          </p:nvSpPr>
          <p:spPr>
            <a:xfrm>
              <a:off x="2396308" y="1753800"/>
              <a:ext cx="13495384" cy="894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900"/>
                </a:lnSpc>
              </a:pPr>
              <a:r>
                <a:rPr lang="it-IT" sz="6000" b="1" noProof="0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Predizione del punteggio MMSE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791FD70-7A1A-5F36-12B6-0916DB079643}"/>
                </a:ext>
              </a:extLst>
            </p:cNvPr>
            <p:cNvSpPr txBox="1"/>
            <p:nvPr/>
          </p:nvSpPr>
          <p:spPr>
            <a:xfrm>
              <a:off x="977720" y="2859701"/>
              <a:ext cx="16222373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500" dirty="0">
                  <a:latin typeface="Poppins" pitchFamily="2" charset="77"/>
                  <a:cs typeface="Poppins" pitchFamily="2" charset="77"/>
                </a:rPr>
                <a:t>Il punteggio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MMSE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(Mini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Mental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State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Examination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) è una delle misure più utilizzate per valutare la gravità dell’Alzheimer, generalmente varia da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0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(demenza grave) a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30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(normale).</a:t>
              </a:r>
            </a:p>
            <a:p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r>
                <a:rPr lang="it-IT" sz="2500" dirty="0">
                  <a:latin typeface="Poppins" pitchFamily="2" charset="77"/>
                  <a:cs typeface="Poppins" pitchFamily="2" charset="77"/>
                </a:rPr>
                <a:t>Viene eseguita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un’analisi di regressione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con 3 diversi modelli:</a:t>
              </a:r>
            </a:p>
          </p:txBody>
        </p:sp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5F0004CC-3EC9-DB5A-5216-BDFDC252B85B}"/>
                </a:ext>
              </a:extLst>
            </p:cNvPr>
            <p:cNvSpPr/>
            <p:nvPr/>
          </p:nvSpPr>
          <p:spPr>
            <a:xfrm>
              <a:off x="1714500" y="4839900"/>
              <a:ext cx="3810000" cy="3506400"/>
            </a:xfrm>
            <a:prstGeom prst="roundRect">
              <a:avLst/>
            </a:prstGeom>
            <a:solidFill>
              <a:srgbClr val="1C3F60"/>
            </a:solidFill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3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SVR</a:t>
              </a:r>
            </a:p>
            <a:p>
              <a:pPr algn="ctr"/>
              <a:endParaRPr lang="it-IT" sz="2000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it-IT" sz="2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Support </a:t>
              </a:r>
              <a:r>
                <a:rPr lang="it-IT" sz="2000" b="1" dirty="0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Vector</a:t>
              </a:r>
              <a:r>
                <a:rPr lang="it-IT" sz="2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 </a:t>
              </a:r>
            </a:p>
            <a:p>
              <a:pPr algn="ctr"/>
              <a:r>
                <a:rPr lang="it-IT" sz="2000" b="1" dirty="0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Regression</a:t>
              </a:r>
              <a:endParaRPr lang="it-IT" sz="2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7" name="Rettangolo con angoli arrotondati 6">
              <a:extLst>
                <a:ext uri="{FF2B5EF4-FFF2-40B4-BE49-F238E27FC236}">
                  <a16:creationId xmlns:a16="http://schemas.microsoft.com/office/drawing/2014/main" id="{91A8CAD4-7CF3-2991-C848-CCE4AE8B64DA}"/>
                </a:ext>
              </a:extLst>
            </p:cNvPr>
            <p:cNvSpPr/>
            <p:nvPr/>
          </p:nvSpPr>
          <p:spPr>
            <a:xfrm>
              <a:off x="7239000" y="4839900"/>
              <a:ext cx="3810000" cy="3506400"/>
            </a:xfrm>
            <a:prstGeom prst="roundRect">
              <a:avLst/>
            </a:prstGeom>
            <a:solidFill>
              <a:srgbClr val="1C3F60"/>
            </a:solidFill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3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Ridge</a:t>
              </a:r>
            </a:p>
            <a:p>
              <a:pPr algn="ctr"/>
              <a:endParaRPr lang="it-IT" sz="2400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it-IT" sz="2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Ridge </a:t>
              </a:r>
              <a:r>
                <a:rPr lang="it-IT" sz="2000" b="1" dirty="0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Regression</a:t>
              </a:r>
              <a:endParaRPr lang="it-IT" sz="2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it-IT" dirty="0"/>
            </a:p>
          </p:txBody>
        </p:sp>
        <p:sp>
          <p:nvSpPr>
            <p:cNvPr id="8" name="Rettangolo con angoli arrotondati 7">
              <a:extLst>
                <a:ext uri="{FF2B5EF4-FFF2-40B4-BE49-F238E27FC236}">
                  <a16:creationId xmlns:a16="http://schemas.microsoft.com/office/drawing/2014/main" id="{C72AE68F-1118-B5F8-4C8E-E91445EFE0CF}"/>
                </a:ext>
              </a:extLst>
            </p:cNvPr>
            <p:cNvSpPr/>
            <p:nvPr/>
          </p:nvSpPr>
          <p:spPr>
            <a:xfrm>
              <a:off x="12763500" y="4838700"/>
              <a:ext cx="3810000" cy="3506400"/>
            </a:xfrm>
            <a:prstGeom prst="roundRect">
              <a:avLst/>
            </a:prstGeom>
            <a:solidFill>
              <a:srgbClr val="1C3F60"/>
            </a:solidFill>
            <a:ln>
              <a:noFill/>
            </a:ln>
            <a:effectLst>
              <a:outerShdw blurRad="398620" dist="128409" dir="1620000" sx="100904" sy="100904" algn="l" rotWithShape="0">
                <a:prstClr val="black">
                  <a:alpha val="7485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3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RFR</a:t>
              </a:r>
            </a:p>
            <a:p>
              <a:pPr algn="ctr"/>
              <a:endParaRPr lang="it-IT" sz="2400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it-IT" sz="2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Random </a:t>
              </a:r>
              <a:r>
                <a:rPr lang="it-IT" sz="2000" b="1" dirty="0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Forest</a:t>
              </a:r>
              <a:r>
                <a:rPr lang="it-IT" sz="2000" b="1" dirty="0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it-IT" sz="2000" b="1" dirty="0" err="1">
                  <a:solidFill>
                    <a:srgbClr val="EDEEEF"/>
                  </a:solidFill>
                  <a:latin typeface="Poppins" pitchFamily="2" charset="77"/>
                  <a:cs typeface="Poppins" pitchFamily="2" charset="77"/>
                </a:rPr>
                <a:t>Regressor</a:t>
              </a:r>
              <a:endParaRPr lang="it-IT" sz="2000" b="1" dirty="0">
                <a:solidFill>
                  <a:srgbClr val="EDEEEF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9" name="Connettore 1 8">
              <a:extLst>
                <a:ext uri="{FF2B5EF4-FFF2-40B4-BE49-F238E27FC236}">
                  <a16:creationId xmlns:a16="http://schemas.microsoft.com/office/drawing/2014/main" id="{06EC286F-3817-345F-E202-8AB03D443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6480473"/>
              <a:ext cx="1779770" cy="0"/>
            </a:xfrm>
            <a:prstGeom prst="line">
              <a:avLst/>
            </a:prstGeom>
            <a:ln w="28575">
              <a:solidFill>
                <a:srgbClr val="EDEE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9">
              <a:extLst>
                <a:ext uri="{FF2B5EF4-FFF2-40B4-BE49-F238E27FC236}">
                  <a16:creationId xmlns:a16="http://schemas.microsoft.com/office/drawing/2014/main" id="{211FD665-2605-1000-F190-F59B9F3D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4114" y="6480473"/>
              <a:ext cx="1779770" cy="0"/>
            </a:xfrm>
            <a:prstGeom prst="line">
              <a:avLst/>
            </a:prstGeom>
            <a:ln w="28575">
              <a:solidFill>
                <a:srgbClr val="EDEE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0">
              <a:extLst>
                <a:ext uri="{FF2B5EF4-FFF2-40B4-BE49-F238E27FC236}">
                  <a16:creationId xmlns:a16="http://schemas.microsoft.com/office/drawing/2014/main" id="{6CA9BB46-5699-35B8-5AB8-2EE36FCB5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92200" y="6468647"/>
              <a:ext cx="1779770" cy="0"/>
            </a:xfrm>
            <a:prstGeom prst="line">
              <a:avLst/>
            </a:prstGeom>
            <a:ln w="28575">
              <a:solidFill>
                <a:srgbClr val="EDEE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EDE5342B-1C53-30B2-EB72-7FBE5FB93C1B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D2F4887B-F532-347A-E946-9204EE6CD8B1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ADD29BE-9929-F759-A9B7-175E5E113B82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171329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D409B-A0E4-E35A-A368-09F276A1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F87239E4-99F0-593E-38E3-E63E8DA7263B}"/>
              </a:ext>
            </a:extLst>
          </p:cNvPr>
          <p:cNvSpPr txBox="1"/>
          <p:nvPr/>
        </p:nvSpPr>
        <p:spPr>
          <a:xfrm>
            <a:off x="1392890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003BBB0-F7BA-5E62-3567-31C5707E963E}"/>
              </a:ext>
            </a:extLst>
          </p:cNvPr>
          <p:cNvSpPr txBox="1"/>
          <p:nvPr/>
        </p:nvSpPr>
        <p:spPr>
          <a:xfrm>
            <a:off x="16683891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17/19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2DB9239F-D657-A4ED-3F3F-A809F9D24D9F}"/>
              </a:ext>
            </a:extLst>
          </p:cNvPr>
          <p:cNvSpPr txBox="1"/>
          <p:nvPr/>
        </p:nvSpPr>
        <p:spPr>
          <a:xfrm>
            <a:off x="2401229" y="1403776"/>
            <a:ext cx="13495384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it-IT" sz="6000" b="1" noProof="0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Risultati del punteggio MMSE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82971FD-155B-D064-9BFC-CD3F8A9200F7}"/>
              </a:ext>
            </a:extLst>
          </p:cNvPr>
          <p:cNvSpPr txBox="1"/>
          <p:nvPr/>
        </p:nvSpPr>
        <p:spPr>
          <a:xfrm>
            <a:off x="1028331" y="2455754"/>
            <a:ext cx="79632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dirty="0">
                <a:latin typeface="Poppins" pitchFamily="2" charset="77"/>
                <a:cs typeface="Poppins" pitchFamily="2" charset="77"/>
              </a:rPr>
              <a:t>I risultati vengono riportati come errore </a:t>
            </a:r>
          </a:p>
          <a:p>
            <a:r>
              <a:rPr lang="it-IT" sz="2500" dirty="0">
                <a:latin typeface="Poppins" pitchFamily="2" charset="77"/>
                <a:cs typeface="Poppins" pitchFamily="2" charset="77"/>
              </a:rPr>
              <a:t>quadratico medio (RMSE):</a:t>
            </a:r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4B573D55-2FA5-B5E2-1940-9A81C6855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61528"/>
              </p:ext>
            </p:extLst>
          </p:nvPr>
        </p:nvGraphicFramePr>
        <p:xfrm>
          <a:off x="2401477" y="4005183"/>
          <a:ext cx="5675723" cy="3729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515">
                  <a:extLst>
                    <a:ext uri="{9D8B030D-6E8A-4147-A177-3AD203B41FA5}">
                      <a16:colId xmlns:a16="http://schemas.microsoft.com/office/drawing/2014/main" val="447738757"/>
                    </a:ext>
                  </a:extLst>
                </a:gridCol>
                <a:gridCol w="1891515">
                  <a:extLst>
                    <a:ext uri="{9D8B030D-6E8A-4147-A177-3AD203B41FA5}">
                      <a16:colId xmlns:a16="http://schemas.microsoft.com/office/drawing/2014/main" val="2531188916"/>
                    </a:ext>
                  </a:extLst>
                </a:gridCol>
                <a:gridCol w="1892693">
                  <a:extLst>
                    <a:ext uri="{9D8B030D-6E8A-4147-A177-3AD203B41FA5}">
                      <a16:colId xmlns:a16="http://schemas.microsoft.com/office/drawing/2014/main" val="3612481183"/>
                    </a:ext>
                  </a:extLst>
                </a:gridCol>
              </a:tblGrid>
              <a:tr h="53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Tipo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RMSE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5845"/>
                  </a:ext>
                </a:extLst>
              </a:tr>
              <a:tr h="53273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10-fold CV</a:t>
                      </a: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7.049 (2.355)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9905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Ridge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6.768 (1.524)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1985723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6.901 (1.534)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010240"/>
                  </a:ext>
                </a:extLst>
              </a:tr>
              <a:tr h="53273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Test Set</a:t>
                      </a: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6.285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252573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Ridge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6.250</a:t>
                      </a:r>
                      <a:endParaRPr lang="it-IT" sz="2000" b="1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50272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6.434 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2815836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22955A5-3A96-8692-AA5F-33847B2AB34B}"/>
              </a:ext>
            </a:extLst>
          </p:cNvPr>
          <p:cNvSpPr txBox="1"/>
          <p:nvPr/>
        </p:nvSpPr>
        <p:spPr>
          <a:xfrm>
            <a:off x="1397620" y="3485245"/>
            <a:ext cx="4605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>
                <a:latin typeface="Poppins" pitchFamily="2" charset="77"/>
                <a:cs typeface="Poppins" pitchFamily="2" charset="77"/>
              </a:rPr>
              <a:t>Caratteristiche acustiche:</a:t>
            </a:r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D6B87C95-335B-7484-6607-8E826768EC9B}"/>
              </a:ext>
            </a:extLst>
          </p:cNvPr>
          <p:cNvCxnSpPr>
            <a:cxnSpLocks/>
          </p:cNvCxnSpPr>
          <p:nvPr/>
        </p:nvCxnSpPr>
        <p:spPr>
          <a:xfrm>
            <a:off x="9144000" y="3547983"/>
            <a:ext cx="0" cy="6319917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F2DCBC5-96BF-7DD0-424E-8E994088330F}"/>
              </a:ext>
            </a:extLst>
          </p:cNvPr>
          <p:cNvSpPr txBox="1"/>
          <p:nvPr/>
        </p:nvSpPr>
        <p:spPr>
          <a:xfrm>
            <a:off x="9495497" y="2406771"/>
            <a:ext cx="4605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500" b="1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2500" b="1" dirty="0">
                <a:latin typeface="Poppins" pitchFamily="2" charset="77"/>
                <a:cs typeface="Poppins" pitchFamily="2" charset="77"/>
              </a:rPr>
              <a:t> GPT-3:</a:t>
            </a:r>
          </a:p>
        </p:txBody>
      </p: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DA095078-BAC7-C157-39F0-B2455BE54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908700"/>
              </p:ext>
            </p:extLst>
          </p:nvPr>
        </p:nvGraphicFramePr>
        <p:xfrm>
          <a:off x="9949830" y="3009900"/>
          <a:ext cx="7187332" cy="690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5043">
                  <a:extLst>
                    <a:ext uri="{9D8B030D-6E8A-4147-A177-3AD203B41FA5}">
                      <a16:colId xmlns:a16="http://schemas.microsoft.com/office/drawing/2014/main" val="447738757"/>
                    </a:ext>
                  </a:extLst>
                </a:gridCol>
                <a:gridCol w="1715043">
                  <a:extLst>
                    <a:ext uri="{9D8B030D-6E8A-4147-A177-3AD203B41FA5}">
                      <a16:colId xmlns:a16="http://schemas.microsoft.com/office/drawing/2014/main" val="3274621026"/>
                    </a:ext>
                  </a:extLst>
                </a:gridCol>
                <a:gridCol w="1715043">
                  <a:extLst>
                    <a:ext uri="{9D8B030D-6E8A-4147-A177-3AD203B41FA5}">
                      <a16:colId xmlns:a16="http://schemas.microsoft.com/office/drawing/2014/main" val="2531188916"/>
                    </a:ext>
                  </a:extLst>
                </a:gridCol>
                <a:gridCol w="2042203">
                  <a:extLst>
                    <a:ext uri="{9D8B030D-6E8A-4147-A177-3AD203B41FA5}">
                      <a16:colId xmlns:a16="http://schemas.microsoft.com/office/drawing/2014/main" val="3612481183"/>
                    </a:ext>
                  </a:extLst>
                </a:gridCol>
              </a:tblGrid>
              <a:tr h="515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Tipo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 err="1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Embedding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Modello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RMSE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5845"/>
                  </a:ext>
                </a:extLst>
              </a:tr>
              <a:tr h="532731">
                <a:tc row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10-fold CV</a:t>
                      </a: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Ada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6.097 (2.057)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9905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Ridge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6.058 (1.298)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1985723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6.300 (1.129)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376008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Babbage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5.976 (1.173)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2056449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Ridge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5.843 (1.037)</a:t>
                      </a: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443494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6.330 (1.032)</a:t>
                      </a: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010240"/>
                  </a:ext>
                </a:extLst>
              </a:tr>
              <a:tr h="532731">
                <a:tc row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solidFill>
                            <a:srgbClr val="0B1320"/>
                          </a:solidFill>
                          <a:effectLst/>
                          <a:latin typeface="Poppins" pitchFamily="2" charset="77"/>
                          <a:cs typeface="Poppins" pitchFamily="2" charset="77"/>
                        </a:rPr>
                        <a:t>Test Set</a:t>
                      </a: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Ada</a:t>
                      </a: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5.6307</a:t>
                      </a: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52573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Ridge</a:t>
                      </a: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5.8735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502722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6.0010 </a:t>
                      </a:r>
                      <a:endParaRPr lang="it-IT" sz="2000" b="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815836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solidFill>
                          <a:srgbClr val="0B1320"/>
                        </a:solidFill>
                        <a:effectLst/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Babbage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SVR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5.4999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25885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solidFill>
                          <a:srgbClr val="0B1320"/>
                        </a:solidFill>
                        <a:effectLst/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Ridge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5.4645</a:t>
                      </a:r>
                    </a:p>
                  </a:txBody>
                  <a:tcPr marL="68580" marR="68580" marT="0" marB="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552356"/>
                  </a:ext>
                </a:extLst>
              </a:tr>
              <a:tr h="53273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solidFill>
                          <a:srgbClr val="0B1320"/>
                        </a:solidFill>
                        <a:effectLst/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kern="10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RFR</a:t>
                      </a:r>
                      <a:endParaRPr lang="it-IT" sz="2000" kern="100" dirty="0">
                        <a:effectLst/>
                        <a:latin typeface="Poppins" pitchFamily="2" charset="77"/>
                        <a:ea typeface="Calibri" panose="020F050202020403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0" kern="100" dirty="0">
                          <a:effectLst/>
                          <a:latin typeface="Poppins" pitchFamily="2" charset="77"/>
                          <a:ea typeface="Calibri" panose="020F0502020204030204" pitchFamily="34" charset="0"/>
                          <a:cs typeface="Poppins" pitchFamily="2" charset="77"/>
                        </a:rPr>
                        <a:t>5.8142</a:t>
                      </a: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412232"/>
                  </a:ext>
                </a:extLst>
              </a:tr>
            </a:tbl>
          </a:graphicData>
        </a:graphic>
      </p:graphicFrame>
      <p:grpSp>
        <p:nvGrpSpPr>
          <p:cNvPr id="29" name="Gruppo 28">
            <a:extLst>
              <a:ext uri="{FF2B5EF4-FFF2-40B4-BE49-F238E27FC236}">
                <a16:creationId xmlns:a16="http://schemas.microsoft.com/office/drawing/2014/main" id="{E12EDD10-938F-528C-F4A2-8E1BB86094FE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F3C216CC-A86F-2EA3-9EB8-510810A47457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F3EBFEF3-2D1D-9E8A-DDB1-A7CD445E44C8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878639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E222A-E29A-18C2-1752-264AA589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5589E134-D92A-FD65-F052-2777303F20B6}"/>
              </a:ext>
            </a:extLst>
          </p:cNvPr>
          <p:cNvSpPr txBox="1"/>
          <p:nvPr/>
        </p:nvSpPr>
        <p:spPr>
          <a:xfrm>
            <a:off x="1392890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3902B70-1EC4-7970-E53B-0020710A3FF4}"/>
              </a:ext>
            </a:extLst>
          </p:cNvPr>
          <p:cNvSpPr txBox="1"/>
          <p:nvPr/>
        </p:nvSpPr>
        <p:spPr>
          <a:xfrm>
            <a:off x="16683891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A8846BC-1400-3163-E80F-1C7A13D1FD19}"/>
              </a:ext>
            </a:extLst>
          </p:cNvPr>
          <p:cNvGrpSpPr/>
          <p:nvPr/>
        </p:nvGrpSpPr>
        <p:grpSpPr>
          <a:xfrm>
            <a:off x="975479" y="2036869"/>
            <a:ext cx="16337042" cy="6213262"/>
            <a:chOff x="975479" y="1902038"/>
            <a:chExt cx="16337042" cy="6213262"/>
          </a:xfrm>
        </p:grpSpPr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2555146A-A7E1-2772-153F-6609534FD6A4}"/>
                </a:ext>
              </a:extLst>
            </p:cNvPr>
            <p:cNvSpPr txBox="1"/>
            <p:nvPr/>
          </p:nvSpPr>
          <p:spPr>
            <a:xfrm>
              <a:off x="2388081" y="1902038"/>
              <a:ext cx="13495384" cy="894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900"/>
                </a:lnSpc>
              </a:pPr>
              <a:r>
                <a:rPr lang="it-IT" sz="6000" b="1" noProof="0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Riassumendo…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BE68CA16-722E-4B76-588C-367A4B7DE6DA}"/>
                </a:ext>
              </a:extLst>
            </p:cNvPr>
            <p:cNvSpPr txBox="1"/>
            <p:nvPr/>
          </p:nvSpPr>
          <p:spPr>
            <a:xfrm>
              <a:off x="975479" y="3791039"/>
              <a:ext cx="16337042" cy="4324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</a:rPr>
                <a:t>Gli </a:t>
              </a:r>
              <a:r>
                <a:rPr lang="it-IT" sz="2500" b="1" dirty="0" err="1">
                  <a:latin typeface="Poppins" pitchFamily="2" charset="77"/>
                  <a:cs typeface="Poppins" pitchFamily="2" charset="77"/>
                </a:rPr>
                <a:t>embedding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 di GPT-3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(Ada e Babbage) sono efficaci per: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</a:rPr>
                <a:t>Classificare soggetti affetti o meno da Alzheimer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</a:rPr>
                <a:t>Stimare il punteggio MMSE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</a:rPr>
                <a:t>Gli </a:t>
              </a:r>
              <a:r>
                <a:rPr lang="it-IT" sz="2500" b="1" dirty="0" err="1">
                  <a:latin typeface="Poppins" pitchFamily="2" charset="77"/>
                  <a:cs typeface="Poppins" pitchFamily="2" charset="77"/>
                </a:rPr>
                <a:t>embedding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 di GPT-3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superano le caratteristiche acustiche nei risultati di classificazione e regressione.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Babbage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ottiene performance migliori di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Ada 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in entrambe le situazioni (Classificazione, MMSE)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it-IT" sz="2500" b="1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</a:rPr>
                <a:t>Gli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embedding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superano anche i modelli </a:t>
              </a:r>
              <a:r>
                <a:rPr lang="it-IT" sz="2500" b="1" dirty="0">
                  <a:latin typeface="Poppins" pitchFamily="2" charset="77"/>
                  <a:cs typeface="Poppins" pitchFamily="2" charset="77"/>
                </a:rPr>
                <a:t>fine-</a:t>
              </a:r>
              <a:r>
                <a:rPr lang="it-IT" sz="2500" b="1" dirty="0" err="1">
                  <a:latin typeface="Poppins" pitchFamily="2" charset="77"/>
                  <a:cs typeface="Poppins" pitchFamily="2" charset="77"/>
                </a:rPr>
                <a:t>tuned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, in quanto hanno meno problemi di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overfitting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: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</a:rPr>
                <a:t>Essendo il dataset troppo piccolo</a:t>
              </a:r>
            </a:p>
          </p:txBody>
        </p:sp>
      </p:grpSp>
      <p:grpSp>
        <p:nvGrpSpPr>
          <p:cNvPr id="7" name="Gruppo 6">
            <a:extLst>
              <a:ext uri="{FF2B5EF4-FFF2-40B4-BE49-F238E27FC236}">
                <a16:creationId xmlns:a16="http://schemas.microsoft.com/office/drawing/2014/main" id="{C003D460-24F4-708F-4D27-CD2A5AB3F4D8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683B851-5A77-B290-8E05-DDD2E5378F13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5C1AC50-6AE5-CEDA-A032-4751648465C8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40730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4BBE3-2F95-F4EF-A2E9-EAF5FE2A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85FA6A80-E554-593F-A0AB-E82626ED3D03}"/>
              </a:ext>
            </a:extLst>
          </p:cNvPr>
          <p:cNvSpPr txBox="1"/>
          <p:nvPr/>
        </p:nvSpPr>
        <p:spPr>
          <a:xfrm>
            <a:off x="1392890" y="8906669"/>
            <a:ext cx="1989784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noProof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B03D94B-EB8A-5CB8-DC16-74EB5F1558DC}"/>
              </a:ext>
            </a:extLst>
          </p:cNvPr>
          <p:cNvSpPr txBox="1"/>
          <p:nvPr/>
        </p:nvSpPr>
        <p:spPr>
          <a:xfrm>
            <a:off x="16683891" y="8906669"/>
            <a:ext cx="681482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it-IT" sz="15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r>
              <a:rPr lang="it-IT" sz="1500" noProof="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/19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A8D4267-B086-FDB1-0306-14AB56F0C5EB}"/>
              </a:ext>
            </a:extLst>
          </p:cNvPr>
          <p:cNvGrpSpPr/>
          <p:nvPr/>
        </p:nvGrpSpPr>
        <p:grpSpPr>
          <a:xfrm>
            <a:off x="975479" y="2613950"/>
            <a:ext cx="16337042" cy="5059100"/>
            <a:chOff x="975479" y="2036869"/>
            <a:chExt cx="16337042" cy="5059100"/>
          </a:xfrm>
        </p:grpSpPr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462DD4E5-7123-88B1-4AB7-973C0FFEB49C}"/>
                </a:ext>
              </a:extLst>
            </p:cNvPr>
            <p:cNvSpPr txBox="1"/>
            <p:nvPr/>
          </p:nvSpPr>
          <p:spPr>
            <a:xfrm>
              <a:off x="2388081" y="2036869"/>
              <a:ext cx="13495384" cy="894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900"/>
                </a:lnSpc>
              </a:pPr>
              <a:r>
                <a:rPr lang="it-IT" sz="6000" b="1" noProof="0" dirty="0">
                  <a:solidFill>
                    <a:srgbClr val="0B13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Bibliografia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F468B853-E795-74E4-7A41-AE1941D40EE7}"/>
                </a:ext>
              </a:extLst>
            </p:cNvPr>
            <p:cNvSpPr txBox="1"/>
            <p:nvPr/>
          </p:nvSpPr>
          <p:spPr>
            <a:xfrm>
              <a:off x="975479" y="3925870"/>
              <a:ext cx="1633704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  <a:hlinkClick r:id="rId3"/>
                </a:rPr>
                <a:t>Predicting dementia from spontaneous speech using large language models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</a:t>
              </a:r>
            </a:p>
            <a:p>
              <a:r>
                <a:rPr lang="it-IT" sz="2500" dirty="0">
                  <a:latin typeface="Poppins" pitchFamily="2" charset="77"/>
                  <a:cs typeface="Poppins" pitchFamily="2" charset="77"/>
                </a:rPr>
                <a:t>    (Felix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Agbavor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,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Hualou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Liang) - </a:t>
              </a:r>
              <a:r>
                <a:rPr lang="it-IT" sz="2500" dirty="0" err="1">
                  <a:latin typeface="Poppins" pitchFamily="2" charset="77"/>
                  <a:cs typeface="Poppins" pitchFamily="2" charset="77"/>
                </a:rPr>
                <a:t>December</a:t>
              </a:r>
              <a:r>
                <a:rPr lang="it-IT" sz="2500" dirty="0">
                  <a:latin typeface="Poppins" pitchFamily="2" charset="77"/>
                  <a:cs typeface="Poppins" pitchFamily="2" charset="77"/>
                </a:rPr>
                <a:t> 22, 2022</a:t>
              </a:r>
            </a:p>
            <a:p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  <a:hlinkClick r:id="rId4"/>
                </a:rPr>
                <a:t>OpenAI – Vector embeddings</a:t>
              </a:r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  <a:hlinkClick r:id="rId5"/>
                </a:rPr>
                <a:t>Scikit-learn – Machine Learning models</a:t>
              </a:r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it-IT" sz="2500" dirty="0">
                <a:latin typeface="Poppins" pitchFamily="2" charset="77"/>
                <a:cs typeface="Poppins" pitchFamily="2" charset="7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2500" dirty="0">
                  <a:latin typeface="Poppins" pitchFamily="2" charset="77"/>
                  <a:cs typeface="Poppins" pitchFamily="2" charset="77"/>
                  <a:hlinkClick r:id="rId6"/>
                </a:rPr>
                <a:t>Predizione del punteggio MMSE</a:t>
              </a:r>
              <a:endParaRPr lang="it-IT" sz="2500" dirty="0">
                <a:latin typeface="Poppins" pitchFamily="2" charset="77"/>
                <a:cs typeface="Poppins" pitchFamily="2" charset="77"/>
              </a:endParaRP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D0E82D1F-417D-5E8D-4930-4F1D375FC1A9}"/>
              </a:ext>
            </a:extLst>
          </p:cNvPr>
          <p:cNvGrpSpPr/>
          <p:nvPr/>
        </p:nvGrpSpPr>
        <p:grpSpPr>
          <a:xfrm>
            <a:off x="446295" y="449588"/>
            <a:ext cx="3390875" cy="1158224"/>
            <a:chOff x="446295" y="449588"/>
            <a:chExt cx="3390875" cy="1158224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4A076C-46C3-394C-06C4-C89ABE25C918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ED4E385-3789-C9B4-CDA6-CFC07AEFA54E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67418"/>
              </a:stretch>
            </a:blipFill>
          </p:spPr>
          <p:txBody>
            <a:bodyPr/>
            <a:lstStyle/>
            <a:p>
              <a:endParaRPr lang="it-IT" noProof="0"/>
            </a:p>
          </p:txBody>
        </p:sp>
      </p:grpSp>
    </p:spTree>
    <p:extLst>
      <p:ext uri="{BB962C8B-B14F-4D97-AF65-F5344CB8AC3E}">
        <p14:creationId xmlns:p14="http://schemas.microsoft.com/office/powerpoint/2010/main" val="22810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4133</TotalTime>
  <Words>1541</Words>
  <Application>Microsoft Macintosh PowerPoint</Application>
  <PresentationFormat>Personalizzato</PresentationFormat>
  <Paragraphs>506</Paragraphs>
  <Slides>20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Poppins Bold</vt:lpstr>
      <vt:lpstr>Aptos</vt:lpstr>
      <vt:lpstr>Poppins</vt:lpstr>
      <vt:lpstr>Arial</vt:lpstr>
      <vt:lpstr>Poppins Semi-Bold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</dc:title>
  <cp:lastModifiedBy>Arianna CIPOLLA</cp:lastModifiedBy>
  <cp:revision>20</cp:revision>
  <dcterms:created xsi:type="dcterms:W3CDTF">2006-08-16T00:00:00Z</dcterms:created>
  <dcterms:modified xsi:type="dcterms:W3CDTF">2025-05-22T07:15:01Z</dcterms:modified>
  <dc:identifier>DAGnaLjTOLw</dc:identifier>
</cp:coreProperties>
</file>