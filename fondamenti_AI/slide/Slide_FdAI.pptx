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258" r:id="rId3"/>
    <p:sldId id="259" r:id="rId4"/>
    <p:sldId id="260" r:id="rId5"/>
    <p:sldId id="278" r:id="rId6"/>
    <p:sldId id="279" r:id="rId7"/>
    <p:sldId id="280" r:id="rId8"/>
    <p:sldId id="281" r:id="rId9"/>
    <p:sldId id="282" r:id="rId10"/>
    <p:sldId id="284" r:id="rId11"/>
    <p:sldId id="283" r:id="rId12"/>
    <p:sldId id="277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3F60"/>
    <a:srgbClr val="AFC0D0"/>
    <a:srgbClr val="E7E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577"/>
    <p:restoredTop sz="72935"/>
  </p:normalViewPr>
  <p:slideViewPr>
    <p:cSldViewPr snapToGrid="0">
      <p:cViewPr varScale="1">
        <p:scale>
          <a:sx n="121" d="100"/>
          <a:sy n="121" d="100"/>
        </p:scale>
        <p:origin x="168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ViT accuracy</c:v>
                </c:pt>
              </c:strCache>
            </c:strRef>
          </c:tx>
          <c:spPr>
            <a:ln w="28575" cap="rnd">
              <a:solidFill>
                <a:srgbClr val="1C3F6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C3F60"/>
              </a:solidFill>
              <a:ln w="9525">
                <a:solidFill>
                  <a:srgbClr val="1C3F60"/>
                </a:solidFill>
              </a:ln>
              <a:effectLst/>
            </c:spPr>
          </c:marker>
          <c:cat>
            <c:numRef>
              <c:f>Foglio1!$A$2:$A$5</c:f>
              <c:numCache>
                <c:formatCode>General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</c:numCache>
            </c:numRef>
          </c:cat>
          <c:val>
            <c:numRef>
              <c:f>Foglio1!$B$2:$B$5</c:f>
              <c:numCache>
                <c:formatCode>0.00%</c:formatCode>
                <c:ptCount val="4"/>
                <c:pt idx="0">
                  <c:v>0.95350000000000001</c:v>
                </c:pt>
                <c:pt idx="1">
                  <c:v>0.91669999999999996</c:v>
                </c:pt>
                <c:pt idx="2">
                  <c:v>0.91439999999999999</c:v>
                </c:pt>
                <c:pt idx="3">
                  <c:v>0.92469999999999997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F1C-534D-8991-D68A3FEC84F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ResNet18 accuracy</c:v>
                </c:pt>
              </c:strCache>
            </c:strRef>
          </c:tx>
          <c:spPr>
            <a:ln w="28575" cap="rnd">
              <a:solidFill>
                <a:srgbClr val="AFC0D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FC0D0"/>
              </a:solidFill>
              <a:ln w="9525">
                <a:solidFill>
                  <a:srgbClr val="AFC0D0"/>
                </a:solidFill>
              </a:ln>
              <a:effectLst/>
            </c:spPr>
          </c:marker>
          <c:cat>
            <c:numRef>
              <c:f>Foglio1!$A$2:$A$5</c:f>
              <c:numCache>
                <c:formatCode>General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</c:numCache>
            </c:numRef>
          </c:cat>
          <c:val>
            <c:numRef>
              <c:f>Foglio1!$C$2:$C$5</c:f>
              <c:numCache>
                <c:formatCode>0.00%</c:formatCode>
                <c:ptCount val="4"/>
                <c:pt idx="0">
                  <c:v>0.51160000000000005</c:v>
                </c:pt>
                <c:pt idx="1">
                  <c:v>0.69610000000000005</c:v>
                </c:pt>
                <c:pt idx="2">
                  <c:v>0.74819999999999998</c:v>
                </c:pt>
                <c:pt idx="3">
                  <c:v>0.72409999999999997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F1C-534D-8991-D68A3FEC84F3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numRef>
              <c:f>Foglio1!$A$2:$A$5</c:f>
              <c:numCache>
                <c:formatCode>General</c:formatCode>
                <c:ptCount val="4"/>
                <c:pt idx="0">
                  <c:v>10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</c:numCache>
            </c:numRef>
          </c:cat>
          <c:val>
            <c:numRef>
              <c:f>Foglio1!$D$2:$D$5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F1C-534D-8991-D68A3FEC84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48100832"/>
        <c:axId val="1847871216"/>
      </c:lineChart>
      <c:catAx>
        <c:axId val="1848100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47871216"/>
        <c:crosses val="autoZero"/>
        <c:auto val="1"/>
        <c:lblAlgn val="ctr"/>
        <c:lblOffset val="100"/>
        <c:noMultiLvlLbl val="0"/>
      </c:catAx>
      <c:valAx>
        <c:axId val="184787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848100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65238-60B3-6643-9E2D-707BA115E483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80A02-C361-3348-945C-8096974277B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6124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9865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E60F6-6DAD-881B-1843-8E917FA8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40F2FE7-8F49-0282-A830-D3AF5FC0E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B1C93A0-69E8-B8E6-A284-531C763D1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660B212-5506-B9D4-01C2-A216410B1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05518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6901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2F4D2-94D7-938B-2E35-6FAD22658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E4D5E75-D4CD-B905-AFDF-302AB1801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D2E7EEF6-DE9D-9FDD-FB5D-986E1E4FA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ts val="3173"/>
              </a:lnSpc>
              <a:buFont typeface="+mj-lt"/>
              <a:buAutoNum type="arabicPeriod"/>
            </a:pPr>
            <a:r>
              <a:rPr lang="it-IT" sz="1200" dirty="0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L’immagine viene suddivisa in patch </a:t>
            </a:r>
            <a:r>
              <a:rPr lang="it-IT" sz="1200" dirty="0">
                <a:latin typeface="Poppins" pitchFamily="2" charset="77"/>
                <a:cs typeface="Poppins" pitchFamily="2" charset="77"/>
              </a:rPr>
              <a:t>e ogni patch viene linearizzato in un vettore di </a:t>
            </a:r>
            <a:r>
              <a:rPr lang="it-IT" sz="1200" dirty="0" err="1">
                <a:latin typeface="Poppins" pitchFamily="2" charset="77"/>
                <a:cs typeface="Poppins" pitchFamily="2" charset="77"/>
              </a:rPr>
              <a:t>embedding</a:t>
            </a:r>
            <a:r>
              <a:rPr lang="it-IT" sz="1200" dirty="0">
                <a:latin typeface="Poppins" pitchFamily="2" charset="77"/>
                <a:cs typeface="Poppins" pitchFamily="2" charset="77"/>
              </a:rPr>
              <a:t> tramite una proiezione lineare</a:t>
            </a:r>
          </a:p>
          <a:p>
            <a:pPr marL="457200" indent="-457200">
              <a:lnSpc>
                <a:spcPts val="3173"/>
              </a:lnSpc>
              <a:buFont typeface="+mj-lt"/>
              <a:buAutoNum type="arabicPeriod"/>
            </a:pPr>
            <a:r>
              <a:rPr lang="it-IT" sz="1200" dirty="0">
                <a:latin typeface="Poppins" pitchFamily="2" charset="77"/>
                <a:cs typeface="Poppins" pitchFamily="2" charset="77"/>
              </a:rPr>
              <a:t>Si aggiunge un </a:t>
            </a:r>
            <a:r>
              <a:rPr lang="it-IT" sz="1200" dirty="0" err="1">
                <a:latin typeface="Poppins" pitchFamily="2" charset="77"/>
                <a:cs typeface="Poppins" pitchFamily="2" charset="77"/>
              </a:rPr>
              <a:t>embedding</a:t>
            </a:r>
            <a:r>
              <a:rPr lang="it-IT" sz="1200" dirty="0">
                <a:latin typeface="Poppins" pitchFamily="2" charset="77"/>
                <a:cs typeface="Poppins" pitchFamily="2" charset="77"/>
              </a:rPr>
              <a:t> di posizione a ciascun patch per conservare l’informazione spaziale</a:t>
            </a:r>
          </a:p>
          <a:p>
            <a:pPr marL="457200" indent="-457200">
              <a:lnSpc>
                <a:spcPts val="3173"/>
              </a:lnSpc>
              <a:buFont typeface="+mj-lt"/>
              <a:buAutoNum type="arabicPeriod"/>
            </a:pPr>
            <a:r>
              <a:rPr lang="it-IT" sz="1200" dirty="0">
                <a:latin typeface="Poppins" pitchFamily="2" charset="77"/>
                <a:cs typeface="Poppins" pitchFamily="2" charset="77"/>
              </a:rPr>
              <a:t>Una serie di strati basati su self-</a:t>
            </a:r>
            <a:r>
              <a:rPr lang="it-IT" sz="1200" dirty="0" err="1">
                <a:latin typeface="Poppins" pitchFamily="2" charset="77"/>
                <a:cs typeface="Poppins" pitchFamily="2" charset="77"/>
              </a:rPr>
              <a:t>attention</a:t>
            </a:r>
            <a:r>
              <a:rPr lang="it-IT" sz="1200" dirty="0">
                <a:latin typeface="Poppins" pitchFamily="2" charset="77"/>
                <a:cs typeface="Poppins" pitchFamily="2" charset="77"/>
              </a:rPr>
              <a:t> e MLP processano i patch, catturando relazioni a lungo raggio tra le diverse regioni dell’immagine</a:t>
            </a:r>
          </a:p>
          <a:p>
            <a:pPr marL="457200" indent="-457200">
              <a:lnSpc>
                <a:spcPts val="3173"/>
              </a:lnSpc>
              <a:buFont typeface="+mj-lt"/>
              <a:buAutoNum type="arabicPeriod"/>
            </a:pPr>
            <a:r>
              <a:rPr lang="it-IT" sz="1200" dirty="0">
                <a:latin typeface="Poppins" pitchFamily="2" charset="77"/>
                <a:cs typeface="Poppins" pitchFamily="2" charset="77"/>
              </a:rPr>
              <a:t>Viene aggiunto un token speciale che aggrega le informazioni globali e viene usato per la classificazione finale</a:t>
            </a:r>
          </a:p>
          <a:p>
            <a:pPr marL="457200" indent="-457200">
              <a:lnSpc>
                <a:spcPts val="3173"/>
              </a:lnSpc>
              <a:buFont typeface="+mj-lt"/>
              <a:buAutoNum type="arabicPeriod"/>
            </a:pPr>
            <a:endParaRPr lang="it-IT" sz="1200" dirty="0">
              <a:latin typeface="Poppins" pitchFamily="2" charset="77"/>
              <a:cs typeface="Poppins" pitchFamily="2" charset="77"/>
            </a:endParaRPr>
          </a:p>
          <a:p>
            <a:pPr marL="457200" indent="-457200">
              <a:lnSpc>
                <a:spcPts val="3173"/>
              </a:lnSpc>
              <a:buFont typeface="+mj-lt"/>
              <a:buAutoNum type="arabicPeriod"/>
            </a:pPr>
            <a:r>
              <a:rPr lang="it-IT" sz="1200" b="1" dirty="0">
                <a:latin typeface="Poppins" pitchFamily="2" charset="77"/>
                <a:cs typeface="Poppins" pitchFamily="2" charset="77"/>
              </a:rPr>
              <a:t>SELF-ATTENTION</a:t>
            </a:r>
            <a:r>
              <a:rPr lang="it-IT" sz="1200" dirty="0">
                <a:latin typeface="Poppins" pitchFamily="2" charset="77"/>
                <a:cs typeface="Poppins" pitchFamily="2" charset="77"/>
              </a:rPr>
              <a:t>: calcolo un valore di attenzione ad esempio tra il patch i e il patch </a:t>
            </a:r>
            <a:r>
              <a:rPr lang="it-IT" sz="1200" dirty="0" err="1">
                <a:latin typeface="Poppins" pitchFamily="2" charset="77"/>
                <a:cs typeface="Poppins" pitchFamily="2" charset="77"/>
              </a:rPr>
              <a:t>j</a:t>
            </a:r>
            <a:r>
              <a:rPr lang="it-IT" sz="1200" dirty="0">
                <a:latin typeface="Poppins" pitchFamily="2" charset="77"/>
                <a:cs typeface="Poppins" pitchFamily="2" charset="77"/>
              </a:rPr>
              <a:t> e questo punteggio mi stabilisce quanto le info. catturate nel patch </a:t>
            </a:r>
            <a:r>
              <a:rPr lang="it-IT" sz="1200" dirty="0" err="1">
                <a:latin typeface="Poppins" pitchFamily="2" charset="77"/>
                <a:cs typeface="Poppins" pitchFamily="2" charset="77"/>
              </a:rPr>
              <a:t>j</a:t>
            </a:r>
            <a:r>
              <a:rPr lang="it-IT" sz="1200" dirty="0">
                <a:latin typeface="Poppins" pitchFamily="2" charset="77"/>
                <a:cs typeface="Poppins" pitchFamily="2" charset="77"/>
              </a:rPr>
              <a:t> siano rilevanti per capire cosa sta succedendo nel patch i, successivamente normalizzo i valori e faccio la somma pesata per calcolare la nuova rappresentazione del patch i</a:t>
            </a:r>
          </a:p>
          <a:p>
            <a:pPr marL="457200" indent="-457200">
              <a:lnSpc>
                <a:spcPts val="3173"/>
              </a:lnSpc>
              <a:buFont typeface="+mj-lt"/>
              <a:buAutoNum type="arabicPeriod"/>
            </a:pPr>
            <a:r>
              <a:rPr lang="it-IT" sz="1200" b="1" dirty="0">
                <a:latin typeface="Poppins" pitchFamily="2" charset="77"/>
                <a:cs typeface="Poppins" pitchFamily="2" charset="77"/>
              </a:rPr>
              <a:t>MULTI-HEAD </a:t>
            </a:r>
            <a:r>
              <a:rPr lang="it-IT" sz="1200" dirty="0">
                <a:latin typeface="Poppins" pitchFamily="2" charset="77"/>
                <a:cs typeface="Poppins" pitchFamily="2" charset="77"/>
              </a:rPr>
              <a:t>è di avere più teste d’attenzione che calcolano contemporaneamente pesi di attenzione diversi per catturare diverse prospettive sulle relazioni tra i patch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23C3CCD-A818-F6FB-CA3D-43E107817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42350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22047-E2A5-9DF8-996B-8489EF76C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855A73D-D2EF-89EF-A94A-EC134DB72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3C6E927-B016-C57F-E473-AB0006EA03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ottimizzatore Adam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è un algoritmo di ottimizzazione, adattamento dei tassi di apprendimento per ciascun parametro basato su stime dei momenti del gradiente (media e varianza).</a:t>
            </a:r>
          </a:p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7530AF-E34B-09DF-19CF-7A2F2A238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0006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75DF4-AA26-37A9-1DC5-19ED0820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9258098-7A12-272B-5698-A2D04E14B8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1562330-4EB0-09B1-DFB9-B318DAE7F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Skip connection: 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viene sommato direttamente l’input all’output del blocco, questo significa che il gradiente può “</a:t>
            </a:r>
            <a:r>
              <a:rPr lang="it-IT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fluire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più facilmente verso i primi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Quello che succede è che avrò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(x) + x dove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(x) è la trasformazione non lineare e x è l’input quando vado a calcolare la derivata di questa cosa nel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backpropagation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avrò che x diventa una costante pari a 1 e quindi il gradiente fluirà direttamente verso i primi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senza diventare mai troppo piccolo o addirittura nullo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0A2894F-1549-9672-2CA4-EF74B09EB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9715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A60B6-1929-C8EB-76B7-B027D3FA3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5350896B-61D8-CE99-22C3-7F4C562A0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F1555C0B-81B9-12F0-D4E0-76BA9DFF2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02FE0D-A59E-BF31-EBBA-B435495DA9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5618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F1F4-6F88-6A00-44BF-835BE3FF7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D47C7569-5A49-2CF6-146C-6B38EE9416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294789C-7197-E9EB-6DB2-FB00FA6EF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Gradient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</a:t>
            </a:r>
            <a:r>
              <a:rPr lang="it-IT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Method</a:t>
            </a:r>
            <a:r>
              <a:rPr lang="it-IT" dirty="0"/>
              <a:t>: l’idea è quella di generare un’immagine perturbata aggiungendo un rumore che segue la direzione del gradiente della funzione di perdita rispetto all’input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C900674-79CE-95B7-7033-8D7761C53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4814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63D26-D1CC-A532-314C-EB7E03D83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391F94F0-2366-1274-B8D1-E7CD87437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ECDD0B3C-D2E1-485A-7E8E-D42E9F575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326468-D721-1B55-8C99-B67A7C47B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36432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6A703-48C3-B536-A7DF-59B9807E8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E7DA63F-05C7-EA36-4C21-9D0A5CB4B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912B3D6-E75A-49CD-7F72-431492224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AF79026-941E-8C48-6866-8C7070B61E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9126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B38FA-E3D5-67F7-A2F0-E8E6CEC6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BB86319-24C4-D5D7-8160-57CBBEB8C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45051F1D-4CA9-A97C-AD81-AB474A8F9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b="1" dirty="0"/>
              <a:t>Reti neurali ricorrenti</a:t>
            </a:r>
            <a:r>
              <a:rPr lang="it-IT" dirty="0"/>
              <a:t>: prendono in input dati che hanno dipendenza temporale e deve capire quello che è successo prima per capire il presente, c’è un ciclo che </a:t>
            </a:r>
            <a:r>
              <a:rPr lang="it-IT" dirty="0" err="1"/>
              <a:t>èermette</a:t>
            </a:r>
            <a:r>
              <a:rPr lang="it-IT" dirty="0"/>
              <a:t> di passare informazioni da un passo di tempo al successivo (</a:t>
            </a:r>
            <a:r>
              <a:rPr lang="it-IT" dirty="0" err="1"/>
              <a:t>language</a:t>
            </a:r>
            <a:r>
              <a:rPr lang="it-IT" dirty="0"/>
              <a:t> model)</a:t>
            </a:r>
          </a:p>
          <a:p>
            <a:endParaRPr lang="it-IT" dirty="0"/>
          </a:p>
          <a:p>
            <a:r>
              <a:rPr lang="it-IT" dirty="0" err="1"/>
              <a:t>Z_k</a:t>
            </a:r>
            <a:r>
              <a:rPr lang="it-IT" dirty="0"/>
              <a:t> = </a:t>
            </a:r>
            <a:r>
              <a:rPr lang="it-IT" dirty="0" err="1"/>
              <a:t>f</a:t>
            </a:r>
            <a:r>
              <a:rPr lang="it-IT" dirty="0"/>
              <a:t>(x(k), Z_k-1)</a:t>
            </a:r>
            <a:br>
              <a:rPr lang="it-IT" dirty="0"/>
            </a:br>
            <a:br>
              <a:rPr lang="it-IT" dirty="0"/>
            </a:br>
            <a:r>
              <a:rPr lang="it-IT" dirty="0"/>
              <a:t>Entropia: h(</a:t>
            </a:r>
            <a:r>
              <a:rPr lang="it-IT" dirty="0" err="1"/>
              <a:t>phi</a:t>
            </a:r>
            <a:r>
              <a:rPr lang="it-IT" dirty="0"/>
              <a:t>) sommatoria i = 0,n </a:t>
            </a:r>
            <a:r>
              <a:rPr lang="it-IT" dirty="0" err="1"/>
              <a:t>phi</a:t>
            </a:r>
            <a:r>
              <a:rPr lang="it-IT" dirty="0"/>
              <a:t>(xi)log_2(1/</a:t>
            </a:r>
            <a:r>
              <a:rPr lang="it-IT" dirty="0" err="1"/>
              <a:t>phi</a:t>
            </a:r>
            <a:r>
              <a:rPr lang="it-IT" dirty="0"/>
              <a:t>(xi))</a:t>
            </a:r>
          </a:p>
          <a:p>
            <a:endParaRPr lang="it-IT" dirty="0"/>
          </a:p>
          <a:p>
            <a:r>
              <a:rPr lang="it-IT" dirty="0"/>
              <a:t>Cross </a:t>
            </a:r>
            <a:r>
              <a:rPr lang="it-IT" dirty="0" err="1"/>
              <a:t>entropy</a:t>
            </a:r>
            <a:r>
              <a:rPr lang="it-IT" dirty="0"/>
              <a:t> quando non conosco la distribuzione dei dati, ma la voglio stimare psi al posto del argomento di logaritmo</a:t>
            </a:r>
            <a:br>
              <a:rPr lang="it-IT" dirty="0"/>
            </a:br>
            <a:endParaRPr lang="it-IT" dirty="0"/>
          </a:p>
          <a:p>
            <a:r>
              <a:rPr lang="it-IT" b="1" dirty="0"/>
              <a:t>Reti generative: </a:t>
            </a:r>
            <a:r>
              <a:rPr lang="it-IT" b="0" dirty="0"/>
              <a:t>modelli che imparano a generare nuovi dati simili a quelli di un dataset di addestramento (x encoder </a:t>
            </a:r>
            <a:r>
              <a:rPr lang="it-IT" b="0" dirty="0" err="1"/>
              <a:t>z</a:t>
            </a:r>
            <a:r>
              <a:rPr lang="it-IT" b="0" dirty="0"/>
              <a:t> decoder y.</a:t>
            </a:r>
          </a:p>
          <a:p>
            <a:r>
              <a:rPr lang="it-IT" b="0" dirty="0"/>
              <a:t>È fondamentale che la funzione sia differenziabile g(Epsilon, </a:t>
            </a:r>
            <a:r>
              <a:rPr lang="it-IT" b="0" dirty="0" err="1"/>
              <a:t>Theta_g</a:t>
            </a:r>
            <a:r>
              <a:rPr lang="it-IT" b="0" dirty="0"/>
              <a:t>) (var latenti, </a:t>
            </a:r>
            <a:r>
              <a:rPr lang="it-IT" b="0" dirty="0" err="1"/>
              <a:t>paramentri</a:t>
            </a:r>
            <a:r>
              <a:rPr lang="it-IT" b="0" dirty="0"/>
              <a:t>).</a:t>
            </a:r>
          </a:p>
          <a:p>
            <a:r>
              <a:rPr lang="it-IT" b="0" dirty="0"/>
              <a:t>La rete genera una distribuzione di output Y circa D(</a:t>
            </a:r>
            <a:r>
              <a:rPr lang="it-IT" b="0" dirty="0" err="1"/>
              <a:t>Theta_g</a:t>
            </a:r>
            <a:r>
              <a:rPr lang="it-IT" b="0" dirty="0"/>
              <a:t>)</a:t>
            </a:r>
            <a:br>
              <a:rPr lang="it-IT" b="0" dirty="0"/>
            </a:br>
            <a:r>
              <a:rPr lang="it-IT" b="1" dirty="0"/>
              <a:t>Corrispondenza delle aree </a:t>
            </a:r>
            <a:r>
              <a:rPr lang="it-IT" b="0" dirty="0"/>
              <a:t> l’area sotto la curva </a:t>
            </a:r>
            <a:r>
              <a:rPr lang="it-IT" b="0" dirty="0" err="1"/>
              <a:t>R</a:t>
            </a:r>
            <a:r>
              <a:rPr lang="it-IT" b="0" dirty="0"/>
              <a:t> è uguale all’area sotto la curva target fino ad un punto b (base del metodo di inversione) dove calcolo l’integrale </a:t>
            </a:r>
            <a:r>
              <a:rPr lang="it-IT" b="0" dirty="0" err="1"/>
              <a:t>comulativo</a:t>
            </a:r>
            <a:r>
              <a:rPr lang="it-IT" b="0" dirty="0"/>
              <a:t> della distribuzione target (Box Muller con Gaussiana)</a:t>
            </a:r>
            <a:br>
              <a:rPr lang="it-IT" dirty="0"/>
            </a:br>
            <a:br>
              <a:rPr lang="it-IT" dirty="0"/>
            </a:b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B8D4278-2FA7-9C5E-5D1D-9846C27238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093856-2680-7946-A461-5249C700D75F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7796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6C7B2D-AEC9-6D68-DE22-60249F127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7E7DED8-0249-035D-48D3-A9DECFF07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4D7E16-3727-BAD1-AEDA-E78A9866E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D7B688-46EA-76CC-AAE7-9BD66518F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5E0A2E8-C1CB-5136-691F-0FDC80255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009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036896-6FA2-110F-35A6-327A22752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680B05-9956-22AA-3E8F-6EC09FD3C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BF463C8-D774-15DB-4DCF-E5A5E122B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49F4A4-0BD9-823B-27AE-97DFB2961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19FD28-5201-0F6A-EB71-5F9D7096A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636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36073B-BCAC-E049-61F4-8D76D2871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97E5FB-9A63-E551-F7C9-6E2EE3F4F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9BE195-DD33-C261-5C35-478FEFD4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6DDF61-97CA-DD64-FCAD-B898462B5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A3ECAB-D3A7-2094-5FC4-5E48623EF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4507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98034B-9140-92FA-3FBB-BC6B02DA0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513838-24D6-B29C-7204-8B8136E09E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9358E44-29AA-B212-BF1A-953C4E578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BDFF799-6F98-D68B-D4BC-583F2144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6921690-CFE8-2188-D365-4A6B65531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75B3BF9-A2AB-F264-03CD-840E524BE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9106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68878E-AFD4-58B2-2FF0-C44C202DB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68E2A93-2E91-4412-5268-D6C15139F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19A52CC-7A8E-CDF3-E8B4-327020E28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AC63DDF-0BE2-98A7-DBD7-5615304EAE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FBE3106-EA0A-A284-CDCD-C16152C4B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4CA9D1A-0F5E-5D21-E463-24E9BD661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4392B68-F4CB-21E5-9371-DAF2EA90F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928ABD0-E20A-40D7-888B-DCD3AEFD8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1321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00107F-1FB9-93DD-9D61-BB5EAF17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3FE8DCD-EE76-605F-8FEB-7E6F4517F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AE549FF-7BC7-E6B1-CA01-D365683A9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051AAD-FC21-8FD7-E9AD-BE7A6985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79590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2714A18A-5A39-3969-6744-E98AEC34F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61F2601-1D0A-AC7B-B87A-95581B40D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9A9AD1-A2B8-7456-88AD-EB2B39E4F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927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E138E7-364F-B7EF-9498-A0558BDFA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3F64C5-905E-75C0-A0D9-CC5BC264A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C76D90-F2A4-D298-2E92-75B779B74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669FF97-310C-15D3-5839-E2B95A57C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2867C63-FA23-76CB-7306-CBD501A79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D4AC3CC-7C9E-E76F-2764-1226652E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606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910F19-5CC0-95A0-DD65-35A2752F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2D791A1-B890-CBB9-9ECD-041C14C42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C80D959-F0AA-F573-9939-056B90FB6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2256381-C154-5555-3693-CFB89D46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8694F82-5A3B-8B8D-AF8F-AA1571F2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D4C681-9C2B-7F53-5FC0-1CDFB8C8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9286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4892FC-BC2D-FE8F-41DE-FA8E59EC8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78DD05F-CE7D-E6E0-B396-4F46CF2EB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13B887-ED39-F18E-8855-4479F9D3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E04E43-8D2F-529D-8C24-412313F6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26AB8F-C7A7-6123-8AE0-52B50C1C1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6223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828A6CF-7E26-C22F-6C46-A0FE0B8931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39663EE-5A8B-4F5F-69E7-4C0328C4E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4B0B8F0-F9C9-1864-7A13-A89A6D801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3327A65-FD97-1BBF-88B9-448EDD211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B884D8-A58A-8BC0-065F-0F80F98E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820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19CCC5D-F871-5F16-90CF-A2E259A7C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DD655AA-4316-845A-4D7A-01DCDDC7A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804316-4CD3-CED6-A24B-F3C995B68E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49CEAB-364C-3C4C-984D-240AB3E2C735}" type="datetimeFigureOut">
              <a:rPr lang="it-IT" smtClean="0"/>
              <a:t>10/06/25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1C7544-1C4E-88A8-F011-D1B4F711F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6A19F38-3F16-26CD-4722-CAED2BF29B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9F3D1-BBF4-1443-A601-83174846A00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757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timm.fast.ai/#:~:text=Create%20a%20model,-import%20timm%20import&amp;text=The%20create_model%20function%20is%20a,simply%20pass%20in%20pretrained%3DTrue%20.&amp;text=To%20create%20a%20model%20with,in%20num_classes%3D%20.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pytorch.org/tutorials/beginner/fgsm_tutorial.html" TargetMode="External"/><Relationship Id="rId5" Type="http://schemas.openxmlformats.org/officeDocument/2006/relationships/hyperlink" Target="https://docs.pytorch.org/vision/stable/models/generated/torchvision.models.resnet18.html" TargetMode="External"/><Relationship Id="rId4" Type="http://schemas.openxmlformats.org/officeDocument/2006/relationships/hyperlink" Target="https://arxiv.org/abs/2010.1192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7530" y="299726"/>
            <a:ext cx="11208669" cy="5859268"/>
            <a:chOff x="0" y="0"/>
            <a:chExt cx="22417340" cy="117185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75016" cy="1544299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sz="120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1708258" y="295518"/>
              <a:ext cx="2812910" cy="953263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67418"/>
              </a:stretch>
            </a:blipFill>
          </p:spPr>
          <p:txBody>
            <a:bodyPr/>
            <a:lstStyle/>
            <a:p>
              <a:endParaRPr lang="it-IT" sz="120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1508698" y="11276108"/>
              <a:ext cx="908642" cy="442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867"/>
                </a:lnSpc>
              </a:pPr>
              <a:r>
                <a:rPr lang="it-IT" sz="1000" dirty="0">
                  <a:solidFill>
                    <a:srgbClr val="0B1320"/>
                  </a:solidFill>
                  <a:latin typeface="Poppins"/>
                  <a:ea typeface="Poppins"/>
                  <a:cs typeface="Poppins"/>
                  <a:sym typeface="Poppins"/>
                </a:rPr>
                <a:t>01/11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1125" y="2314340"/>
            <a:ext cx="8849750" cy="1715335"/>
            <a:chOff x="0" y="285646"/>
            <a:chExt cx="17699500" cy="3430671"/>
          </a:xfrm>
        </p:grpSpPr>
        <p:sp>
          <p:nvSpPr>
            <p:cNvPr id="7" name="AutoShape 7"/>
            <p:cNvSpPr/>
            <p:nvPr/>
          </p:nvSpPr>
          <p:spPr>
            <a:xfrm>
              <a:off x="0" y="2808611"/>
              <a:ext cx="17699500" cy="0"/>
            </a:xfrm>
            <a:prstGeom prst="line">
              <a:avLst/>
            </a:prstGeom>
            <a:ln w="254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 sz="1200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85646"/>
              <a:ext cx="17699500" cy="23108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600"/>
                </a:lnSpc>
              </a:pPr>
              <a:r>
                <a:rPr lang="it-IT" sz="3200" b="1" dirty="0">
                  <a:latin typeface="Poppins" pitchFamily="2" charset="77"/>
                  <a:cs typeface="Poppins" pitchFamily="2" charset="77"/>
                </a:rPr>
                <a:t>Analisi e confronto del Vision Transformer con ResNet18 su </a:t>
              </a:r>
              <a:r>
                <a:rPr lang="it-IT" sz="3200" b="1" dirty="0" err="1">
                  <a:latin typeface="Poppins" pitchFamily="2" charset="77"/>
                  <a:cs typeface="Poppins" pitchFamily="2" charset="77"/>
                </a:rPr>
                <a:t>ImageNet</a:t>
              </a:r>
              <a:endParaRPr lang="it-IT" sz="3200" b="1" dirty="0">
                <a:solidFill>
                  <a:srgbClr val="0B1320"/>
                </a:solidFill>
                <a:latin typeface="Poppins" pitchFamily="2" charset="77"/>
                <a:ea typeface="Poppins Bold"/>
                <a:cs typeface="Poppins" pitchFamily="2" charset="77"/>
                <a:sym typeface="Poppins Bold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3830" y="3161037"/>
              <a:ext cx="3460614" cy="555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</a:pPr>
              <a:r>
                <a:rPr lang="it-IT" sz="1666" b="1" dirty="0">
                  <a:solidFill>
                    <a:srgbClr val="0B132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Arianna Cipolla 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4169442" y="3161037"/>
              <a:ext cx="2480246" cy="5552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33"/>
                </a:lnSpc>
              </a:pPr>
              <a:r>
                <a:rPr lang="it-IT" sz="1666" b="1" dirty="0">
                  <a:solidFill>
                    <a:srgbClr val="0B132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10/06/2025</a:t>
              </a:r>
            </a:p>
          </p:txBody>
        </p:sp>
      </p:grpSp>
      <p:sp>
        <p:nvSpPr>
          <p:cNvPr id="11" name="TextBox 5">
            <a:extLst>
              <a:ext uri="{FF2B5EF4-FFF2-40B4-BE49-F238E27FC236}">
                <a16:creationId xmlns:a16="http://schemas.microsoft.com/office/drawing/2014/main" id="{E01600D2-906A-A980-E4DD-45FE98C0D774}"/>
              </a:ext>
            </a:extLst>
          </p:cNvPr>
          <p:cNvSpPr txBox="1"/>
          <p:nvPr/>
        </p:nvSpPr>
        <p:spPr>
          <a:xfrm>
            <a:off x="1085038" y="5937779"/>
            <a:ext cx="2115362" cy="22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 err="1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arianna.cipolla@studenti.unipr.it</a:t>
            </a:r>
            <a:endParaRPr lang="it-IT" sz="1000" dirty="0">
              <a:solidFill>
                <a:srgbClr val="0B132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6B31749D-85E8-0884-9B65-D4A516CA17DF}"/>
              </a:ext>
            </a:extLst>
          </p:cNvPr>
          <p:cNvSpPr txBox="1"/>
          <p:nvPr/>
        </p:nvSpPr>
        <p:spPr>
          <a:xfrm>
            <a:off x="7100889" y="685800"/>
            <a:ext cx="4813120" cy="298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333"/>
              </a:lnSpc>
            </a:pPr>
            <a:r>
              <a:rPr lang="it-IT" sz="2000" dirty="0">
                <a:solidFill>
                  <a:srgbClr val="0B1320"/>
                </a:solidFill>
                <a:latin typeface="Poppins" pitchFamily="2" charset="77"/>
                <a:ea typeface="Poppins Semi-Bold"/>
                <a:cs typeface="Poppins" pitchFamily="2" charset="77"/>
                <a:sym typeface="Poppins Semi-Bold"/>
              </a:rPr>
              <a:t>Fondamenti dell’Intelligenza Artificiale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uppo 29">
            <a:extLst>
              <a:ext uri="{FF2B5EF4-FFF2-40B4-BE49-F238E27FC236}">
                <a16:creationId xmlns:a16="http://schemas.microsoft.com/office/drawing/2014/main" id="{6799B504-68E3-9D39-1149-5B98C0BF5B48}"/>
              </a:ext>
            </a:extLst>
          </p:cNvPr>
          <p:cNvGrpSpPr/>
          <p:nvPr/>
        </p:nvGrpSpPr>
        <p:grpSpPr>
          <a:xfrm>
            <a:off x="-3283224" y="2989497"/>
            <a:ext cx="5040035" cy="4682379"/>
            <a:chOff x="-4051313" y="4484244"/>
            <a:chExt cx="7560052" cy="7023569"/>
          </a:xfrm>
        </p:grpSpPr>
        <p:grpSp>
          <p:nvGrpSpPr>
            <p:cNvPr id="7" name="Group 7"/>
            <p:cNvGrpSpPr/>
            <p:nvPr/>
          </p:nvGrpSpPr>
          <p:grpSpPr>
            <a:xfrm>
              <a:off x="-4051313" y="4484244"/>
              <a:ext cx="7560052" cy="7023569"/>
              <a:chOff x="0" y="0"/>
              <a:chExt cx="10080070" cy="936475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3600284" y="0"/>
                <a:ext cx="6479785" cy="9364759"/>
              </a:xfrm>
              <a:custGeom>
                <a:avLst/>
                <a:gdLst/>
                <a:ahLst/>
                <a:cxnLst/>
                <a:rect l="l" t="t" r="r" b="b"/>
                <a:pathLst>
                  <a:path w="6479785" h="9364759">
                    <a:moveTo>
                      <a:pt x="0" y="0"/>
                    </a:moveTo>
                    <a:lnTo>
                      <a:pt x="6479786" y="0"/>
                    </a:lnTo>
                    <a:lnTo>
                      <a:pt x="6479786" y="9364759"/>
                    </a:lnTo>
                    <a:lnTo>
                      <a:pt x="0" y="936475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99768" t="-6655" r="-104796" b="-11621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  <p:grpSp>
            <p:nvGrpSpPr>
              <p:cNvPr id="9" name="Group 9"/>
              <p:cNvGrpSpPr/>
              <p:nvPr/>
            </p:nvGrpSpPr>
            <p:grpSpPr>
              <a:xfrm>
                <a:off x="0" y="417861"/>
                <a:ext cx="6042914" cy="8053534"/>
                <a:chOff x="0" y="0"/>
                <a:chExt cx="1193662" cy="1590822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0" y="0"/>
                  <a:ext cx="1193662" cy="1590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3662" h="1590822">
                      <a:moveTo>
                        <a:pt x="87119" y="0"/>
                      </a:moveTo>
                      <a:lnTo>
                        <a:pt x="1106543" y="0"/>
                      </a:lnTo>
                      <a:cubicBezTo>
                        <a:pt x="1154658" y="0"/>
                        <a:pt x="1193662" y="39004"/>
                        <a:pt x="1193662" y="87119"/>
                      </a:cubicBezTo>
                      <a:lnTo>
                        <a:pt x="1193662" y="1503703"/>
                      </a:lnTo>
                      <a:cubicBezTo>
                        <a:pt x="1193662" y="1551817"/>
                        <a:pt x="1154658" y="1590822"/>
                        <a:pt x="1106543" y="1590822"/>
                      </a:cubicBezTo>
                      <a:lnTo>
                        <a:pt x="87119" y="1590822"/>
                      </a:lnTo>
                      <a:cubicBezTo>
                        <a:pt x="39004" y="1590822"/>
                        <a:pt x="0" y="1551817"/>
                        <a:pt x="0" y="1503703"/>
                      </a:cubicBezTo>
                      <a:lnTo>
                        <a:pt x="0" y="87119"/>
                      </a:lnTo>
                      <a:cubicBezTo>
                        <a:pt x="0" y="39004"/>
                        <a:pt x="39004" y="0"/>
                        <a:pt x="87119" y="0"/>
                      </a:cubicBezTo>
                      <a:close/>
                    </a:path>
                  </a:pathLst>
                </a:custGeom>
                <a:solidFill>
                  <a:srgbClr val="AFC0D0"/>
                </a:solidFill>
              </p:spPr>
              <p:txBody>
                <a:bodyPr/>
                <a:lstStyle/>
                <a:p>
                  <a:endParaRPr lang="it-IT" sz="120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0" y="-66675"/>
                  <a:ext cx="1193662" cy="1657497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867"/>
                    </a:lnSpc>
                  </a:pPr>
                  <a:endParaRPr lang="it-IT" sz="1200"/>
                </a:p>
              </p:txBody>
            </p:sp>
          </p:grpSp>
        </p:grp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8D04C356-D1C7-2C84-0B5A-564CF53F416C}"/>
                </a:ext>
              </a:extLst>
            </p:cNvPr>
            <p:cNvSpPr txBox="1"/>
            <p:nvPr/>
          </p:nvSpPr>
          <p:spPr>
            <a:xfrm>
              <a:off x="-1533257" y="6376754"/>
              <a:ext cx="3648024" cy="2601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667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Attacco della rete </a:t>
              </a:r>
              <a:r>
                <a:rPr lang="it-IT" sz="2667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tramite FGSM</a:t>
              </a:r>
            </a:p>
          </p:txBody>
        </p:sp>
      </p:grp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F695FE35-2B2B-8FA0-D78C-412ED39D1DAA}"/>
              </a:ext>
            </a:extLst>
          </p:cNvPr>
          <p:cNvGrpSpPr/>
          <p:nvPr/>
        </p:nvGrpSpPr>
        <p:grpSpPr>
          <a:xfrm>
            <a:off x="-4216400" y="2355649"/>
            <a:ext cx="6221149" cy="6153642"/>
            <a:chOff x="-5486400" y="3533473"/>
            <a:chExt cx="9331723" cy="9230463"/>
          </a:xfrm>
        </p:grpSpPr>
        <p:grpSp>
          <p:nvGrpSpPr>
            <p:cNvPr id="12" name="Group 12"/>
            <p:cNvGrpSpPr/>
            <p:nvPr/>
          </p:nvGrpSpPr>
          <p:grpSpPr>
            <a:xfrm>
              <a:off x="-5486400" y="3533473"/>
              <a:ext cx="9331723" cy="9230463"/>
              <a:chOff x="0" y="0"/>
              <a:chExt cx="10690217" cy="1225790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3239571" y="0"/>
                <a:ext cx="7450646" cy="12257907"/>
              </a:xfrm>
              <a:custGeom>
                <a:avLst/>
                <a:gdLst/>
                <a:ahLst/>
                <a:cxnLst/>
                <a:rect l="l" t="t" r="r" b="b"/>
                <a:pathLst>
                  <a:path w="7450646" h="12257907">
                    <a:moveTo>
                      <a:pt x="0" y="0"/>
                    </a:moveTo>
                    <a:lnTo>
                      <a:pt x="7450647" y="0"/>
                    </a:lnTo>
                    <a:lnTo>
                      <a:pt x="7450647" y="12257907"/>
                    </a:lnTo>
                    <a:lnTo>
                      <a:pt x="0" y="1225790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95571" r="-97562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  <p:grpSp>
            <p:nvGrpSpPr>
              <p:cNvPr id="14" name="Group 14"/>
              <p:cNvGrpSpPr/>
              <p:nvPr/>
            </p:nvGrpSpPr>
            <p:grpSpPr>
              <a:xfrm>
                <a:off x="0" y="1408194"/>
                <a:ext cx="4978327" cy="8458601"/>
                <a:chOff x="0" y="0"/>
                <a:chExt cx="983373" cy="167083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0" y="0"/>
                  <a:ext cx="983373" cy="1670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373" h="1670835">
                      <a:moveTo>
                        <a:pt x="105748" y="0"/>
                      </a:moveTo>
                      <a:lnTo>
                        <a:pt x="877625" y="0"/>
                      </a:lnTo>
                      <a:cubicBezTo>
                        <a:pt x="936028" y="0"/>
                        <a:pt x="983373" y="47345"/>
                        <a:pt x="983373" y="105748"/>
                      </a:cubicBezTo>
                      <a:lnTo>
                        <a:pt x="983373" y="1565086"/>
                      </a:lnTo>
                      <a:cubicBezTo>
                        <a:pt x="983373" y="1623490"/>
                        <a:pt x="936028" y="1670835"/>
                        <a:pt x="877625" y="1670835"/>
                      </a:cubicBezTo>
                      <a:lnTo>
                        <a:pt x="105748" y="1670835"/>
                      </a:lnTo>
                      <a:cubicBezTo>
                        <a:pt x="47345" y="1670835"/>
                        <a:pt x="0" y="1623490"/>
                        <a:pt x="0" y="1565086"/>
                      </a:cubicBezTo>
                      <a:lnTo>
                        <a:pt x="0" y="105748"/>
                      </a:lnTo>
                      <a:cubicBezTo>
                        <a:pt x="0" y="47345"/>
                        <a:pt x="47345" y="0"/>
                        <a:pt x="105748" y="0"/>
                      </a:cubicBezTo>
                      <a:close/>
                    </a:path>
                  </a:pathLst>
                </a:custGeom>
                <a:solidFill>
                  <a:srgbClr val="1C3F60"/>
                </a:solidFill>
              </p:spPr>
              <p:txBody>
                <a:bodyPr/>
                <a:lstStyle/>
                <a:p>
                  <a:endParaRPr lang="it-IT" sz="1200"/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0" y="-66675"/>
                  <a:ext cx="983373" cy="1737510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867"/>
                    </a:lnSpc>
                  </a:pPr>
                  <a:endParaRPr lang="it-IT" sz="1200"/>
                </a:p>
              </p:txBody>
            </p:sp>
          </p:grpSp>
        </p:grp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679D8840-3498-4DC9-F5A7-2606E20C5154}"/>
                </a:ext>
              </a:extLst>
            </p:cNvPr>
            <p:cNvSpPr txBox="1"/>
            <p:nvPr/>
          </p:nvSpPr>
          <p:spPr>
            <a:xfrm>
              <a:off x="-2743905" y="6540442"/>
              <a:ext cx="4665126" cy="1985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667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Confronto prestazioni</a:t>
              </a:r>
              <a:r>
                <a:rPr lang="it-IT" sz="2667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 </a:t>
              </a:r>
            </a:p>
            <a:p>
              <a:pPr algn="ctr"/>
              <a:r>
                <a:rPr lang="it-IT" sz="2667" dirty="0" err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ViT</a:t>
              </a:r>
              <a:r>
                <a:rPr lang="it-IT" sz="2667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 VS ResNet18</a:t>
              </a:r>
              <a:endParaRPr lang="it-IT" sz="2667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10699" y="1832547"/>
            <a:ext cx="11170601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it-IT" sz="2000" dirty="0">
                <a:latin typeface="Poppins" pitchFamily="2" charset="77"/>
                <a:cs typeface="Poppins" pitchFamily="2" charset="77"/>
              </a:rPr>
              <a:t>Confrontare le architetture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ViT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e ResNet18 in termini di prestazioni su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ImageNet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e valutarne la robustezza contro attacchi FGSM.</a:t>
            </a:r>
            <a:endParaRPr lang="it-IT" sz="2000" dirty="0">
              <a:solidFill>
                <a:srgbClr val="0B1320"/>
              </a:solidFill>
              <a:latin typeface="Poppins" pitchFamily="2" charset="77"/>
              <a:ea typeface="Open Sans"/>
              <a:cs typeface="Poppins" pitchFamily="2" charset="77"/>
              <a:sym typeface="Open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870287" y="1273095"/>
            <a:ext cx="2190913" cy="604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it-IT" sz="3466" b="1" dirty="0">
                <a:solidFill>
                  <a:srgbClr val="0B1320"/>
                </a:solidFill>
                <a:latin typeface="Poppins" pitchFamily="2" charset="77"/>
                <a:ea typeface="Open Sans Bold"/>
                <a:cs typeface="Poppins" pitchFamily="2" charset="77"/>
                <a:sym typeface="Open Sans Bold"/>
              </a:rPr>
              <a:t>Obiettivo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BEC706C9-6254-FE6A-E00D-C6F717AB4088}"/>
              </a:ext>
            </a:extLst>
          </p:cNvPr>
          <p:cNvSpPr txBox="1"/>
          <p:nvPr/>
        </p:nvSpPr>
        <p:spPr>
          <a:xfrm>
            <a:off x="11051878" y="5937779"/>
            <a:ext cx="4543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02/11</a:t>
            </a:r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BC8A2EBA-2808-0A3C-0264-E5B041AEBF52}"/>
              </a:ext>
            </a:extLst>
          </p:cNvPr>
          <p:cNvGrpSpPr/>
          <p:nvPr/>
        </p:nvGrpSpPr>
        <p:grpSpPr>
          <a:xfrm>
            <a:off x="297531" y="299726"/>
            <a:ext cx="2260583" cy="772149"/>
            <a:chOff x="446295" y="449588"/>
            <a:chExt cx="3390875" cy="1158224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AE3A8982-C639-F33C-1678-D56CEF88E551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sz="1200" dirty="0"/>
            </a:p>
          </p:txBody>
        </p:sp>
        <p:sp>
          <p:nvSpPr>
            <p:cNvPr id="19" name="Freeform 4">
              <a:extLst>
                <a:ext uri="{FF2B5EF4-FFF2-40B4-BE49-F238E27FC236}">
                  <a16:creationId xmlns:a16="http://schemas.microsoft.com/office/drawing/2014/main" id="{02E94FD3-1F8F-7BC0-3CB5-731D27948D4C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7418"/>
              </a:stretch>
            </a:blipFill>
          </p:spPr>
          <p:txBody>
            <a:bodyPr/>
            <a:lstStyle/>
            <a:p>
              <a:endParaRPr lang="it-IT" sz="1200" dirty="0"/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CAA55ECE-7A69-D45D-AD41-F199E9145FF4}"/>
              </a:ext>
            </a:extLst>
          </p:cNvPr>
          <p:cNvGrpSpPr/>
          <p:nvPr/>
        </p:nvGrpSpPr>
        <p:grpSpPr>
          <a:xfrm>
            <a:off x="-4135989" y="2212388"/>
            <a:ext cx="5892800" cy="6712151"/>
            <a:chOff x="-6207523" y="3238500"/>
            <a:chExt cx="8839200" cy="10068227"/>
          </a:xfrm>
        </p:grpSpPr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35FADFA7-21C2-AB7C-E4C6-A2CD39446BA6}"/>
                </a:ext>
              </a:extLst>
            </p:cNvPr>
            <p:cNvGrpSpPr/>
            <p:nvPr/>
          </p:nvGrpSpPr>
          <p:grpSpPr>
            <a:xfrm>
              <a:off x="-6207523" y="3238500"/>
              <a:ext cx="8839200" cy="10068227"/>
              <a:chOff x="4114800" y="3086100"/>
              <a:chExt cx="8146441" cy="10061183"/>
            </a:xfrm>
          </p:grpSpPr>
          <p:grpSp>
            <p:nvGrpSpPr>
              <p:cNvPr id="27" name="Gruppo 26">
                <a:extLst>
                  <a:ext uri="{FF2B5EF4-FFF2-40B4-BE49-F238E27FC236}">
                    <a16:creationId xmlns:a16="http://schemas.microsoft.com/office/drawing/2014/main" id="{91747548-6A5F-19EF-E5AE-DA711F811DB7}"/>
                  </a:ext>
                </a:extLst>
              </p:cNvPr>
              <p:cNvGrpSpPr/>
              <p:nvPr/>
            </p:nvGrpSpPr>
            <p:grpSpPr>
              <a:xfrm>
                <a:off x="4114800" y="3086100"/>
                <a:ext cx="8146441" cy="10061183"/>
                <a:chOff x="-4462647" y="3419738"/>
                <a:chExt cx="8146441" cy="10061183"/>
              </a:xfrm>
            </p:grpSpPr>
            <p:grpSp>
              <p:nvGrpSpPr>
                <p:cNvPr id="22" name="Group 22"/>
                <p:cNvGrpSpPr/>
                <p:nvPr/>
              </p:nvGrpSpPr>
              <p:grpSpPr>
                <a:xfrm>
                  <a:off x="-4462647" y="4310788"/>
                  <a:ext cx="5537000" cy="7310660"/>
                  <a:chOff x="0" y="-66675"/>
                  <a:chExt cx="1339226" cy="1768219"/>
                </a:xfrm>
              </p:grpSpPr>
              <p:sp>
                <p:nvSpPr>
                  <p:cNvPr id="23" name="Freeform 23"/>
                  <p:cNvSpPr/>
                  <p:nvPr/>
                </p:nvSpPr>
                <p:spPr>
                  <a:xfrm>
                    <a:off x="0" y="-191"/>
                    <a:ext cx="1339226" cy="17017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7063" h="1701544">
                        <a:moveTo>
                          <a:pt x="81429" y="0"/>
                        </a:moveTo>
                        <a:lnTo>
                          <a:pt x="1195634" y="0"/>
                        </a:lnTo>
                        <a:cubicBezTo>
                          <a:pt x="1240606" y="0"/>
                          <a:pt x="1277063" y="36457"/>
                          <a:pt x="1277063" y="81429"/>
                        </a:cubicBezTo>
                        <a:lnTo>
                          <a:pt x="1277063" y="1620114"/>
                        </a:lnTo>
                        <a:cubicBezTo>
                          <a:pt x="1277063" y="1641711"/>
                          <a:pt x="1268484" y="1662423"/>
                          <a:pt x="1253213" y="1677694"/>
                        </a:cubicBezTo>
                        <a:cubicBezTo>
                          <a:pt x="1237942" y="1692964"/>
                          <a:pt x="1217230" y="1701544"/>
                          <a:pt x="1195634" y="1701544"/>
                        </a:cubicBezTo>
                        <a:lnTo>
                          <a:pt x="81429" y="1701544"/>
                        </a:lnTo>
                        <a:cubicBezTo>
                          <a:pt x="59833" y="1701544"/>
                          <a:pt x="39121" y="1692964"/>
                          <a:pt x="23850" y="1677694"/>
                        </a:cubicBezTo>
                        <a:cubicBezTo>
                          <a:pt x="8579" y="1662423"/>
                          <a:pt x="0" y="1641711"/>
                          <a:pt x="0" y="1620114"/>
                        </a:cubicBezTo>
                        <a:lnTo>
                          <a:pt x="0" y="81429"/>
                        </a:lnTo>
                        <a:cubicBezTo>
                          <a:pt x="0" y="59833"/>
                          <a:pt x="8579" y="39121"/>
                          <a:pt x="23850" y="23850"/>
                        </a:cubicBezTo>
                        <a:cubicBezTo>
                          <a:pt x="39121" y="8579"/>
                          <a:pt x="59833" y="0"/>
                          <a:pt x="81429" y="0"/>
                        </a:cubicBezTo>
                        <a:close/>
                      </a:path>
                    </a:pathLst>
                  </a:custGeom>
                  <a:solidFill>
                    <a:srgbClr val="0B1320"/>
                  </a:solidFill>
                </p:spPr>
                <p:txBody>
                  <a:bodyPr/>
                  <a:lstStyle/>
                  <a:p>
                    <a:endParaRPr lang="it-IT" sz="1200"/>
                  </a:p>
                </p:txBody>
              </p:sp>
              <p:sp>
                <p:nvSpPr>
                  <p:cNvPr id="24" name="TextBox 24"/>
                  <p:cNvSpPr txBox="1"/>
                  <p:nvPr/>
                </p:nvSpPr>
                <p:spPr>
                  <a:xfrm>
                    <a:off x="0" y="-66675"/>
                    <a:ext cx="1277063" cy="1768219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867"/>
                      </a:lnSpc>
                    </a:pPr>
                    <a:endParaRPr lang="it-IT" sz="1200"/>
                  </a:p>
                </p:txBody>
              </p:sp>
            </p:grpSp>
            <p:sp>
              <p:nvSpPr>
                <p:cNvPr id="18" name="Freeform 18"/>
                <p:cNvSpPr/>
                <p:nvPr/>
              </p:nvSpPr>
              <p:spPr>
                <a:xfrm>
                  <a:off x="-2279096" y="3419738"/>
                  <a:ext cx="5962890" cy="10061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0520" h="13414911">
                      <a:moveTo>
                        <a:pt x="0" y="0"/>
                      </a:moveTo>
                      <a:lnTo>
                        <a:pt x="7950519" y="0"/>
                      </a:lnTo>
                      <a:lnTo>
                        <a:pt x="7950519" y="13414911"/>
                      </a:lnTo>
                      <a:lnTo>
                        <a:pt x="0" y="134149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6"/>
                  <a:stretch>
                    <a:fillRect l="-98876" r="-101756"/>
                  </a:stretch>
                </a:blipFill>
              </p:spPr>
              <p:txBody>
                <a:bodyPr/>
                <a:lstStyle/>
                <a:p>
                  <a:endParaRPr lang="it-IT" sz="1200"/>
                </a:p>
              </p:txBody>
            </p:sp>
          </p:grpSp>
          <p:sp>
            <p:nvSpPr>
              <p:cNvPr id="26" name="Rettangolo con angoli arrotondati 25">
                <a:extLst>
                  <a:ext uri="{FF2B5EF4-FFF2-40B4-BE49-F238E27FC236}">
                    <a16:creationId xmlns:a16="http://schemas.microsoft.com/office/drawing/2014/main" id="{2A84E28E-CB82-B3E8-D98B-C4842900EDAA}"/>
                  </a:ext>
                </a:extLst>
              </p:cNvPr>
              <p:cNvSpPr/>
              <p:nvPr/>
            </p:nvSpPr>
            <p:spPr>
              <a:xfrm>
                <a:off x="10084000" y="5189011"/>
                <a:ext cx="1687323" cy="1905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333">
                    <a:latin typeface="Poppins" pitchFamily="2" charset="77"/>
                    <a:cs typeface="Poppins" pitchFamily="2" charset="77"/>
                  </a:rPr>
                  <a:t>1</a:t>
                </a:r>
              </a:p>
            </p:txBody>
          </p:sp>
        </p:grpSp>
        <p:sp>
          <p:nvSpPr>
            <p:cNvPr id="33" name="CasellaDiTesto 32">
              <a:extLst>
                <a:ext uri="{FF2B5EF4-FFF2-40B4-BE49-F238E27FC236}">
                  <a16:creationId xmlns:a16="http://schemas.microsoft.com/office/drawing/2014/main" id="{ED3A7A32-6483-4300-ABA2-8D8B3B254F1F}"/>
                </a:ext>
              </a:extLst>
            </p:cNvPr>
            <p:cNvSpPr txBox="1"/>
            <p:nvPr/>
          </p:nvSpPr>
          <p:spPr>
            <a:xfrm>
              <a:off x="-4267200" y="6540441"/>
              <a:ext cx="4476488" cy="1985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667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Spiegazione </a:t>
              </a:r>
              <a:r>
                <a:rPr lang="it-IT" sz="2667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struttura reti neurali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BAF7D-0E94-D9CC-9582-2A3421C49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uppo 34">
            <a:extLst>
              <a:ext uri="{FF2B5EF4-FFF2-40B4-BE49-F238E27FC236}">
                <a16:creationId xmlns:a16="http://schemas.microsoft.com/office/drawing/2014/main" id="{288C274F-386C-1989-CEED-6E28F437446D}"/>
              </a:ext>
            </a:extLst>
          </p:cNvPr>
          <p:cNvGrpSpPr/>
          <p:nvPr/>
        </p:nvGrpSpPr>
        <p:grpSpPr>
          <a:xfrm>
            <a:off x="7347907" y="2989497"/>
            <a:ext cx="5040035" cy="4682379"/>
            <a:chOff x="-4051313" y="4484244"/>
            <a:chExt cx="7560052" cy="7023569"/>
          </a:xfrm>
        </p:grpSpPr>
        <p:grpSp>
          <p:nvGrpSpPr>
            <p:cNvPr id="36" name="Group 7">
              <a:extLst>
                <a:ext uri="{FF2B5EF4-FFF2-40B4-BE49-F238E27FC236}">
                  <a16:creationId xmlns:a16="http://schemas.microsoft.com/office/drawing/2014/main" id="{EFDC2F61-FD1D-A3AB-23E2-95D82F109C70}"/>
                </a:ext>
              </a:extLst>
            </p:cNvPr>
            <p:cNvGrpSpPr/>
            <p:nvPr/>
          </p:nvGrpSpPr>
          <p:grpSpPr>
            <a:xfrm>
              <a:off x="-4051313" y="4484244"/>
              <a:ext cx="7560052" cy="7023569"/>
              <a:chOff x="0" y="0"/>
              <a:chExt cx="10080070" cy="9364759"/>
            </a:xfrm>
          </p:grpSpPr>
          <p:sp>
            <p:nvSpPr>
              <p:cNvPr id="38" name="Freeform 8">
                <a:extLst>
                  <a:ext uri="{FF2B5EF4-FFF2-40B4-BE49-F238E27FC236}">
                    <a16:creationId xmlns:a16="http://schemas.microsoft.com/office/drawing/2014/main" id="{C45B95AD-F3A6-65C4-4093-83A02383B4EA}"/>
                  </a:ext>
                </a:extLst>
              </p:cNvPr>
              <p:cNvSpPr/>
              <p:nvPr/>
            </p:nvSpPr>
            <p:spPr>
              <a:xfrm>
                <a:off x="3600284" y="0"/>
                <a:ext cx="6479785" cy="9364759"/>
              </a:xfrm>
              <a:custGeom>
                <a:avLst/>
                <a:gdLst/>
                <a:ahLst/>
                <a:cxnLst/>
                <a:rect l="l" t="t" r="r" b="b"/>
                <a:pathLst>
                  <a:path w="6479785" h="9364759">
                    <a:moveTo>
                      <a:pt x="0" y="0"/>
                    </a:moveTo>
                    <a:lnTo>
                      <a:pt x="6479786" y="0"/>
                    </a:lnTo>
                    <a:lnTo>
                      <a:pt x="6479786" y="9364759"/>
                    </a:lnTo>
                    <a:lnTo>
                      <a:pt x="0" y="936475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99768" t="-6655" r="-104796" b="-11621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  <p:grpSp>
            <p:nvGrpSpPr>
              <p:cNvPr id="39" name="Group 9">
                <a:extLst>
                  <a:ext uri="{FF2B5EF4-FFF2-40B4-BE49-F238E27FC236}">
                    <a16:creationId xmlns:a16="http://schemas.microsoft.com/office/drawing/2014/main" id="{C879CA0E-DBDD-BF4D-FDF0-4E6973ACEC0E}"/>
                  </a:ext>
                </a:extLst>
              </p:cNvPr>
              <p:cNvGrpSpPr/>
              <p:nvPr/>
            </p:nvGrpSpPr>
            <p:grpSpPr>
              <a:xfrm>
                <a:off x="0" y="417861"/>
                <a:ext cx="6042914" cy="8053534"/>
                <a:chOff x="0" y="0"/>
                <a:chExt cx="1193662" cy="1590822"/>
              </a:xfrm>
            </p:grpSpPr>
            <p:sp>
              <p:nvSpPr>
                <p:cNvPr id="40" name="Freeform 10">
                  <a:extLst>
                    <a:ext uri="{FF2B5EF4-FFF2-40B4-BE49-F238E27FC236}">
                      <a16:creationId xmlns:a16="http://schemas.microsoft.com/office/drawing/2014/main" id="{0C050598-2F1C-DB6E-CD53-2FBFEE7B9FF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93662" cy="159082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3662" h="1590822">
                      <a:moveTo>
                        <a:pt x="87119" y="0"/>
                      </a:moveTo>
                      <a:lnTo>
                        <a:pt x="1106543" y="0"/>
                      </a:lnTo>
                      <a:cubicBezTo>
                        <a:pt x="1154658" y="0"/>
                        <a:pt x="1193662" y="39004"/>
                        <a:pt x="1193662" y="87119"/>
                      </a:cubicBezTo>
                      <a:lnTo>
                        <a:pt x="1193662" y="1503703"/>
                      </a:lnTo>
                      <a:cubicBezTo>
                        <a:pt x="1193662" y="1551817"/>
                        <a:pt x="1154658" y="1590822"/>
                        <a:pt x="1106543" y="1590822"/>
                      </a:cubicBezTo>
                      <a:lnTo>
                        <a:pt x="87119" y="1590822"/>
                      </a:lnTo>
                      <a:cubicBezTo>
                        <a:pt x="39004" y="1590822"/>
                        <a:pt x="0" y="1551817"/>
                        <a:pt x="0" y="1503703"/>
                      </a:cubicBezTo>
                      <a:lnTo>
                        <a:pt x="0" y="87119"/>
                      </a:lnTo>
                      <a:cubicBezTo>
                        <a:pt x="0" y="39004"/>
                        <a:pt x="39004" y="0"/>
                        <a:pt x="87119" y="0"/>
                      </a:cubicBezTo>
                      <a:close/>
                    </a:path>
                  </a:pathLst>
                </a:custGeom>
                <a:solidFill>
                  <a:srgbClr val="AFC0D0"/>
                </a:solidFill>
              </p:spPr>
              <p:txBody>
                <a:bodyPr/>
                <a:lstStyle/>
                <a:p>
                  <a:endParaRPr lang="it-IT" sz="1200"/>
                </a:p>
              </p:txBody>
            </p:sp>
            <p:sp>
              <p:nvSpPr>
                <p:cNvPr id="41" name="TextBox 11">
                  <a:extLst>
                    <a:ext uri="{FF2B5EF4-FFF2-40B4-BE49-F238E27FC236}">
                      <a16:creationId xmlns:a16="http://schemas.microsoft.com/office/drawing/2014/main" id="{B97BD2BC-9C1C-E299-A51A-E2FAC491ECF8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1193662" cy="1657497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867"/>
                    </a:lnSpc>
                  </a:pPr>
                  <a:endParaRPr lang="it-IT" sz="1200"/>
                </a:p>
              </p:txBody>
            </p:sp>
          </p:grpSp>
        </p:grpSp>
        <p:sp>
          <p:nvSpPr>
            <p:cNvPr id="37" name="CasellaDiTesto 36">
              <a:extLst>
                <a:ext uri="{FF2B5EF4-FFF2-40B4-BE49-F238E27FC236}">
                  <a16:creationId xmlns:a16="http://schemas.microsoft.com/office/drawing/2014/main" id="{CD2B99FE-CF5C-E885-4A3E-9DD92D0B2797}"/>
                </a:ext>
              </a:extLst>
            </p:cNvPr>
            <p:cNvSpPr txBox="1"/>
            <p:nvPr/>
          </p:nvSpPr>
          <p:spPr>
            <a:xfrm>
              <a:off x="-1533257" y="6376754"/>
              <a:ext cx="3648024" cy="2601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667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Attacco della rete </a:t>
              </a:r>
              <a:r>
                <a:rPr lang="it-IT" sz="2667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tramite FGSM</a:t>
              </a:r>
            </a:p>
          </p:txBody>
        </p:sp>
      </p:grpSp>
      <p:sp>
        <p:nvSpPr>
          <p:cNvPr id="25" name="TextBox 25">
            <a:extLst>
              <a:ext uri="{FF2B5EF4-FFF2-40B4-BE49-F238E27FC236}">
                <a16:creationId xmlns:a16="http://schemas.microsoft.com/office/drawing/2014/main" id="{EBD6B585-A33F-DDD5-5B77-414C0F4DFDBB}"/>
              </a:ext>
            </a:extLst>
          </p:cNvPr>
          <p:cNvSpPr txBox="1"/>
          <p:nvPr/>
        </p:nvSpPr>
        <p:spPr>
          <a:xfrm>
            <a:off x="4870287" y="1273095"/>
            <a:ext cx="2190913" cy="604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it-IT" sz="3466" b="1">
                <a:solidFill>
                  <a:srgbClr val="0B1320"/>
                </a:solidFill>
                <a:latin typeface="Poppins" pitchFamily="2" charset="77"/>
                <a:ea typeface="Open Sans Bold"/>
                <a:cs typeface="Poppins" pitchFamily="2" charset="77"/>
                <a:sym typeface="Open Sans Bold"/>
              </a:rPr>
              <a:t>Obiettivo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0AA10C17-5852-A1A1-2016-F4DCF13704C1}"/>
              </a:ext>
            </a:extLst>
          </p:cNvPr>
          <p:cNvGrpSpPr/>
          <p:nvPr/>
        </p:nvGrpSpPr>
        <p:grpSpPr>
          <a:xfrm>
            <a:off x="297531" y="299726"/>
            <a:ext cx="2260583" cy="772149"/>
            <a:chOff x="446295" y="449588"/>
            <a:chExt cx="3390875" cy="1158224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844EE271-5DFA-2DCE-B7B2-E574259BFBCE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sz="1200" dirty="0"/>
            </a:p>
          </p:txBody>
        </p:sp>
        <p:sp>
          <p:nvSpPr>
            <p:cNvPr id="17" name="Freeform 4">
              <a:extLst>
                <a:ext uri="{FF2B5EF4-FFF2-40B4-BE49-F238E27FC236}">
                  <a16:creationId xmlns:a16="http://schemas.microsoft.com/office/drawing/2014/main" id="{AE7D6965-1493-D210-8468-B6D7542CC0B7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7418"/>
              </a:stretch>
            </a:blipFill>
          </p:spPr>
          <p:txBody>
            <a:bodyPr/>
            <a:lstStyle/>
            <a:p>
              <a:endParaRPr lang="it-IT" sz="1200" dirty="0"/>
            </a:p>
          </p:txBody>
        </p:sp>
      </p:grpSp>
      <p:sp>
        <p:nvSpPr>
          <p:cNvPr id="21" name="TextBox 6">
            <a:extLst>
              <a:ext uri="{FF2B5EF4-FFF2-40B4-BE49-F238E27FC236}">
                <a16:creationId xmlns:a16="http://schemas.microsoft.com/office/drawing/2014/main" id="{0819F115-9372-B83B-B679-5F66CEA3A1A4}"/>
              </a:ext>
            </a:extLst>
          </p:cNvPr>
          <p:cNvSpPr txBox="1"/>
          <p:nvPr/>
        </p:nvSpPr>
        <p:spPr>
          <a:xfrm>
            <a:off x="510699" y="1832547"/>
            <a:ext cx="11170601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it-IT" sz="2000" dirty="0">
                <a:latin typeface="Poppins" pitchFamily="2" charset="77"/>
                <a:cs typeface="Poppins" pitchFamily="2" charset="77"/>
              </a:rPr>
              <a:t>Confrontare le architetture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ViT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e ResNet18 in termini di prestazioni su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ImageNet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e valutarne la robustezza contro attacchi FGSM.</a:t>
            </a:r>
            <a:endParaRPr lang="it-IT" sz="2000" dirty="0">
              <a:solidFill>
                <a:srgbClr val="0B1320"/>
              </a:solidFill>
              <a:latin typeface="Poppins" pitchFamily="2" charset="77"/>
              <a:ea typeface="Open Sans"/>
              <a:cs typeface="Poppins" pitchFamily="2" charset="77"/>
              <a:sym typeface="Open Sans"/>
            </a:endParaRPr>
          </a:p>
        </p:txBody>
      </p: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47942999-FE4E-FDB9-7407-957D790199B4}"/>
              </a:ext>
            </a:extLst>
          </p:cNvPr>
          <p:cNvGrpSpPr/>
          <p:nvPr/>
        </p:nvGrpSpPr>
        <p:grpSpPr>
          <a:xfrm>
            <a:off x="3442626" y="2355649"/>
            <a:ext cx="6221149" cy="6153642"/>
            <a:chOff x="-5486400" y="3533473"/>
            <a:chExt cx="9331723" cy="9230463"/>
          </a:xfrm>
        </p:grpSpPr>
        <p:grpSp>
          <p:nvGrpSpPr>
            <p:cNvPr id="43" name="Group 12">
              <a:extLst>
                <a:ext uri="{FF2B5EF4-FFF2-40B4-BE49-F238E27FC236}">
                  <a16:creationId xmlns:a16="http://schemas.microsoft.com/office/drawing/2014/main" id="{6BF8FF37-8F3D-0C2F-4BB6-51AE72155D62}"/>
                </a:ext>
              </a:extLst>
            </p:cNvPr>
            <p:cNvGrpSpPr/>
            <p:nvPr/>
          </p:nvGrpSpPr>
          <p:grpSpPr>
            <a:xfrm>
              <a:off x="-5486400" y="3533473"/>
              <a:ext cx="9331723" cy="9230463"/>
              <a:chOff x="0" y="0"/>
              <a:chExt cx="10690217" cy="12257907"/>
            </a:xfrm>
          </p:grpSpPr>
          <p:sp>
            <p:nvSpPr>
              <p:cNvPr id="46" name="Freeform 13">
                <a:extLst>
                  <a:ext uri="{FF2B5EF4-FFF2-40B4-BE49-F238E27FC236}">
                    <a16:creationId xmlns:a16="http://schemas.microsoft.com/office/drawing/2014/main" id="{750F6934-945A-2BA9-8277-760D8E6B65D0}"/>
                  </a:ext>
                </a:extLst>
              </p:cNvPr>
              <p:cNvSpPr/>
              <p:nvPr/>
            </p:nvSpPr>
            <p:spPr>
              <a:xfrm>
                <a:off x="3239571" y="0"/>
                <a:ext cx="7450646" cy="12257907"/>
              </a:xfrm>
              <a:custGeom>
                <a:avLst/>
                <a:gdLst/>
                <a:ahLst/>
                <a:cxnLst/>
                <a:rect l="l" t="t" r="r" b="b"/>
                <a:pathLst>
                  <a:path w="7450646" h="12257907">
                    <a:moveTo>
                      <a:pt x="0" y="0"/>
                    </a:moveTo>
                    <a:lnTo>
                      <a:pt x="7450647" y="0"/>
                    </a:lnTo>
                    <a:lnTo>
                      <a:pt x="7450647" y="12257907"/>
                    </a:lnTo>
                    <a:lnTo>
                      <a:pt x="0" y="1225790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95571" r="-97562"/>
                </a:stretch>
              </a:blipFill>
            </p:spPr>
            <p:txBody>
              <a:bodyPr/>
              <a:lstStyle/>
              <a:p>
                <a:endParaRPr lang="it-IT" sz="1200"/>
              </a:p>
            </p:txBody>
          </p:sp>
          <p:grpSp>
            <p:nvGrpSpPr>
              <p:cNvPr id="47" name="Group 14">
                <a:extLst>
                  <a:ext uri="{FF2B5EF4-FFF2-40B4-BE49-F238E27FC236}">
                    <a16:creationId xmlns:a16="http://schemas.microsoft.com/office/drawing/2014/main" id="{0716770F-B698-117A-89E5-E4C4099769C6}"/>
                  </a:ext>
                </a:extLst>
              </p:cNvPr>
              <p:cNvGrpSpPr/>
              <p:nvPr/>
            </p:nvGrpSpPr>
            <p:grpSpPr>
              <a:xfrm>
                <a:off x="0" y="1408194"/>
                <a:ext cx="4978327" cy="8458601"/>
                <a:chOff x="0" y="0"/>
                <a:chExt cx="983373" cy="1670835"/>
              </a:xfrm>
            </p:grpSpPr>
            <p:sp>
              <p:nvSpPr>
                <p:cNvPr id="48" name="Freeform 15">
                  <a:extLst>
                    <a:ext uri="{FF2B5EF4-FFF2-40B4-BE49-F238E27FC236}">
                      <a16:creationId xmlns:a16="http://schemas.microsoft.com/office/drawing/2014/main" id="{CE8951F2-A4AF-B42B-1486-C59D466B1DE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983373" cy="16708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373" h="1670835">
                      <a:moveTo>
                        <a:pt x="105748" y="0"/>
                      </a:moveTo>
                      <a:lnTo>
                        <a:pt x="877625" y="0"/>
                      </a:lnTo>
                      <a:cubicBezTo>
                        <a:pt x="936028" y="0"/>
                        <a:pt x="983373" y="47345"/>
                        <a:pt x="983373" y="105748"/>
                      </a:cubicBezTo>
                      <a:lnTo>
                        <a:pt x="983373" y="1565086"/>
                      </a:lnTo>
                      <a:cubicBezTo>
                        <a:pt x="983373" y="1623490"/>
                        <a:pt x="936028" y="1670835"/>
                        <a:pt x="877625" y="1670835"/>
                      </a:cubicBezTo>
                      <a:lnTo>
                        <a:pt x="105748" y="1670835"/>
                      </a:lnTo>
                      <a:cubicBezTo>
                        <a:pt x="47345" y="1670835"/>
                        <a:pt x="0" y="1623490"/>
                        <a:pt x="0" y="1565086"/>
                      </a:cubicBezTo>
                      <a:lnTo>
                        <a:pt x="0" y="105748"/>
                      </a:lnTo>
                      <a:cubicBezTo>
                        <a:pt x="0" y="47345"/>
                        <a:pt x="47345" y="0"/>
                        <a:pt x="105748" y="0"/>
                      </a:cubicBezTo>
                      <a:close/>
                    </a:path>
                  </a:pathLst>
                </a:custGeom>
                <a:solidFill>
                  <a:srgbClr val="1C3F60"/>
                </a:solidFill>
              </p:spPr>
              <p:txBody>
                <a:bodyPr/>
                <a:lstStyle/>
                <a:p>
                  <a:endParaRPr lang="it-IT" sz="1200"/>
                </a:p>
              </p:txBody>
            </p:sp>
            <p:sp>
              <p:nvSpPr>
                <p:cNvPr id="49" name="TextBox 16">
                  <a:extLst>
                    <a:ext uri="{FF2B5EF4-FFF2-40B4-BE49-F238E27FC236}">
                      <a16:creationId xmlns:a16="http://schemas.microsoft.com/office/drawing/2014/main" id="{E86EE7CA-6E61-CF4F-2E26-6F36AB6480FB}"/>
                    </a:ext>
                  </a:extLst>
                </p:cNvPr>
                <p:cNvSpPr txBox="1"/>
                <p:nvPr/>
              </p:nvSpPr>
              <p:spPr>
                <a:xfrm>
                  <a:off x="0" y="-66675"/>
                  <a:ext cx="983373" cy="1737510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867"/>
                    </a:lnSpc>
                  </a:pPr>
                  <a:endParaRPr lang="it-IT" sz="1200"/>
                </a:p>
              </p:txBody>
            </p:sp>
          </p:grpSp>
        </p:grpSp>
        <p:sp>
          <p:nvSpPr>
            <p:cNvPr id="44" name="CasellaDiTesto 43">
              <a:extLst>
                <a:ext uri="{FF2B5EF4-FFF2-40B4-BE49-F238E27FC236}">
                  <a16:creationId xmlns:a16="http://schemas.microsoft.com/office/drawing/2014/main" id="{FFBACAB6-0AD7-3464-80D6-D5E547D1A268}"/>
                </a:ext>
              </a:extLst>
            </p:cNvPr>
            <p:cNvSpPr txBox="1"/>
            <p:nvPr/>
          </p:nvSpPr>
          <p:spPr>
            <a:xfrm>
              <a:off x="-3387744" y="6540442"/>
              <a:ext cx="4665126" cy="1985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667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Confronto prestazioni</a:t>
              </a:r>
              <a:r>
                <a:rPr lang="it-IT" sz="2667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 </a:t>
              </a:r>
            </a:p>
            <a:p>
              <a:pPr algn="ctr"/>
              <a:r>
                <a:rPr lang="it-IT" sz="2667" dirty="0" err="1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ViT</a:t>
              </a:r>
              <a:r>
                <a:rPr lang="it-IT" sz="2667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 VS ResNet18</a:t>
              </a:r>
              <a:endParaRPr lang="it-IT" sz="2667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grpSp>
        <p:nvGrpSpPr>
          <p:cNvPr id="50" name="Gruppo 49">
            <a:extLst>
              <a:ext uri="{FF2B5EF4-FFF2-40B4-BE49-F238E27FC236}">
                <a16:creationId xmlns:a16="http://schemas.microsoft.com/office/drawing/2014/main" id="{6D0908C8-589D-4C49-0DD9-AB2C7DCE4047}"/>
              </a:ext>
            </a:extLst>
          </p:cNvPr>
          <p:cNvGrpSpPr/>
          <p:nvPr/>
        </p:nvGrpSpPr>
        <p:grpSpPr>
          <a:xfrm>
            <a:off x="-651941" y="2212388"/>
            <a:ext cx="5892800" cy="6712151"/>
            <a:chOff x="-6207523" y="3238500"/>
            <a:chExt cx="8839200" cy="10068227"/>
          </a:xfrm>
        </p:grpSpPr>
        <p:grpSp>
          <p:nvGrpSpPr>
            <p:cNvPr id="51" name="Gruppo 50">
              <a:extLst>
                <a:ext uri="{FF2B5EF4-FFF2-40B4-BE49-F238E27FC236}">
                  <a16:creationId xmlns:a16="http://schemas.microsoft.com/office/drawing/2014/main" id="{9754F6E0-FB40-62A4-E603-6D2D1AAF6707}"/>
                </a:ext>
              </a:extLst>
            </p:cNvPr>
            <p:cNvGrpSpPr/>
            <p:nvPr/>
          </p:nvGrpSpPr>
          <p:grpSpPr>
            <a:xfrm>
              <a:off x="-6207523" y="3238500"/>
              <a:ext cx="8839200" cy="10068227"/>
              <a:chOff x="4114800" y="3086100"/>
              <a:chExt cx="8146441" cy="10061183"/>
            </a:xfrm>
          </p:grpSpPr>
          <p:grpSp>
            <p:nvGrpSpPr>
              <p:cNvPr id="53" name="Gruppo 52">
                <a:extLst>
                  <a:ext uri="{FF2B5EF4-FFF2-40B4-BE49-F238E27FC236}">
                    <a16:creationId xmlns:a16="http://schemas.microsoft.com/office/drawing/2014/main" id="{5F097FF8-619B-13DA-30B8-CD00F1C23E66}"/>
                  </a:ext>
                </a:extLst>
              </p:cNvPr>
              <p:cNvGrpSpPr/>
              <p:nvPr/>
            </p:nvGrpSpPr>
            <p:grpSpPr>
              <a:xfrm>
                <a:off x="4114800" y="3086100"/>
                <a:ext cx="8146441" cy="10061183"/>
                <a:chOff x="-4462647" y="3419738"/>
                <a:chExt cx="8146441" cy="10061183"/>
              </a:xfrm>
            </p:grpSpPr>
            <p:grpSp>
              <p:nvGrpSpPr>
                <p:cNvPr id="55" name="Group 22">
                  <a:extLst>
                    <a:ext uri="{FF2B5EF4-FFF2-40B4-BE49-F238E27FC236}">
                      <a16:creationId xmlns:a16="http://schemas.microsoft.com/office/drawing/2014/main" id="{897DDCA2-46FD-05C0-FAAC-38921FA7417D}"/>
                    </a:ext>
                  </a:extLst>
                </p:cNvPr>
                <p:cNvGrpSpPr/>
                <p:nvPr/>
              </p:nvGrpSpPr>
              <p:grpSpPr>
                <a:xfrm>
                  <a:off x="-4462647" y="4310788"/>
                  <a:ext cx="5537000" cy="7310660"/>
                  <a:chOff x="0" y="-66675"/>
                  <a:chExt cx="1339226" cy="1768219"/>
                </a:xfrm>
              </p:grpSpPr>
              <p:sp>
                <p:nvSpPr>
                  <p:cNvPr id="57" name="Freeform 23">
                    <a:extLst>
                      <a:ext uri="{FF2B5EF4-FFF2-40B4-BE49-F238E27FC236}">
                        <a16:creationId xmlns:a16="http://schemas.microsoft.com/office/drawing/2014/main" id="{72AE5993-0DC9-41F0-1895-483936D2CF11}"/>
                      </a:ext>
                    </a:extLst>
                  </p:cNvPr>
                  <p:cNvSpPr/>
                  <p:nvPr/>
                </p:nvSpPr>
                <p:spPr>
                  <a:xfrm>
                    <a:off x="0" y="-191"/>
                    <a:ext cx="1339226" cy="17017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77063" h="1701544">
                        <a:moveTo>
                          <a:pt x="81429" y="0"/>
                        </a:moveTo>
                        <a:lnTo>
                          <a:pt x="1195634" y="0"/>
                        </a:lnTo>
                        <a:cubicBezTo>
                          <a:pt x="1240606" y="0"/>
                          <a:pt x="1277063" y="36457"/>
                          <a:pt x="1277063" y="81429"/>
                        </a:cubicBezTo>
                        <a:lnTo>
                          <a:pt x="1277063" y="1620114"/>
                        </a:lnTo>
                        <a:cubicBezTo>
                          <a:pt x="1277063" y="1641711"/>
                          <a:pt x="1268484" y="1662423"/>
                          <a:pt x="1253213" y="1677694"/>
                        </a:cubicBezTo>
                        <a:cubicBezTo>
                          <a:pt x="1237942" y="1692964"/>
                          <a:pt x="1217230" y="1701544"/>
                          <a:pt x="1195634" y="1701544"/>
                        </a:cubicBezTo>
                        <a:lnTo>
                          <a:pt x="81429" y="1701544"/>
                        </a:lnTo>
                        <a:cubicBezTo>
                          <a:pt x="59833" y="1701544"/>
                          <a:pt x="39121" y="1692964"/>
                          <a:pt x="23850" y="1677694"/>
                        </a:cubicBezTo>
                        <a:cubicBezTo>
                          <a:pt x="8579" y="1662423"/>
                          <a:pt x="0" y="1641711"/>
                          <a:pt x="0" y="1620114"/>
                        </a:cubicBezTo>
                        <a:lnTo>
                          <a:pt x="0" y="81429"/>
                        </a:lnTo>
                        <a:cubicBezTo>
                          <a:pt x="0" y="59833"/>
                          <a:pt x="8579" y="39121"/>
                          <a:pt x="23850" y="23850"/>
                        </a:cubicBezTo>
                        <a:cubicBezTo>
                          <a:pt x="39121" y="8579"/>
                          <a:pt x="59833" y="0"/>
                          <a:pt x="81429" y="0"/>
                        </a:cubicBezTo>
                        <a:close/>
                      </a:path>
                    </a:pathLst>
                  </a:custGeom>
                  <a:solidFill>
                    <a:srgbClr val="0B1320"/>
                  </a:solidFill>
                </p:spPr>
                <p:txBody>
                  <a:bodyPr/>
                  <a:lstStyle/>
                  <a:p>
                    <a:endParaRPr lang="it-IT" sz="1200"/>
                  </a:p>
                </p:txBody>
              </p:sp>
              <p:sp>
                <p:nvSpPr>
                  <p:cNvPr id="58" name="TextBox 24">
                    <a:extLst>
                      <a:ext uri="{FF2B5EF4-FFF2-40B4-BE49-F238E27FC236}">
                        <a16:creationId xmlns:a16="http://schemas.microsoft.com/office/drawing/2014/main" id="{972D5120-4844-AA8B-D483-91819A8F843C}"/>
                      </a:ext>
                    </a:extLst>
                  </p:cNvPr>
                  <p:cNvSpPr txBox="1"/>
                  <p:nvPr/>
                </p:nvSpPr>
                <p:spPr>
                  <a:xfrm>
                    <a:off x="0" y="-66675"/>
                    <a:ext cx="1277063" cy="1768219"/>
                  </a:xfrm>
                  <a:prstGeom prst="rect">
                    <a:avLst/>
                  </a:prstGeom>
                </p:spPr>
                <p:txBody>
                  <a:bodyPr lIns="33867" tIns="33867" rIns="33867" bIns="33867" rtlCol="0" anchor="ctr"/>
                  <a:lstStyle/>
                  <a:p>
                    <a:pPr algn="ctr">
                      <a:lnSpc>
                        <a:spcPts val="1867"/>
                      </a:lnSpc>
                    </a:pPr>
                    <a:endParaRPr lang="it-IT" sz="1200"/>
                  </a:p>
                </p:txBody>
              </p:sp>
            </p:grpSp>
            <p:sp>
              <p:nvSpPr>
                <p:cNvPr id="56" name="Freeform 18">
                  <a:extLst>
                    <a:ext uri="{FF2B5EF4-FFF2-40B4-BE49-F238E27FC236}">
                      <a16:creationId xmlns:a16="http://schemas.microsoft.com/office/drawing/2014/main" id="{EF63FFAA-7506-073E-80B4-EC16FBF87F5E}"/>
                    </a:ext>
                  </a:extLst>
                </p:cNvPr>
                <p:cNvSpPr/>
                <p:nvPr/>
              </p:nvSpPr>
              <p:spPr>
                <a:xfrm>
                  <a:off x="-2279096" y="3419738"/>
                  <a:ext cx="5962890" cy="100611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50520" h="13414911">
                      <a:moveTo>
                        <a:pt x="0" y="0"/>
                      </a:moveTo>
                      <a:lnTo>
                        <a:pt x="7950519" y="0"/>
                      </a:lnTo>
                      <a:lnTo>
                        <a:pt x="7950519" y="13414911"/>
                      </a:lnTo>
                      <a:lnTo>
                        <a:pt x="0" y="1341491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blipFill>
                  <a:blip r:embed="rId6"/>
                  <a:stretch>
                    <a:fillRect l="-98876" r="-101756"/>
                  </a:stretch>
                </a:blipFill>
              </p:spPr>
              <p:txBody>
                <a:bodyPr/>
                <a:lstStyle/>
                <a:p>
                  <a:endParaRPr lang="it-IT" sz="1200"/>
                </a:p>
              </p:txBody>
            </p:sp>
          </p:grpSp>
          <p:sp>
            <p:nvSpPr>
              <p:cNvPr id="54" name="Rettangolo con angoli arrotondati 53">
                <a:extLst>
                  <a:ext uri="{FF2B5EF4-FFF2-40B4-BE49-F238E27FC236}">
                    <a16:creationId xmlns:a16="http://schemas.microsoft.com/office/drawing/2014/main" id="{87A59995-E7F2-2FB1-B407-D76307368106}"/>
                  </a:ext>
                </a:extLst>
              </p:cNvPr>
              <p:cNvSpPr/>
              <p:nvPr/>
            </p:nvSpPr>
            <p:spPr>
              <a:xfrm>
                <a:off x="10084000" y="5189011"/>
                <a:ext cx="1687323" cy="1905000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333">
                    <a:latin typeface="Poppins" pitchFamily="2" charset="77"/>
                    <a:cs typeface="Poppins" pitchFamily="2" charset="77"/>
                  </a:rPr>
                  <a:t>1</a:t>
                </a:r>
              </a:p>
            </p:txBody>
          </p:sp>
        </p:grpSp>
        <p:sp>
          <p:nvSpPr>
            <p:cNvPr id="52" name="CasellaDiTesto 51">
              <a:extLst>
                <a:ext uri="{FF2B5EF4-FFF2-40B4-BE49-F238E27FC236}">
                  <a16:creationId xmlns:a16="http://schemas.microsoft.com/office/drawing/2014/main" id="{115177A6-EAE5-1DC0-6FC0-4E502A0B66BF}"/>
                </a:ext>
              </a:extLst>
            </p:cNvPr>
            <p:cNvSpPr txBox="1"/>
            <p:nvPr/>
          </p:nvSpPr>
          <p:spPr>
            <a:xfrm>
              <a:off x="-4267200" y="6540441"/>
              <a:ext cx="4476488" cy="19854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667" b="1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Spiegazione </a:t>
              </a:r>
              <a:r>
                <a:rPr lang="it-IT" sz="2667" dirty="0">
                  <a:solidFill>
                    <a:schemeClr val="bg1"/>
                  </a:solidFill>
                  <a:latin typeface="Poppins" pitchFamily="2" charset="77"/>
                  <a:cs typeface="Poppins" pitchFamily="2" charset="77"/>
                </a:rPr>
                <a:t>struttura reti neurali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2378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D7CFA-B532-208A-4871-286D6240D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C6F4D52-E3B9-E855-6D0D-67F20AB3CBA8}"/>
              </a:ext>
            </a:extLst>
          </p:cNvPr>
          <p:cNvSpPr/>
          <p:nvPr/>
        </p:nvSpPr>
        <p:spPr>
          <a:xfrm>
            <a:off x="297530" y="299726"/>
            <a:ext cx="787508" cy="772149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8BB708F-1DE1-02A3-B469-9651A4D9CADA}"/>
              </a:ext>
            </a:extLst>
          </p:cNvPr>
          <p:cNvSpPr/>
          <p:nvPr/>
        </p:nvSpPr>
        <p:spPr>
          <a:xfrm>
            <a:off x="1151659" y="447485"/>
            <a:ext cx="1406455" cy="476631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sz="12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AD5337E-E21E-6039-1710-E65C792998F6}"/>
              </a:ext>
            </a:extLst>
          </p:cNvPr>
          <p:cNvSpPr txBox="1"/>
          <p:nvPr/>
        </p:nvSpPr>
        <p:spPr>
          <a:xfrm>
            <a:off x="1772676" y="1226454"/>
            <a:ext cx="864664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it-IT" sz="4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utilizzato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666475-0656-48C1-1D26-12CFC39A0A0F}"/>
              </a:ext>
            </a:extLst>
          </p:cNvPr>
          <p:cNvSpPr txBox="1"/>
          <p:nvPr/>
        </p:nvSpPr>
        <p:spPr>
          <a:xfrm>
            <a:off x="857877" y="5937779"/>
            <a:ext cx="1326523" cy="22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6F4A11A9-632C-9B75-7A6F-38559D31B7AB}"/>
              </a:ext>
            </a:extLst>
          </p:cNvPr>
          <p:cNvSpPr txBox="1"/>
          <p:nvPr/>
        </p:nvSpPr>
        <p:spPr>
          <a:xfrm>
            <a:off x="11051878" y="5937779"/>
            <a:ext cx="4543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03/11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B8FDDE5D-1E5E-8474-D0A0-DC97255DE2BD}"/>
              </a:ext>
            </a:extLst>
          </p:cNvPr>
          <p:cNvSpPr txBox="1"/>
          <p:nvPr/>
        </p:nvSpPr>
        <p:spPr>
          <a:xfrm>
            <a:off x="629736" y="1942517"/>
            <a:ext cx="10932525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it-IT" sz="2000" b="1" dirty="0" err="1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ImmageNet</a:t>
            </a:r>
            <a:r>
              <a:rPr lang="it-IT" sz="2000" b="1" dirty="0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 mini </a:t>
            </a:r>
            <a:r>
              <a:rPr lang="it-IT" sz="2000" dirty="0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con subset divisi in:</a:t>
            </a:r>
          </a:p>
          <a:p>
            <a:pPr marL="342900" indent="-34290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Training set da 10, 50, 100, 150 e 200 cartelle con al suo interno circa 20 immagini</a:t>
            </a:r>
          </a:p>
          <a:p>
            <a:pPr marL="342900" indent="-34290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sz="2000" dirty="0" err="1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Validation</a:t>
            </a:r>
            <a:r>
              <a:rPr lang="it-IT" sz="2000" dirty="0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 set composto nello stesso modo del Training set</a:t>
            </a:r>
          </a:p>
          <a:p>
            <a:pPr>
              <a:lnSpc>
                <a:spcPts val="3173"/>
              </a:lnSpc>
            </a:pPr>
            <a:endParaRPr lang="it-IT" sz="2000" dirty="0">
              <a:solidFill>
                <a:srgbClr val="0B1320"/>
              </a:solidFill>
              <a:latin typeface="Poppins" pitchFamily="2" charset="77"/>
              <a:ea typeface="Open Sans"/>
              <a:cs typeface="Poppins" pitchFamily="2" charset="77"/>
              <a:sym typeface="Open Sans"/>
            </a:endParaRP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0AA30180-EE5A-926C-B604-62CB26816C8C}"/>
              </a:ext>
            </a:extLst>
          </p:cNvPr>
          <p:cNvGrpSpPr/>
          <p:nvPr/>
        </p:nvGrpSpPr>
        <p:grpSpPr>
          <a:xfrm>
            <a:off x="748777" y="3451226"/>
            <a:ext cx="10694446" cy="2060574"/>
            <a:chOff x="586896" y="3451226"/>
            <a:chExt cx="10694446" cy="2060574"/>
          </a:xfrm>
        </p:grpSpPr>
        <p:pic>
          <p:nvPicPr>
            <p:cNvPr id="5" name="Immagine 4">
              <a:extLst>
                <a:ext uri="{FF2B5EF4-FFF2-40B4-BE49-F238E27FC236}">
                  <a16:creationId xmlns:a16="http://schemas.microsoft.com/office/drawing/2014/main" id="{C98F8049-F40E-364A-AC6C-5CCD108619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86896" y="3451226"/>
              <a:ext cx="2745294" cy="2053480"/>
            </a:xfrm>
            <a:prstGeom prst="rect">
              <a:avLst/>
            </a:prstGeom>
          </p:spPr>
        </p:pic>
        <p:pic>
          <p:nvPicPr>
            <p:cNvPr id="7" name="Immagine 6">
              <a:extLst>
                <a:ext uri="{FF2B5EF4-FFF2-40B4-BE49-F238E27FC236}">
                  <a16:creationId xmlns:a16="http://schemas.microsoft.com/office/drawing/2014/main" id="{9A72DFD9-CAB8-49B8-32BF-7CA9CC921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16049" y="3451226"/>
              <a:ext cx="3090716" cy="2052235"/>
            </a:xfrm>
            <a:prstGeom prst="rect">
              <a:avLst/>
            </a:prstGeom>
          </p:spPr>
        </p:pic>
        <p:pic>
          <p:nvPicPr>
            <p:cNvPr id="9" name="Immagine 8">
              <a:extLst>
                <a:ext uri="{FF2B5EF4-FFF2-40B4-BE49-F238E27FC236}">
                  <a16:creationId xmlns:a16="http://schemas.microsoft.com/office/drawing/2014/main" id="{6A862AF2-AED5-180D-BB8C-CCAE7ED7D2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90625" y="3459564"/>
              <a:ext cx="3090717" cy="20522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830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2D53-18D0-D5D0-5D48-E46CE2D3B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EFCA9120-4A2E-0E6C-32EE-200BBF817892}"/>
              </a:ext>
            </a:extLst>
          </p:cNvPr>
          <p:cNvSpPr/>
          <p:nvPr/>
        </p:nvSpPr>
        <p:spPr>
          <a:xfrm>
            <a:off x="297530" y="299726"/>
            <a:ext cx="787508" cy="772149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903307E-7948-E026-A15E-05D7EDE837EC}"/>
              </a:ext>
            </a:extLst>
          </p:cNvPr>
          <p:cNvSpPr/>
          <p:nvPr/>
        </p:nvSpPr>
        <p:spPr>
          <a:xfrm>
            <a:off x="1151659" y="447485"/>
            <a:ext cx="1406455" cy="476631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sz="12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C6DE17B-5F8D-E21D-FBF5-2B7F7B973C01}"/>
              </a:ext>
            </a:extLst>
          </p:cNvPr>
          <p:cNvSpPr txBox="1"/>
          <p:nvPr/>
        </p:nvSpPr>
        <p:spPr>
          <a:xfrm>
            <a:off x="1772676" y="1226454"/>
            <a:ext cx="864664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it-IT" sz="4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Vision </a:t>
            </a:r>
            <a:r>
              <a:rPr lang="it-IT" sz="4000" b="1" dirty="0" err="1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Trasformer</a:t>
            </a:r>
            <a:endParaRPr lang="it-IT" sz="4000" b="1" dirty="0">
              <a:solidFill>
                <a:srgbClr val="0B132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D6AF7F-2FBA-DB64-F5BA-FF6E06AC2575}"/>
              </a:ext>
            </a:extLst>
          </p:cNvPr>
          <p:cNvSpPr txBox="1"/>
          <p:nvPr/>
        </p:nvSpPr>
        <p:spPr>
          <a:xfrm>
            <a:off x="857877" y="5937779"/>
            <a:ext cx="1326523" cy="22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8B9BB53D-CF71-BB14-10E5-D0B68A5D7E24}"/>
              </a:ext>
            </a:extLst>
          </p:cNvPr>
          <p:cNvSpPr txBox="1"/>
          <p:nvPr/>
        </p:nvSpPr>
        <p:spPr>
          <a:xfrm>
            <a:off x="11051878" y="5937779"/>
            <a:ext cx="4543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04/11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06A3A4F6-CEF6-2E91-B41F-443817D3C84C}"/>
              </a:ext>
            </a:extLst>
          </p:cNvPr>
          <p:cNvSpPr txBox="1"/>
          <p:nvPr/>
        </p:nvSpPr>
        <p:spPr>
          <a:xfrm>
            <a:off x="9149175" y="493439"/>
            <a:ext cx="274529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it-IT" sz="2000" dirty="0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Architettura delle reti</a:t>
            </a:r>
          </a:p>
        </p:txBody>
      </p:sp>
      <p:pic>
        <p:nvPicPr>
          <p:cNvPr id="7" name="Immagine 6" descr="Immagine che contiene testo, schermata, diagramma&#10;&#10;Il contenuto generato dall'IA potrebbe non essere corretto.">
            <a:extLst>
              <a:ext uri="{FF2B5EF4-FFF2-40B4-BE49-F238E27FC236}">
                <a16:creationId xmlns:a16="http://schemas.microsoft.com/office/drawing/2014/main" id="{96B2D402-9F24-3F87-7AB8-97731BB63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886" y="1923029"/>
            <a:ext cx="7147246" cy="444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8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D0D01-D642-78CC-A7E0-A817F5A7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74D26FDF-BC52-B938-76E3-298ED1F1E4F7}"/>
              </a:ext>
            </a:extLst>
          </p:cNvPr>
          <p:cNvSpPr/>
          <p:nvPr/>
        </p:nvSpPr>
        <p:spPr>
          <a:xfrm>
            <a:off x="297530" y="299726"/>
            <a:ext cx="787508" cy="772149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6AF951F-9570-5026-DAA5-C802E9EBEC6D}"/>
              </a:ext>
            </a:extLst>
          </p:cNvPr>
          <p:cNvSpPr/>
          <p:nvPr/>
        </p:nvSpPr>
        <p:spPr>
          <a:xfrm>
            <a:off x="1151659" y="447485"/>
            <a:ext cx="1406455" cy="476631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sz="12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A000D6A-8216-BF99-8674-DFE49FB4277D}"/>
              </a:ext>
            </a:extLst>
          </p:cNvPr>
          <p:cNvSpPr txBox="1"/>
          <p:nvPr/>
        </p:nvSpPr>
        <p:spPr>
          <a:xfrm>
            <a:off x="1131267" y="1226454"/>
            <a:ext cx="9929466" cy="596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it-IT" sz="4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Vision </a:t>
            </a:r>
            <a:r>
              <a:rPr lang="it-IT" sz="4000" b="1" dirty="0" err="1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Trasformer</a:t>
            </a:r>
            <a:r>
              <a:rPr lang="it-IT" sz="4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 - implementazione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02583C-1666-35A8-6013-E1B2763A5DA9}"/>
              </a:ext>
            </a:extLst>
          </p:cNvPr>
          <p:cNvSpPr txBox="1"/>
          <p:nvPr/>
        </p:nvSpPr>
        <p:spPr>
          <a:xfrm>
            <a:off x="857877" y="5937779"/>
            <a:ext cx="1326523" cy="22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CBEDBD70-0BC4-395D-7A69-6D4AD48A53C5}"/>
              </a:ext>
            </a:extLst>
          </p:cNvPr>
          <p:cNvSpPr txBox="1"/>
          <p:nvPr/>
        </p:nvSpPr>
        <p:spPr>
          <a:xfrm>
            <a:off x="11051878" y="5937779"/>
            <a:ext cx="4543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05/11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AE64F230-1195-6E96-A9D7-3BC0D6B7DF41}"/>
              </a:ext>
            </a:extLst>
          </p:cNvPr>
          <p:cNvSpPr txBox="1"/>
          <p:nvPr/>
        </p:nvSpPr>
        <p:spPr>
          <a:xfrm>
            <a:off x="9149175" y="493439"/>
            <a:ext cx="274529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it-IT" sz="2000" dirty="0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Architettura delle reti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37796AEB-2EDC-62FC-ED05-540254471FE9}"/>
              </a:ext>
            </a:extLst>
          </p:cNvPr>
          <p:cNvSpPr txBox="1"/>
          <p:nvPr/>
        </p:nvSpPr>
        <p:spPr>
          <a:xfrm>
            <a:off x="629736" y="2125109"/>
            <a:ext cx="10932525" cy="2846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Poppins" pitchFamily="2" charset="77"/>
                <a:cs typeface="Poppins" pitchFamily="2" charset="77"/>
              </a:rPr>
              <a:t>Ho utilizzato la libreria </a:t>
            </a:r>
            <a:r>
              <a:rPr lang="it-IT" sz="2000" b="1" dirty="0" err="1">
                <a:latin typeface="Poppins" pitchFamily="2" charset="77"/>
                <a:cs typeface="Poppins" pitchFamily="2" charset="77"/>
              </a:rPr>
              <a:t>timm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che fornisce modelli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pre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-addestrati su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ImageNet</a:t>
            </a:r>
            <a:endParaRPr lang="it-IT" sz="2000" dirty="0">
              <a:latin typeface="Poppins" pitchFamily="2" charset="77"/>
              <a:cs typeface="Poppins" pitchFamily="2" charset="77"/>
            </a:endParaRPr>
          </a:p>
          <a:p>
            <a:pPr marL="800100" lvl="1" indent="-34290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Poppins" pitchFamily="2" charset="77"/>
                <a:cs typeface="Poppins" pitchFamily="2" charset="77"/>
              </a:rPr>
              <a:t>Scegliendo la variante che lavora con immagini 224x224 pixel e suddivise in patch da 16x16 pixel</a:t>
            </a:r>
          </a:p>
          <a:p>
            <a:pPr marL="342900" indent="-34290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Poppins" pitchFamily="2" charset="77"/>
                <a:cs typeface="Poppins" pitchFamily="2" charset="77"/>
              </a:rPr>
              <a:t>Sostituisco la testa finale con un </a:t>
            </a:r>
            <a:r>
              <a:rPr lang="it-IT" sz="2000" b="1" dirty="0" err="1">
                <a:latin typeface="Poppins" pitchFamily="2" charset="77"/>
                <a:cs typeface="Poppins" pitchFamily="2" charset="77"/>
              </a:rPr>
              <a:t>layer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2000" b="1" dirty="0" err="1">
                <a:latin typeface="Poppins" pitchFamily="2" charset="77"/>
                <a:cs typeface="Poppins" pitchFamily="2" charset="77"/>
              </a:rPr>
              <a:t>fully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2000" b="1" dirty="0" err="1">
                <a:latin typeface="Poppins" pitchFamily="2" charset="77"/>
                <a:cs typeface="Poppins" pitchFamily="2" charset="77"/>
              </a:rPr>
              <a:t>connected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di dimensione pari al numero di classi da classificare</a:t>
            </a:r>
          </a:p>
          <a:p>
            <a:pPr marL="342900" indent="-34290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Poppins" pitchFamily="2" charset="77"/>
                <a:cs typeface="Poppins" pitchFamily="2" charset="77"/>
              </a:rPr>
              <a:t>Congelo i pesi di tutti gli strati tranne quelli della testa che l’ho allenata con l’ottimizzazione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Adam</a:t>
            </a:r>
          </a:p>
        </p:txBody>
      </p:sp>
    </p:spTree>
    <p:extLst>
      <p:ext uri="{BB962C8B-B14F-4D97-AF65-F5344CB8AC3E}">
        <p14:creationId xmlns:p14="http://schemas.microsoft.com/office/powerpoint/2010/main" val="421512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DBEFC-BB67-CBC3-132F-68471D89E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A80E895-19D7-B511-E1C6-8039C6528694}"/>
              </a:ext>
            </a:extLst>
          </p:cNvPr>
          <p:cNvSpPr/>
          <p:nvPr/>
        </p:nvSpPr>
        <p:spPr>
          <a:xfrm>
            <a:off x="297530" y="299726"/>
            <a:ext cx="787508" cy="772149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8C89828-144D-61CC-C731-AEA254C41893}"/>
              </a:ext>
            </a:extLst>
          </p:cNvPr>
          <p:cNvSpPr/>
          <p:nvPr/>
        </p:nvSpPr>
        <p:spPr>
          <a:xfrm>
            <a:off x="1151659" y="447485"/>
            <a:ext cx="1406455" cy="476631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sz="12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3B16A1D-2584-4272-2488-145F9AE1238C}"/>
              </a:ext>
            </a:extLst>
          </p:cNvPr>
          <p:cNvSpPr txBox="1"/>
          <p:nvPr/>
        </p:nvSpPr>
        <p:spPr>
          <a:xfrm>
            <a:off x="1772677" y="1150255"/>
            <a:ext cx="864664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it-IT" sz="4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ResNet18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F893A2-7B33-EE01-9DCD-C72617CCD79A}"/>
              </a:ext>
            </a:extLst>
          </p:cNvPr>
          <p:cNvSpPr txBox="1"/>
          <p:nvPr/>
        </p:nvSpPr>
        <p:spPr>
          <a:xfrm>
            <a:off x="857877" y="5937779"/>
            <a:ext cx="1326523" cy="22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0F6D4B2A-4D88-5BCD-8473-561036D43AB5}"/>
              </a:ext>
            </a:extLst>
          </p:cNvPr>
          <p:cNvSpPr txBox="1"/>
          <p:nvPr/>
        </p:nvSpPr>
        <p:spPr>
          <a:xfrm>
            <a:off x="11051878" y="5937779"/>
            <a:ext cx="4543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06/11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755021A7-6C04-28A4-9927-0927EAC11D1B}"/>
              </a:ext>
            </a:extLst>
          </p:cNvPr>
          <p:cNvSpPr txBox="1"/>
          <p:nvPr/>
        </p:nvSpPr>
        <p:spPr>
          <a:xfrm>
            <a:off x="9149175" y="493439"/>
            <a:ext cx="274529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it-IT" sz="2000" dirty="0">
                <a:solidFill>
                  <a:srgbClr val="0B1320"/>
                </a:solidFill>
                <a:latin typeface="Poppins" pitchFamily="2" charset="77"/>
                <a:ea typeface="Open Sans"/>
                <a:cs typeface="Poppins" pitchFamily="2" charset="77"/>
                <a:sym typeface="Open Sans"/>
              </a:rPr>
              <a:t>Architettura delle reti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1C58D62E-CF7E-A28B-143D-47649481620C}"/>
              </a:ext>
            </a:extLst>
          </p:cNvPr>
          <p:cNvSpPr txBox="1"/>
          <p:nvPr/>
        </p:nvSpPr>
        <p:spPr>
          <a:xfrm>
            <a:off x="629738" y="1860730"/>
            <a:ext cx="10932525" cy="2026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it-IT" sz="2000" dirty="0">
                <a:latin typeface="Poppins" pitchFamily="2" charset="77"/>
                <a:cs typeface="Poppins" pitchFamily="2" charset="77"/>
              </a:rPr>
              <a:t>Un tipo di rete neurale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convoluzionale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composta da 18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layers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che ha la proprietà di utilizzare i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blocchi residui:</a:t>
            </a:r>
          </a:p>
          <a:p>
            <a:pPr marL="800100" lvl="1" indent="-34290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sz="2000" dirty="0">
                <a:latin typeface="Poppins" pitchFamily="2" charset="77"/>
                <a:cs typeface="Poppins" pitchFamily="2" charset="77"/>
              </a:rPr>
              <a:t>Invece di passare solo attraverso i filtri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convoluzionali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, ogni blocco somma l’input iniziale al risultato dell’elaborazione, risolvendo il problema del </a:t>
            </a:r>
            <a:r>
              <a:rPr lang="it-IT" sz="2000" b="1" dirty="0" err="1">
                <a:latin typeface="Poppins" pitchFamily="2" charset="77"/>
                <a:cs typeface="Poppins" pitchFamily="2" charset="77"/>
              </a:rPr>
              <a:t>vanishing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2000" b="1" dirty="0" err="1">
                <a:latin typeface="Poppins" pitchFamily="2" charset="77"/>
                <a:cs typeface="Poppins" pitchFamily="2" charset="77"/>
              </a:rPr>
              <a:t>gradient</a:t>
            </a:r>
            <a:endParaRPr lang="it-IT" sz="20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2B8BE33-D69C-3557-85DE-723E24767D64}"/>
              </a:ext>
            </a:extLst>
          </p:cNvPr>
          <p:cNvSpPr txBox="1"/>
          <p:nvPr/>
        </p:nvSpPr>
        <p:spPr>
          <a:xfrm>
            <a:off x="825676" y="4790882"/>
            <a:ext cx="10932525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it-IT" sz="2000" dirty="0">
                <a:latin typeface="Poppins" pitchFamily="2" charset="77"/>
                <a:cs typeface="Poppins" pitchFamily="2" charset="77"/>
              </a:rPr>
              <a:t>Come nella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ViT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2000" b="1" dirty="0">
                <a:latin typeface="Poppins" pitchFamily="2" charset="77"/>
                <a:cs typeface="Poppins" pitchFamily="2" charset="77"/>
              </a:rPr>
              <a:t>la testa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è un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layer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fully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</a:t>
            </a:r>
            <a:r>
              <a:rPr lang="it-IT" sz="2000" dirty="0" err="1">
                <a:latin typeface="Poppins" pitchFamily="2" charset="77"/>
                <a:cs typeface="Poppins" pitchFamily="2" charset="77"/>
              </a:rPr>
              <a:t>connected</a:t>
            </a:r>
            <a:r>
              <a:rPr lang="it-IT" sz="2000" dirty="0">
                <a:latin typeface="Poppins" pitchFamily="2" charset="77"/>
                <a:cs typeface="Poppins" pitchFamily="2" charset="77"/>
              </a:rPr>
              <a:t> che viene adattato al numero di classi che sto elaborando e congelo i pesi della parte precedente della rete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9D5F0A-DFFB-E99F-5E9A-3E634EAC68F1}"/>
              </a:ext>
            </a:extLst>
          </p:cNvPr>
          <p:cNvSpPr txBox="1"/>
          <p:nvPr/>
        </p:nvSpPr>
        <p:spPr>
          <a:xfrm>
            <a:off x="624131" y="4368362"/>
            <a:ext cx="10932525" cy="384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it-IT" sz="2000" b="1" dirty="0">
                <a:latin typeface="Poppins" pitchFamily="2" charset="77"/>
                <a:cs typeface="Poppins" pitchFamily="2" charset="77"/>
              </a:rPr>
              <a:t>Implementazione:</a:t>
            </a:r>
          </a:p>
        </p:txBody>
      </p:sp>
    </p:spTree>
    <p:extLst>
      <p:ext uri="{BB962C8B-B14F-4D97-AF65-F5344CB8AC3E}">
        <p14:creationId xmlns:p14="http://schemas.microsoft.com/office/powerpoint/2010/main" val="1825943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4BD5C-4C39-0614-B522-6B1B7AF99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78AA8B85-621B-BD57-83CF-26DC8A9700CF}"/>
              </a:ext>
            </a:extLst>
          </p:cNvPr>
          <p:cNvSpPr txBox="1"/>
          <p:nvPr/>
        </p:nvSpPr>
        <p:spPr>
          <a:xfrm>
            <a:off x="1597538" y="1167170"/>
            <a:ext cx="8996923" cy="596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it-IT" sz="4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Confronto risultati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14B781BC-33C7-D9C1-7161-00B226BC6897}"/>
              </a:ext>
            </a:extLst>
          </p:cNvPr>
          <p:cNvSpPr txBox="1"/>
          <p:nvPr/>
        </p:nvSpPr>
        <p:spPr>
          <a:xfrm>
            <a:off x="857877" y="5937779"/>
            <a:ext cx="1326523" cy="22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62EA41F4-28C1-8ECB-4DA4-77CCBC12E6D0}"/>
              </a:ext>
            </a:extLst>
          </p:cNvPr>
          <p:cNvSpPr txBox="1"/>
          <p:nvPr/>
        </p:nvSpPr>
        <p:spPr>
          <a:xfrm>
            <a:off x="11051878" y="5937779"/>
            <a:ext cx="4543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07/11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1B661D23-08B3-3B41-2BB2-DAFD51DE3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108640"/>
              </p:ext>
            </p:extLst>
          </p:nvPr>
        </p:nvGraphicFramePr>
        <p:xfrm>
          <a:off x="297531" y="2059316"/>
          <a:ext cx="6023430" cy="32876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810">
                  <a:extLst>
                    <a:ext uri="{9D8B030D-6E8A-4147-A177-3AD203B41FA5}">
                      <a16:colId xmlns:a16="http://schemas.microsoft.com/office/drawing/2014/main" val="1747178489"/>
                    </a:ext>
                  </a:extLst>
                </a:gridCol>
                <a:gridCol w="2007810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2007810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</a:tblGrid>
              <a:tr h="483927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Classi</a:t>
                      </a: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Poppins" pitchFamily="2" charset="77"/>
                          <a:cs typeface="Poppins" pitchFamily="2" charset="77"/>
                        </a:rPr>
                        <a:t>ViT</a:t>
                      </a:r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it-IT" sz="14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ResNet18 </a:t>
                      </a:r>
                      <a:r>
                        <a:rPr lang="it-IT" sz="14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56074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10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latin typeface="Poppins" pitchFamily="2" charset="77"/>
                          <a:cs typeface="Poppins" pitchFamily="2" charset="77"/>
                        </a:rPr>
                        <a:t>95.35%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51.16%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846793"/>
                  </a:ext>
                </a:extLst>
              </a:tr>
              <a:tr h="56074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50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91.67%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69.61%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30675831"/>
                  </a:ext>
                </a:extLst>
              </a:tr>
              <a:tr h="56074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100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91.44%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latin typeface="Poppins" pitchFamily="2" charset="77"/>
                          <a:cs typeface="Poppins" pitchFamily="2" charset="77"/>
                        </a:rPr>
                        <a:t>74.82%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61440"/>
                  </a:ext>
                </a:extLst>
              </a:tr>
              <a:tr h="56074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150</a:t>
                      </a:r>
                    </a:p>
                  </a:txBody>
                  <a:tcPr marL="60960" marR="60960" marT="30480" marB="30480" anchor="ctr"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92.47%</a:t>
                      </a:r>
                    </a:p>
                  </a:txBody>
                  <a:tcPr marL="60960" marR="60960" marT="30480" marB="30480" anchor="ctr">
                    <a:solidFill>
                      <a:srgbClr val="E7EB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solidFill>
                            <a:schemeClr val="tx1"/>
                          </a:solidFill>
                          <a:latin typeface="Poppins" pitchFamily="2" charset="77"/>
                          <a:cs typeface="Poppins" pitchFamily="2" charset="77"/>
                        </a:rPr>
                        <a:t>72.41%</a:t>
                      </a:r>
                    </a:p>
                  </a:txBody>
                  <a:tcPr marL="60960" marR="60960" marT="30480" marB="30480" anchor="ctr">
                    <a:solidFill>
                      <a:srgbClr val="E7EB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874852"/>
                  </a:ext>
                </a:extLst>
              </a:tr>
              <a:tr h="560742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200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91.12%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70.12%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163379"/>
                  </a:ext>
                </a:extLst>
              </a:tr>
            </a:tbl>
          </a:graphicData>
        </a:graphic>
      </p:graphicFrame>
      <p:grpSp>
        <p:nvGrpSpPr>
          <p:cNvPr id="15" name="Gruppo 14">
            <a:extLst>
              <a:ext uri="{FF2B5EF4-FFF2-40B4-BE49-F238E27FC236}">
                <a16:creationId xmlns:a16="http://schemas.microsoft.com/office/drawing/2014/main" id="{9D36EE96-66C2-91DC-8B96-C282D380A8C1}"/>
              </a:ext>
            </a:extLst>
          </p:cNvPr>
          <p:cNvGrpSpPr/>
          <p:nvPr/>
        </p:nvGrpSpPr>
        <p:grpSpPr>
          <a:xfrm>
            <a:off x="297531" y="299726"/>
            <a:ext cx="2260583" cy="772149"/>
            <a:chOff x="446295" y="449588"/>
            <a:chExt cx="3390875" cy="115822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7EBAB5-9CE8-394C-6D2F-C3BA4A8133FB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096B5D7E-D04A-1B7E-3D74-7BB91A1AB78A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sz="1200"/>
            </a:p>
          </p:txBody>
        </p:sp>
      </p:grpSp>
      <p:graphicFrame>
        <p:nvGraphicFramePr>
          <p:cNvPr id="7" name="Grafico 6">
            <a:extLst>
              <a:ext uri="{FF2B5EF4-FFF2-40B4-BE49-F238E27FC236}">
                <a16:creationId xmlns:a16="http://schemas.microsoft.com/office/drawing/2014/main" id="{2813E782-B4FD-CA70-01E3-3D8045B35B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4194375"/>
              </p:ext>
            </p:extLst>
          </p:nvPr>
        </p:nvGraphicFramePr>
        <p:xfrm>
          <a:off x="6639805" y="2263086"/>
          <a:ext cx="4866394" cy="2880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10393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F6D1-0195-623A-19FC-C415CA652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1983621E-7B9E-B47C-0E43-EFD9C343E257}"/>
              </a:ext>
            </a:extLst>
          </p:cNvPr>
          <p:cNvSpPr txBox="1"/>
          <p:nvPr/>
        </p:nvSpPr>
        <p:spPr>
          <a:xfrm>
            <a:off x="1597538" y="1167170"/>
            <a:ext cx="8996923" cy="596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it-IT" sz="4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Attacco delle reti con FGSM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C7CEB2D8-120C-1632-167F-D0BFE5F1D77D}"/>
              </a:ext>
            </a:extLst>
          </p:cNvPr>
          <p:cNvSpPr txBox="1"/>
          <p:nvPr/>
        </p:nvSpPr>
        <p:spPr>
          <a:xfrm>
            <a:off x="857877" y="5937779"/>
            <a:ext cx="1326523" cy="22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57021746-3E9C-B0C1-179C-FDD44A507F30}"/>
              </a:ext>
            </a:extLst>
          </p:cNvPr>
          <p:cNvSpPr txBox="1"/>
          <p:nvPr/>
        </p:nvSpPr>
        <p:spPr>
          <a:xfrm>
            <a:off x="11051878" y="5937779"/>
            <a:ext cx="4543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08/11</a:t>
            </a:r>
          </a:p>
        </p:txBody>
      </p:sp>
      <p:grpSp>
        <p:nvGrpSpPr>
          <p:cNvPr id="15" name="Gruppo 14">
            <a:extLst>
              <a:ext uri="{FF2B5EF4-FFF2-40B4-BE49-F238E27FC236}">
                <a16:creationId xmlns:a16="http://schemas.microsoft.com/office/drawing/2014/main" id="{0A500C68-2893-7DF6-1A70-2AAF345C23AC}"/>
              </a:ext>
            </a:extLst>
          </p:cNvPr>
          <p:cNvGrpSpPr/>
          <p:nvPr/>
        </p:nvGrpSpPr>
        <p:grpSpPr>
          <a:xfrm>
            <a:off x="297531" y="299726"/>
            <a:ext cx="2260583" cy="772149"/>
            <a:chOff x="446295" y="449588"/>
            <a:chExt cx="3390875" cy="115822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532F4B5-9BF5-EB80-FCF4-F5FCE6B582D5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656CC404-F5CA-2B6A-2F7E-AE21F65E3CEC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sz="1200"/>
            </a:p>
          </p:txBody>
        </p:sp>
      </p:grpSp>
      <p:sp>
        <p:nvSpPr>
          <p:cNvPr id="4" name="TextBox 6">
            <a:extLst>
              <a:ext uri="{FF2B5EF4-FFF2-40B4-BE49-F238E27FC236}">
                <a16:creationId xmlns:a16="http://schemas.microsoft.com/office/drawing/2014/main" id="{67024E08-5AC1-AFD0-3A93-8DF8E6EF1366}"/>
              </a:ext>
            </a:extLst>
          </p:cNvPr>
          <p:cNvSpPr txBox="1"/>
          <p:nvPr/>
        </p:nvSpPr>
        <p:spPr>
          <a:xfrm>
            <a:off x="415969" y="1751882"/>
            <a:ext cx="11360059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it-IT" dirty="0">
                <a:latin typeface="Poppins" pitchFamily="2" charset="77"/>
                <a:cs typeface="Poppins" pitchFamily="2" charset="77"/>
              </a:rPr>
              <a:t>Applico piccole </a:t>
            </a:r>
            <a:r>
              <a:rPr lang="it-IT" b="1" dirty="0">
                <a:latin typeface="Poppins" pitchFamily="2" charset="77"/>
                <a:cs typeface="Poppins" pitchFamily="2" charset="77"/>
              </a:rPr>
              <a:t>perturbazioni</a:t>
            </a:r>
            <a:r>
              <a:rPr lang="it-IT" dirty="0">
                <a:latin typeface="Poppins" pitchFamily="2" charset="77"/>
                <a:cs typeface="Poppins" pitchFamily="2" charset="77"/>
              </a:rPr>
              <a:t> di diversa potenza alle immagini per vedere se i modelli sono robusti</a:t>
            </a:r>
          </a:p>
        </p:txBody>
      </p:sp>
      <p:pic>
        <p:nvPicPr>
          <p:cNvPr id="10" name="Immagine 9" descr="Immagine che contiene uccello, albero, aria aperta, becco&#10;&#10;Il contenuto generato dall'IA potrebbe non essere corretto.">
            <a:extLst>
              <a:ext uri="{FF2B5EF4-FFF2-40B4-BE49-F238E27FC236}">
                <a16:creationId xmlns:a16="http://schemas.microsoft.com/office/drawing/2014/main" id="{96E08239-28FC-DCAC-DFE2-4A9677C20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398" y="2207297"/>
            <a:ext cx="7315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240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CA1D7-49EC-7686-9721-F8C6D1CC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8">
            <a:extLst>
              <a:ext uri="{FF2B5EF4-FFF2-40B4-BE49-F238E27FC236}">
                <a16:creationId xmlns:a16="http://schemas.microsoft.com/office/drawing/2014/main" id="{E0E0CDFC-8CC7-B5B9-B9BB-9794161C6E8D}"/>
              </a:ext>
            </a:extLst>
          </p:cNvPr>
          <p:cNvSpPr txBox="1"/>
          <p:nvPr/>
        </p:nvSpPr>
        <p:spPr>
          <a:xfrm>
            <a:off x="1597538" y="1167170"/>
            <a:ext cx="8996923" cy="596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it-IT" sz="4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FGSM - risultati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776F00FB-3D23-F3A5-8FF0-276BC8436917}"/>
              </a:ext>
            </a:extLst>
          </p:cNvPr>
          <p:cNvSpPr txBox="1"/>
          <p:nvPr/>
        </p:nvSpPr>
        <p:spPr>
          <a:xfrm>
            <a:off x="857877" y="5937779"/>
            <a:ext cx="1326523" cy="22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61BD8F3F-6284-DEE4-6265-8E80FD8263AD}"/>
              </a:ext>
            </a:extLst>
          </p:cNvPr>
          <p:cNvSpPr txBox="1"/>
          <p:nvPr/>
        </p:nvSpPr>
        <p:spPr>
          <a:xfrm>
            <a:off x="11051878" y="5937779"/>
            <a:ext cx="4543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09/11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7437AF9C-2514-93A8-572B-0F8588C9C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824484"/>
              </p:ext>
            </p:extLst>
          </p:nvPr>
        </p:nvGraphicFramePr>
        <p:xfrm>
          <a:off x="415969" y="2092672"/>
          <a:ext cx="5427348" cy="3101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6837">
                  <a:extLst>
                    <a:ext uri="{9D8B030D-6E8A-4147-A177-3AD203B41FA5}">
                      <a16:colId xmlns:a16="http://schemas.microsoft.com/office/drawing/2014/main" val="3384794577"/>
                    </a:ext>
                  </a:extLst>
                </a:gridCol>
                <a:gridCol w="1356837">
                  <a:extLst>
                    <a:ext uri="{9D8B030D-6E8A-4147-A177-3AD203B41FA5}">
                      <a16:colId xmlns:a16="http://schemas.microsoft.com/office/drawing/2014/main" val="1747178489"/>
                    </a:ext>
                  </a:extLst>
                </a:gridCol>
                <a:gridCol w="1356837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1356837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</a:tblGrid>
              <a:tr h="326755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Classi</a:t>
                      </a: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Epsilon</a:t>
                      </a: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Poppins" pitchFamily="2" charset="77"/>
                          <a:cs typeface="Poppins" pitchFamily="2" charset="77"/>
                        </a:rPr>
                        <a:t>ViT</a:t>
                      </a:r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it-IT" sz="14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ResNet18 </a:t>
                      </a:r>
                      <a:r>
                        <a:rPr lang="it-IT" sz="14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290375">
                <a:tc rowSpan="3"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10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0,01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latin typeface="Poppins" pitchFamily="2" charset="77"/>
                          <a:cs typeface="Poppins" pitchFamily="2" charset="77"/>
                        </a:rPr>
                        <a:t>88.37%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25.58%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846793"/>
                  </a:ext>
                </a:extLst>
              </a:tr>
              <a:tr h="290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0,05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69.77%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23.26%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30675831"/>
                  </a:ext>
                </a:extLst>
              </a:tr>
              <a:tr h="29037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0,1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60.47%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23.26%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61440"/>
                  </a:ext>
                </a:extLst>
              </a:tr>
              <a:tr h="290375">
                <a:tc rowSpan="3"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50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0,01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85.29%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27.94%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330544"/>
                  </a:ext>
                </a:extLst>
              </a:tr>
              <a:tr h="290375">
                <a:tc vMerge="1">
                  <a:txBody>
                    <a:bodyPr/>
                    <a:lstStyle/>
                    <a:p>
                      <a:pPr algn="ctr"/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0,05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70.10%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18.14%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367606"/>
                  </a:ext>
                </a:extLst>
              </a:tr>
              <a:tr h="290375">
                <a:tc vMerge="1">
                  <a:txBody>
                    <a:bodyPr/>
                    <a:lstStyle/>
                    <a:p>
                      <a:pPr algn="ctr"/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0,1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57.84%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16.18%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290422"/>
                  </a:ext>
                </a:extLst>
              </a:tr>
              <a:tr h="290375">
                <a:tc rowSpan="3"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100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0,01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85.82%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latin typeface="Poppins" pitchFamily="2" charset="77"/>
                          <a:cs typeface="Poppins" pitchFamily="2" charset="77"/>
                        </a:rPr>
                        <a:t>29.34%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821779"/>
                  </a:ext>
                </a:extLst>
              </a:tr>
              <a:tr h="290375">
                <a:tc vMerge="1">
                  <a:txBody>
                    <a:bodyPr/>
                    <a:lstStyle/>
                    <a:p>
                      <a:pPr algn="ctr"/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0,05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73.11%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15.65%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745904"/>
                  </a:ext>
                </a:extLst>
              </a:tr>
              <a:tr h="290375">
                <a:tc vMerge="1">
                  <a:txBody>
                    <a:bodyPr/>
                    <a:lstStyle/>
                    <a:p>
                      <a:pPr algn="ctr"/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0,1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61.86%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11.74%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712129"/>
                  </a:ext>
                </a:extLst>
              </a:tr>
            </a:tbl>
          </a:graphicData>
        </a:graphic>
      </p:graphicFrame>
      <p:grpSp>
        <p:nvGrpSpPr>
          <p:cNvPr id="15" name="Gruppo 14">
            <a:extLst>
              <a:ext uri="{FF2B5EF4-FFF2-40B4-BE49-F238E27FC236}">
                <a16:creationId xmlns:a16="http://schemas.microsoft.com/office/drawing/2014/main" id="{EFA6CAC5-100A-28A2-FA79-CD2A97F581A6}"/>
              </a:ext>
            </a:extLst>
          </p:cNvPr>
          <p:cNvGrpSpPr/>
          <p:nvPr/>
        </p:nvGrpSpPr>
        <p:grpSpPr>
          <a:xfrm>
            <a:off x="297531" y="299726"/>
            <a:ext cx="2260583" cy="772149"/>
            <a:chOff x="446295" y="449588"/>
            <a:chExt cx="3390875" cy="115822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717A71D-43EA-2906-724B-82EE9735C312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59C6E9A4-D4F2-13A0-67FA-23A0FEAFCAC5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sz="1200"/>
            </a:p>
          </p:txBody>
        </p:sp>
      </p:grpSp>
      <p:graphicFrame>
        <p:nvGraphicFramePr>
          <p:cNvPr id="6" name="Tabella 5">
            <a:extLst>
              <a:ext uri="{FF2B5EF4-FFF2-40B4-BE49-F238E27FC236}">
                <a16:creationId xmlns:a16="http://schemas.microsoft.com/office/drawing/2014/main" id="{D4127A30-6BB1-F743-5192-DCC51893AF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076394"/>
              </p:ext>
            </p:extLst>
          </p:nvPr>
        </p:nvGraphicFramePr>
        <p:xfrm>
          <a:off x="6185715" y="2092672"/>
          <a:ext cx="5590316" cy="2229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579">
                  <a:extLst>
                    <a:ext uri="{9D8B030D-6E8A-4147-A177-3AD203B41FA5}">
                      <a16:colId xmlns:a16="http://schemas.microsoft.com/office/drawing/2014/main" val="3384794577"/>
                    </a:ext>
                  </a:extLst>
                </a:gridCol>
                <a:gridCol w="1397579">
                  <a:extLst>
                    <a:ext uri="{9D8B030D-6E8A-4147-A177-3AD203B41FA5}">
                      <a16:colId xmlns:a16="http://schemas.microsoft.com/office/drawing/2014/main" val="1747178489"/>
                    </a:ext>
                  </a:extLst>
                </a:gridCol>
                <a:gridCol w="1397579">
                  <a:extLst>
                    <a:ext uri="{9D8B030D-6E8A-4147-A177-3AD203B41FA5}">
                      <a16:colId xmlns:a16="http://schemas.microsoft.com/office/drawing/2014/main" val="1947149970"/>
                    </a:ext>
                  </a:extLst>
                </a:gridCol>
                <a:gridCol w="1397579">
                  <a:extLst>
                    <a:ext uri="{9D8B030D-6E8A-4147-A177-3AD203B41FA5}">
                      <a16:colId xmlns:a16="http://schemas.microsoft.com/office/drawing/2014/main" val="4226958073"/>
                    </a:ext>
                  </a:extLst>
                </a:gridCol>
              </a:tblGrid>
              <a:tr h="326755"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Classi</a:t>
                      </a: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Epsilon</a:t>
                      </a: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 err="1">
                          <a:latin typeface="Poppins" pitchFamily="2" charset="77"/>
                          <a:cs typeface="Poppins" pitchFamily="2" charset="77"/>
                        </a:rPr>
                        <a:t>ViT</a:t>
                      </a:r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 </a:t>
                      </a:r>
                      <a:r>
                        <a:rPr lang="it-IT" sz="14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ResNet18 </a:t>
                      </a:r>
                      <a:r>
                        <a:rPr lang="it-IT" sz="1400" dirty="0" err="1">
                          <a:latin typeface="Poppins" pitchFamily="2" charset="77"/>
                          <a:cs typeface="Poppins" pitchFamily="2" charset="77"/>
                        </a:rPr>
                        <a:t>Accuracy</a:t>
                      </a:r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1C3F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143540"/>
                  </a:ext>
                </a:extLst>
              </a:tr>
              <a:tr h="290375">
                <a:tc rowSpan="3"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150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0,01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83.44%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22.24%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846793"/>
                  </a:ext>
                </a:extLst>
              </a:tr>
              <a:tr h="2903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0,05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69.23%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14.05%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330675831"/>
                  </a:ext>
                </a:extLst>
              </a:tr>
              <a:tr h="290375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0,1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59.20%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9.20%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061440"/>
                  </a:ext>
                </a:extLst>
              </a:tr>
              <a:tr h="290375">
                <a:tc rowSpan="3"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200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0,01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84.39%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21.80%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0330544"/>
                  </a:ext>
                </a:extLst>
              </a:tr>
              <a:tr h="290375">
                <a:tc vMerge="1">
                  <a:txBody>
                    <a:bodyPr/>
                    <a:lstStyle/>
                    <a:p>
                      <a:pPr algn="ctr"/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0,05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70.39%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0" dirty="0">
                          <a:latin typeface="Poppins" pitchFamily="2" charset="77"/>
                          <a:cs typeface="Poppins" pitchFamily="2" charset="77"/>
                        </a:rPr>
                        <a:t>13.86%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367606"/>
                  </a:ext>
                </a:extLst>
              </a:tr>
              <a:tr h="290375">
                <a:tc vMerge="1">
                  <a:txBody>
                    <a:bodyPr/>
                    <a:lstStyle/>
                    <a:p>
                      <a:pPr algn="ctr"/>
                      <a:endParaRPr lang="it-IT" sz="140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>
                          <a:latin typeface="Poppins" pitchFamily="2" charset="77"/>
                          <a:cs typeface="Poppins" pitchFamily="2" charset="77"/>
                        </a:rPr>
                        <a:t>0,1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latin typeface="Poppins" pitchFamily="2" charset="77"/>
                          <a:cs typeface="Poppins" pitchFamily="2" charset="77"/>
                        </a:rPr>
                        <a:t>60.30%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b="1" dirty="0">
                          <a:latin typeface="Poppins" pitchFamily="2" charset="77"/>
                          <a:cs typeface="Poppins" pitchFamily="2" charset="77"/>
                        </a:rPr>
                        <a:t>10.36%</a:t>
                      </a:r>
                    </a:p>
                  </a:txBody>
                  <a:tcPr marL="60960" marR="60960" marT="30480" marB="30480" anchor="ctr">
                    <a:solidFill>
                      <a:srgbClr val="AFC0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290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384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0B77A-5B69-0D14-F1F4-A1283EC3E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A033F2E3-8869-0147-ECB3-C869031E82F4}"/>
              </a:ext>
            </a:extLst>
          </p:cNvPr>
          <p:cNvSpPr/>
          <p:nvPr/>
        </p:nvSpPr>
        <p:spPr>
          <a:xfrm>
            <a:off x="297530" y="299726"/>
            <a:ext cx="787508" cy="772149"/>
          </a:xfrm>
          <a:custGeom>
            <a:avLst/>
            <a:gdLst/>
            <a:ahLst/>
            <a:cxnLst/>
            <a:rect l="l" t="t" r="r" b="b"/>
            <a:pathLst>
              <a:path w="1575016" h="1544299">
                <a:moveTo>
                  <a:pt x="0" y="0"/>
                </a:moveTo>
                <a:lnTo>
                  <a:pt x="1575016" y="0"/>
                </a:lnTo>
                <a:lnTo>
                  <a:pt x="1575016" y="1544299"/>
                </a:lnTo>
                <a:lnTo>
                  <a:pt x="0" y="1544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23" r="-42039" b="-69108"/>
            </a:stretch>
          </a:blipFill>
        </p:spPr>
        <p:txBody>
          <a:bodyPr/>
          <a:lstStyle/>
          <a:p>
            <a:endParaRPr lang="it-IT" sz="120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ADB953B-46D9-381A-F30D-30202F3700AD}"/>
              </a:ext>
            </a:extLst>
          </p:cNvPr>
          <p:cNvSpPr/>
          <p:nvPr/>
        </p:nvSpPr>
        <p:spPr>
          <a:xfrm>
            <a:off x="1151659" y="447485"/>
            <a:ext cx="1406455" cy="476631"/>
          </a:xfrm>
          <a:custGeom>
            <a:avLst/>
            <a:gdLst/>
            <a:ahLst/>
            <a:cxnLst/>
            <a:rect l="l" t="t" r="r" b="b"/>
            <a:pathLst>
              <a:path w="2812910" h="953263">
                <a:moveTo>
                  <a:pt x="0" y="0"/>
                </a:moveTo>
                <a:lnTo>
                  <a:pt x="2812911" y="0"/>
                </a:lnTo>
                <a:lnTo>
                  <a:pt x="2812911" y="953263"/>
                </a:lnTo>
                <a:lnTo>
                  <a:pt x="0" y="9532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7418"/>
            </a:stretch>
          </a:blipFill>
        </p:spPr>
        <p:txBody>
          <a:bodyPr/>
          <a:lstStyle/>
          <a:p>
            <a:endParaRPr lang="it-IT" sz="1200"/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7D8B054E-C765-8977-0E59-4516079E033F}"/>
              </a:ext>
            </a:extLst>
          </p:cNvPr>
          <p:cNvSpPr txBox="1"/>
          <p:nvPr/>
        </p:nvSpPr>
        <p:spPr>
          <a:xfrm>
            <a:off x="1597538" y="964184"/>
            <a:ext cx="8996923" cy="5963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it-IT" sz="4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Conclusioni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2CC776B6-85D9-9ED1-AA42-884CCE02AE04}"/>
              </a:ext>
            </a:extLst>
          </p:cNvPr>
          <p:cNvCxnSpPr>
            <a:cxnSpLocks/>
          </p:cNvCxnSpPr>
          <p:nvPr/>
        </p:nvCxnSpPr>
        <p:spPr>
          <a:xfrm>
            <a:off x="6096000" y="1870841"/>
            <a:ext cx="0" cy="4078752"/>
          </a:xfrm>
          <a:prstGeom prst="line">
            <a:avLst/>
          </a:prstGeom>
          <a:ln w="28575">
            <a:solidFill>
              <a:srgbClr val="0B13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5">
            <a:extLst>
              <a:ext uri="{FF2B5EF4-FFF2-40B4-BE49-F238E27FC236}">
                <a16:creationId xmlns:a16="http://schemas.microsoft.com/office/drawing/2014/main" id="{7AEEA159-BD1F-D7D2-0C4D-EB662747633A}"/>
              </a:ext>
            </a:extLst>
          </p:cNvPr>
          <p:cNvSpPr txBox="1"/>
          <p:nvPr/>
        </p:nvSpPr>
        <p:spPr>
          <a:xfrm>
            <a:off x="857877" y="5937779"/>
            <a:ext cx="1326523" cy="22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9BE545C3-83C7-E07E-898F-3968CD36BA5E}"/>
              </a:ext>
            </a:extLst>
          </p:cNvPr>
          <p:cNvSpPr txBox="1"/>
          <p:nvPr/>
        </p:nvSpPr>
        <p:spPr>
          <a:xfrm>
            <a:off x="11051878" y="5937779"/>
            <a:ext cx="4543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10/11</a:t>
            </a:r>
          </a:p>
        </p:txBody>
      </p:sp>
      <p:sp>
        <p:nvSpPr>
          <p:cNvPr id="2" name="TextBox 6">
            <a:extLst>
              <a:ext uri="{FF2B5EF4-FFF2-40B4-BE49-F238E27FC236}">
                <a16:creationId xmlns:a16="http://schemas.microsoft.com/office/drawing/2014/main" id="{5A40129E-A06B-2BC8-D27E-3CC3F537EB55}"/>
              </a:ext>
            </a:extLst>
          </p:cNvPr>
          <p:cNvSpPr txBox="1"/>
          <p:nvPr/>
        </p:nvSpPr>
        <p:spPr>
          <a:xfrm>
            <a:off x="696713" y="2469738"/>
            <a:ext cx="2316344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it-IT" b="1" dirty="0">
                <a:latin typeface="Poppins" pitchFamily="2" charset="77"/>
                <a:cs typeface="Poppins" pitchFamily="2" charset="77"/>
              </a:rPr>
              <a:t>Vision Transformer</a:t>
            </a: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B331E754-5BDF-DDF5-0C00-515F7852C5DF}"/>
              </a:ext>
            </a:extLst>
          </p:cNvPr>
          <p:cNvSpPr txBox="1"/>
          <p:nvPr/>
        </p:nvSpPr>
        <p:spPr>
          <a:xfrm>
            <a:off x="857877" y="3050267"/>
            <a:ext cx="4987752" cy="1608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Poppins" pitchFamily="2" charset="77"/>
                <a:cs typeface="Poppins" pitchFamily="2" charset="77"/>
              </a:rPr>
              <a:t>Prestazioni migliori su dataset grandi</a:t>
            </a:r>
          </a:p>
          <a:p>
            <a:pPr marL="285750" indent="-28575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Poppins" pitchFamily="2" charset="77"/>
                <a:cs typeface="Poppins" pitchFamily="2" charset="77"/>
              </a:rPr>
              <a:t>Ha una visione più globale dell’immagine quindi si difende meglio verso attacchi FGSM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9A4CB0F-2D21-3B25-5700-64D44EE7BF45}"/>
              </a:ext>
            </a:extLst>
          </p:cNvPr>
          <p:cNvSpPr txBox="1"/>
          <p:nvPr/>
        </p:nvSpPr>
        <p:spPr>
          <a:xfrm>
            <a:off x="6447704" y="2469738"/>
            <a:ext cx="2316344" cy="3770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73"/>
              </a:lnSpc>
            </a:pPr>
            <a:r>
              <a:rPr lang="it-IT" b="1" dirty="0">
                <a:latin typeface="Poppins" pitchFamily="2" charset="77"/>
                <a:cs typeface="Poppins" pitchFamily="2" charset="77"/>
              </a:rPr>
              <a:t>ResNet18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518196E7-F4C7-D3A8-4554-A1A8654E217C}"/>
              </a:ext>
            </a:extLst>
          </p:cNvPr>
          <p:cNvSpPr txBox="1"/>
          <p:nvPr/>
        </p:nvSpPr>
        <p:spPr>
          <a:xfrm>
            <a:off x="6685068" y="3022115"/>
            <a:ext cx="4987752" cy="16081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Poppins" pitchFamily="2" charset="77"/>
                <a:cs typeface="Poppins" pitchFamily="2" charset="77"/>
              </a:rPr>
              <a:t>Più robusto su dataset piccoli</a:t>
            </a:r>
          </a:p>
          <a:p>
            <a:pPr marL="285750" indent="-285750">
              <a:lnSpc>
                <a:spcPts val="3173"/>
              </a:lnSpc>
              <a:buFont typeface="Arial" panose="020B0604020202020204" pitchFamily="34" charset="0"/>
              <a:buChar char="•"/>
            </a:pPr>
            <a:r>
              <a:rPr lang="it-IT" dirty="0">
                <a:latin typeface="Poppins" pitchFamily="2" charset="77"/>
                <a:cs typeface="Poppins" pitchFamily="2" charset="77"/>
              </a:rPr>
              <a:t>Dipende dalle caratteristiche locali dei pixel, quindi più sensibile ad attacchi FGSM</a:t>
            </a:r>
          </a:p>
        </p:txBody>
      </p:sp>
    </p:spTree>
    <p:extLst>
      <p:ext uri="{BB962C8B-B14F-4D97-AF65-F5344CB8AC3E}">
        <p14:creationId xmlns:p14="http://schemas.microsoft.com/office/powerpoint/2010/main" val="4175683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BBE3-2F95-F4EF-A2E9-EAF5FE2A6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5">
            <a:extLst>
              <a:ext uri="{FF2B5EF4-FFF2-40B4-BE49-F238E27FC236}">
                <a16:creationId xmlns:a16="http://schemas.microsoft.com/office/drawing/2014/main" id="{85FA6A80-E554-593F-A0AB-E82626ED3D03}"/>
              </a:ext>
            </a:extLst>
          </p:cNvPr>
          <p:cNvSpPr txBox="1"/>
          <p:nvPr/>
        </p:nvSpPr>
        <p:spPr>
          <a:xfrm>
            <a:off x="928593" y="5937779"/>
            <a:ext cx="1326523" cy="2212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Arianna Cipolla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AB03D94B-EB8A-5CB8-DC16-74EB5F1558DC}"/>
              </a:ext>
            </a:extLst>
          </p:cNvPr>
          <p:cNvSpPr txBox="1"/>
          <p:nvPr/>
        </p:nvSpPr>
        <p:spPr>
          <a:xfrm>
            <a:off x="11122594" y="5937779"/>
            <a:ext cx="454321" cy="22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it-IT" sz="1000" dirty="0">
                <a:solidFill>
                  <a:srgbClr val="0B1320"/>
                </a:solidFill>
                <a:latin typeface="Poppins"/>
                <a:ea typeface="Poppins"/>
                <a:cs typeface="Poppins"/>
                <a:sym typeface="Poppins"/>
              </a:rPr>
              <a:t>11/11</a:t>
            </a:r>
          </a:p>
        </p:txBody>
      </p:sp>
      <p:sp>
        <p:nvSpPr>
          <p:cNvPr id="2" name="TextBox 8">
            <a:extLst>
              <a:ext uri="{FF2B5EF4-FFF2-40B4-BE49-F238E27FC236}">
                <a16:creationId xmlns:a16="http://schemas.microsoft.com/office/drawing/2014/main" id="{462DD4E5-7123-88B1-4AB7-973C0FFEB49C}"/>
              </a:ext>
            </a:extLst>
          </p:cNvPr>
          <p:cNvSpPr txBox="1"/>
          <p:nvPr/>
        </p:nvSpPr>
        <p:spPr>
          <a:xfrm>
            <a:off x="1592055" y="1742634"/>
            <a:ext cx="8996922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lang="it-IT" sz="4000" b="1" dirty="0">
                <a:solidFill>
                  <a:srgbClr val="0B1320"/>
                </a:solidFill>
                <a:latin typeface="Poppins Bold"/>
                <a:ea typeface="Poppins Bold"/>
                <a:cs typeface="Poppins Bold"/>
                <a:sym typeface="Poppins Bold"/>
              </a:rPr>
              <a:t>Bibliografia</a:t>
            </a:r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D0E82D1F-417D-5E8D-4930-4F1D375FC1A9}"/>
              </a:ext>
            </a:extLst>
          </p:cNvPr>
          <p:cNvGrpSpPr/>
          <p:nvPr/>
        </p:nvGrpSpPr>
        <p:grpSpPr>
          <a:xfrm>
            <a:off x="297531" y="299726"/>
            <a:ext cx="2260583" cy="772149"/>
            <a:chOff x="446295" y="449588"/>
            <a:chExt cx="3390875" cy="1158224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924A076C-46C3-394C-06C4-C89ABE25C918}"/>
                </a:ext>
              </a:extLst>
            </p:cNvPr>
            <p:cNvSpPr/>
            <p:nvPr/>
          </p:nvSpPr>
          <p:spPr>
            <a:xfrm>
              <a:off x="446295" y="449588"/>
              <a:ext cx="1181262" cy="1158224"/>
            </a:xfrm>
            <a:custGeom>
              <a:avLst/>
              <a:gdLst/>
              <a:ahLst/>
              <a:cxnLst/>
              <a:rect l="l" t="t" r="r" b="b"/>
              <a:pathLst>
                <a:path w="1575016" h="1544299">
                  <a:moveTo>
                    <a:pt x="0" y="0"/>
                  </a:moveTo>
                  <a:lnTo>
                    <a:pt x="1575016" y="0"/>
                  </a:lnTo>
                  <a:lnTo>
                    <a:pt x="1575016" y="1544299"/>
                  </a:lnTo>
                  <a:lnTo>
                    <a:pt x="0" y="1544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0923" r="-42039" b="-69108"/>
              </a:stretch>
            </a:blipFill>
          </p:spPr>
          <p:txBody>
            <a:bodyPr/>
            <a:lstStyle/>
            <a:p>
              <a:endParaRPr lang="it-IT" sz="1200"/>
            </a:p>
          </p:txBody>
        </p: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EED4E385-3789-C9B4-CDA6-CFC07AEFA54E}"/>
                </a:ext>
              </a:extLst>
            </p:cNvPr>
            <p:cNvSpPr/>
            <p:nvPr/>
          </p:nvSpPr>
          <p:spPr>
            <a:xfrm>
              <a:off x="1727488" y="671227"/>
              <a:ext cx="2109682" cy="714947"/>
            </a:xfrm>
            <a:custGeom>
              <a:avLst/>
              <a:gdLst/>
              <a:ahLst/>
              <a:cxnLst/>
              <a:rect l="l" t="t" r="r" b="b"/>
              <a:pathLst>
                <a:path w="2812910" h="953263">
                  <a:moveTo>
                    <a:pt x="0" y="0"/>
                  </a:moveTo>
                  <a:lnTo>
                    <a:pt x="2812911" y="0"/>
                  </a:lnTo>
                  <a:lnTo>
                    <a:pt x="2812911" y="953263"/>
                  </a:lnTo>
                  <a:lnTo>
                    <a:pt x="0" y="953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7418"/>
              </a:stretch>
            </a:blipFill>
          </p:spPr>
          <p:txBody>
            <a:bodyPr/>
            <a:lstStyle/>
            <a:p>
              <a:endParaRPr lang="it-IT" sz="1200"/>
            </a:p>
          </p:txBody>
        </p:sp>
      </p:grp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AE49809-590A-502A-B384-6CDA8A6F45A4}"/>
              </a:ext>
            </a:extLst>
          </p:cNvPr>
          <p:cNvSpPr txBox="1"/>
          <p:nvPr/>
        </p:nvSpPr>
        <p:spPr>
          <a:xfrm>
            <a:off x="1085039" y="2787496"/>
            <a:ext cx="10422579" cy="151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rtl="0">
              <a:lnSpc>
                <a:spcPts val="2099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it-IT" i="0" u="none" strike="noStrike" dirty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  <a:hlinkClick r:id="rId4"/>
              </a:rPr>
              <a:t>An Image is Worth 16x16 Words: Transformers for Image Recognition at Scale</a:t>
            </a:r>
            <a:endParaRPr lang="it-IT" dirty="0">
              <a:solidFill>
                <a:srgbClr val="000000"/>
              </a:solidFill>
              <a:latin typeface="Poppins" pitchFamily="2" charset="77"/>
              <a:cs typeface="Poppins" pitchFamily="2" charset="77"/>
            </a:endParaRPr>
          </a:p>
          <a:p>
            <a:pPr marL="285750" indent="-285750" algn="l" rtl="0">
              <a:lnSpc>
                <a:spcPts val="2099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it-IT" i="0" u="none" strike="noStrike" dirty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  <a:hlinkClick r:id="rId5"/>
              </a:rPr>
              <a:t>ResNet18</a:t>
            </a:r>
            <a:endParaRPr lang="it-IT" i="0" u="none" strike="noStrike" dirty="0">
              <a:solidFill>
                <a:srgbClr val="000000"/>
              </a:solidFill>
              <a:effectLst/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ts val="2099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it-IT" dirty="0">
                <a:latin typeface="Poppins" pitchFamily="2" charset="77"/>
                <a:cs typeface="Poppins" pitchFamily="2" charset="77"/>
                <a:hlinkClick r:id="rId6"/>
              </a:rPr>
              <a:t>Adversarial Example Generation</a:t>
            </a:r>
            <a:endParaRPr lang="it-IT" dirty="0">
              <a:latin typeface="Poppins" pitchFamily="2" charset="77"/>
              <a:cs typeface="Poppins" pitchFamily="2" charset="77"/>
            </a:endParaRPr>
          </a:p>
          <a:p>
            <a:pPr marL="285750" indent="-285750">
              <a:lnSpc>
                <a:spcPts val="2099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it-IT" dirty="0" err="1">
                <a:latin typeface="Poppins" pitchFamily="2" charset="77"/>
                <a:cs typeface="Poppins" pitchFamily="2" charset="77"/>
                <a:hlinkClick r:id="rId7"/>
              </a:rPr>
              <a:t>Pytorch</a:t>
            </a:r>
            <a:r>
              <a:rPr lang="it-IT" dirty="0">
                <a:latin typeface="Poppins" pitchFamily="2" charset="77"/>
                <a:cs typeface="Poppins" pitchFamily="2" charset="77"/>
                <a:hlinkClick r:id="rId7"/>
              </a:rPr>
              <a:t> Image Models (</a:t>
            </a:r>
            <a:r>
              <a:rPr lang="it-IT" dirty="0" err="1">
                <a:latin typeface="Poppins" pitchFamily="2" charset="77"/>
                <a:cs typeface="Poppins" pitchFamily="2" charset="77"/>
                <a:hlinkClick r:id="rId7"/>
              </a:rPr>
              <a:t>timm</a:t>
            </a:r>
            <a:r>
              <a:rPr lang="it-IT" dirty="0">
                <a:latin typeface="Poppins" pitchFamily="2" charset="77"/>
                <a:cs typeface="Poppins" pitchFamily="2" charset="77"/>
                <a:hlinkClick r:id="rId7"/>
              </a:rPr>
              <a:t>)</a:t>
            </a:r>
            <a:endParaRPr lang="it-IT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81076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2209</TotalTime>
  <Words>1048</Words>
  <Application>Microsoft Macintosh PowerPoint</Application>
  <PresentationFormat>Widescreen</PresentationFormat>
  <Paragraphs>178</Paragraphs>
  <Slides>12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Poppins</vt:lpstr>
      <vt:lpstr>Poppins Bold</vt:lpstr>
      <vt:lpstr>Poppins Semi-Bold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Arianna CIPOLLA</dc:creator>
  <cp:lastModifiedBy>Arianna CIPOLLA</cp:lastModifiedBy>
  <cp:revision>18</cp:revision>
  <cp:lastPrinted>2025-06-10T06:52:51Z</cp:lastPrinted>
  <dcterms:created xsi:type="dcterms:W3CDTF">2025-05-30T09:32:01Z</dcterms:created>
  <dcterms:modified xsi:type="dcterms:W3CDTF">2025-06-10T12:14:06Z</dcterms:modified>
</cp:coreProperties>
</file>